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1"/>
  </p:notesMasterIdLst>
  <p:sldIdLst>
    <p:sldId id="262" r:id="rId2"/>
    <p:sldId id="266" r:id="rId3"/>
    <p:sldId id="263" r:id="rId4"/>
    <p:sldId id="258" r:id="rId5"/>
    <p:sldId id="259" r:id="rId6"/>
    <p:sldId id="260" r:id="rId7"/>
    <p:sldId id="264" r:id="rId8"/>
    <p:sldId id="261" r:id="rId9"/>
    <p:sldId id="265" r:id="rId10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5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5" autoAdjust="0"/>
  </p:normalViewPr>
  <p:slideViewPr>
    <p:cSldViewPr>
      <p:cViewPr varScale="1">
        <p:scale>
          <a:sx n="72" d="100"/>
          <a:sy n="72" d="100"/>
        </p:scale>
        <p:origin x="432" y="82"/>
      </p:cViewPr>
      <p:guideLst>
        <p:guide orient="horz" pos="2888"/>
        <p:guide pos="5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7D1A6-5CB0-4359-B7D3-AB2E7086C2BB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EAD39-E32D-4170-B00A-DD47335366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0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EAD39-E32D-4170-B00A-DD473353660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099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EAD39-E32D-4170-B00A-DD473353660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65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0928" y="1183403"/>
            <a:ext cx="15683508" cy="556056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474" spc="-7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5249" y="6947467"/>
            <a:ext cx="15683508" cy="1782233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742" cap="all" spc="312" baseline="0">
                <a:solidFill>
                  <a:schemeClr val="tx2"/>
                </a:solidFill>
                <a:latin typeface="+mj-lt"/>
              </a:defRPr>
            </a:lvl1pPr>
            <a:lvl2pPr marL="712866" indent="0" algn="ctr">
              <a:buNone/>
              <a:defRPr sz="3742"/>
            </a:lvl2pPr>
            <a:lvl3pPr marL="1425732" indent="0" algn="ctr">
              <a:buNone/>
              <a:defRPr sz="3742"/>
            </a:lvl3pPr>
            <a:lvl4pPr marL="2138599" indent="0" algn="ctr">
              <a:buNone/>
              <a:defRPr sz="3118"/>
            </a:lvl4pPr>
            <a:lvl5pPr marL="2851465" indent="0" algn="ctr">
              <a:buNone/>
              <a:defRPr sz="3118"/>
            </a:lvl5pPr>
            <a:lvl6pPr marL="3564331" indent="0" algn="ctr">
              <a:buNone/>
              <a:defRPr sz="3118"/>
            </a:lvl6pPr>
            <a:lvl7pPr marL="4277197" indent="0" algn="ctr">
              <a:buNone/>
              <a:defRPr sz="3118"/>
            </a:lvl7pPr>
            <a:lvl8pPr marL="4990064" indent="0" algn="ctr">
              <a:buNone/>
              <a:defRPr sz="3118"/>
            </a:lvl8pPr>
            <a:lvl9pPr marL="5702930" indent="0" algn="ctr">
              <a:buNone/>
              <a:defRPr sz="3118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cxnSp>
        <p:nvCxnSpPr>
          <p:cNvPr id="9" name="Straight Connector 8"/>
          <p:cNvCxnSpPr/>
          <p:nvPr/>
        </p:nvCxnSpPr>
        <p:spPr>
          <a:xfrm>
            <a:off x="1883034" y="6772487"/>
            <a:ext cx="1539835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7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772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28" y="1183403"/>
            <a:ext cx="15683508" cy="5560568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474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6943581"/>
            <a:ext cx="15683508" cy="1782233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742" cap="all" spc="312" baseline="0">
                <a:solidFill>
                  <a:schemeClr val="tx2"/>
                </a:solidFill>
                <a:latin typeface="+mj-lt"/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cxnSp>
        <p:nvCxnSpPr>
          <p:cNvPr id="9" name="Straight Connector 8"/>
          <p:cNvCxnSpPr/>
          <p:nvPr/>
        </p:nvCxnSpPr>
        <p:spPr>
          <a:xfrm>
            <a:off x="1883034" y="6772487"/>
            <a:ext cx="1539835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07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0926" y="2877978"/>
            <a:ext cx="7699177" cy="627346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95260" y="2877980"/>
            <a:ext cx="7699177" cy="627346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255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2878473"/>
            <a:ext cx="7699177" cy="114805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118" b="0" cap="all" baseline="0">
                <a:solidFill>
                  <a:schemeClr val="tx2"/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0928" y="4026528"/>
            <a:ext cx="7699177" cy="52674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95260" y="2878473"/>
            <a:ext cx="7699177" cy="114805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118" b="0" cap="all" baseline="0">
                <a:solidFill>
                  <a:schemeClr val="tx2"/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95260" y="4026528"/>
            <a:ext cx="7699177" cy="52674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448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241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163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" y="0"/>
            <a:ext cx="6316175" cy="1069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299460" y="0"/>
            <a:ext cx="99804" cy="10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87" y="926760"/>
            <a:ext cx="4990207" cy="3564467"/>
          </a:xfrm>
        </p:spPr>
        <p:txBody>
          <a:bodyPr anchor="b">
            <a:normAutofit/>
          </a:bodyPr>
          <a:lstStyle>
            <a:lvl1pPr>
              <a:defRPr sz="5613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5311" y="1140630"/>
            <a:ext cx="10122992" cy="81982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887" y="4562518"/>
            <a:ext cx="4990207" cy="526893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339">
                <a:solidFill>
                  <a:srgbClr val="FFFFFF"/>
                </a:solidFill>
              </a:defRPr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5847" y="10072480"/>
            <a:ext cx="4082898" cy="5693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485311" y="10072480"/>
            <a:ext cx="7247682" cy="569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056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723011"/>
            <a:ext cx="19005362" cy="2970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4" y="7663878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28" y="7913116"/>
            <a:ext cx="15769055" cy="1283208"/>
          </a:xfrm>
        </p:spPr>
        <p:txBody>
          <a:bodyPr lIns="91440" tIns="0" rIns="91440" bIns="0" anchor="b">
            <a:noAutofit/>
          </a:bodyPr>
          <a:lstStyle>
            <a:lvl1pPr>
              <a:defRPr sz="5613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" y="0"/>
            <a:ext cx="19010290" cy="7663878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989">
                <a:solidFill>
                  <a:schemeClr val="bg1"/>
                </a:solidFill>
              </a:defRPr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0928" y="9210580"/>
            <a:ext cx="15769055" cy="926761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36"/>
              </a:spcAft>
              <a:buNone/>
              <a:defRPr sz="2339">
                <a:solidFill>
                  <a:srgbClr val="FFFFFF"/>
                </a:solidFill>
              </a:defRPr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879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599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646747"/>
            <a:ext cx="4099099" cy="897731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646746"/>
            <a:ext cx="12059667" cy="8977314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6027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817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980507"/>
            <a:ext cx="19010313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876841"/>
            <a:ext cx="19010315" cy="1029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2877978"/>
            <a:ext cx="15683508" cy="627346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0929" y="10072480"/>
            <a:ext cx="3854876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7665" y="10072480"/>
            <a:ext cx="7519932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37239" y="10072480"/>
            <a:ext cx="2045768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7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cxnSp>
        <p:nvCxnSpPr>
          <p:cNvPr id="10" name="Straight Connector 9"/>
          <p:cNvCxnSpPr/>
          <p:nvPr/>
        </p:nvCxnSpPr>
        <p:spPr>
          <a:xfrm>
            <a:off x="1861009" y="2709751"/>
            <a:ext cx="1554093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72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1425732" rtl="0" eaLnBrk="1" latinLnBrk="1" hangingPunct="1">
        <a:lnSpc>
          <a:spcPct val="85000"/>
        </a:lnSpc>
        <a:spcBef>
          <a:spcPct val="0"/>
        </a:spcBef>
        <a:buNone/>
        <a:defRPr sz="7484" kern="1200" spc="-7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42573" indent="-142573" algn="l" defTabSz="1425732" rtl="0" eaLnBrk="1" latinLnBrk="1" hangingPunct="1">
        <a:lnSpc>
          <a:spcPct val="90000"/>
        </a:lnSpc>
        <a:spcBef>
          <a:spcPts val="1871"/>
        </a:spcBef>
        <a:spcAft>
          <a:spcPts val="312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11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98808" indent="-285146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8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83954" indent="-285146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69101" indent="-285146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54247" indent="-285146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15120" indent="-356433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26960" indent="-356433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338800" indent="-356433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650640" indent="-356433" algn="l" defTabSz="1425732" rtl="0" eaLnBrk="1" latinLnBrk="1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1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ULjD8dNLjz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-ooSflSxvQ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youtube.com/shorts/Ibrk1l_OJYM" TargetMode="External"/><Relationship Id="rId5" Type="http://schemas.openxmlformats.org/officeDocument/2006/relationships/hyperlink" Target="https://www.youtube.com/watch?v=nHALkeKtAu4" TargetMode="External"/><Relationship Id="rId4" Type="http://schemas.openxmlformats.org/officeDocument/2006/relationships/hyperlink" Target="https://www.youtube.com/watch?v=-PGJa0d434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1ox26Ut6y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youtube.com/watch?v=8uR97IuGVNk" TargetMode="External"/><Relationship Id="rId5" Type="http://schemas.openxmlformats.org/officeDocument/2006/relationships/hyperlink" Target="https://www.youtube.com/watch?v=ayhuuugbrBE" TargetMode="External"/><Relationship Id="rId4" Type="http://schemas.openxmlformats.org/officeDocument/2006/relationships/hyperlink" Target="https://www.youtube.com/shorts/3AP4VOlajx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wVfW95OxVU" TargetMode="External"/><Relationship Id="rId2" Type="http://schemas.openxmlformats.org/officeDocument/2006/relationships/hyperlink" Target="https://www.youtube.com/watch?v=ww4S3_9PdDU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HeJCNqoaL70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ZN2PaKUOl8(&#51068;&#49324;&#48337;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W7s-_pmkYw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0"/>
          <p:cNvSpPr txBox="1"/>
          <p:nvPr/>
        </p:nvSpPr>
        <p:spPr>
          <a:xfrm>
            <a:off x="7295356" y="3975100"/>
            <a:ext cx="5638800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응</a:t>
            </a:r>
            <a:r>
              <a:rPr lang="en-US"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 </a:t>
            </a:r>
            <a:r>
              <a:rPr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급</a:t>
            </a:r>
            <a:r>
              <a:rPr lang="en-US"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 </a:t>
            </a:r>
            <a:r>
              <a:rPr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처</a:t>
            </a:r>
            <a:r>
              <a:rPr lang="en-US"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 </a:t>
            </a:r>
            <a:r>
              <a:rPr sz="6000" b="1" spc="-145" dirty="0" smtClean="0">
                <a:solidFill>
                  <a:schemeClr val="tx1"/>
                </a:solidFill>
                <a:latin typeface="Adobe 고딕 Std B"/>
                <a:cs typeface="Adobe 고딕 Std B"/>
              </a:rPr>
              <a:t>치</a:t>
            </a:r>
            <a:endParaRPr sz="6000" dirty="0">
              <a:solidFill>
                <a:schemeClr val="tx1"/>
              </a:solidFill>
              <a:latin typeface="Adobe 고딕 Std B"/>
              <a:cs typeface="Adobe 고딕 Std B"/>
            </a:endParaRPr>
          </a:p>
        </p:txBody>
      </p:sp>
    </p:spTree>
    <p:extLst>
      <p:ext uri="{BB962C8B-B14F-4D97-AF65-F5344CB8AC3E}">
        <p14:creationId xmlns:p14="http://schemas.microsoft.com/office/powerpoint/2010/main" val="261747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ULjD8dNLjzY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89489" y="1384300"/>
            <a:ext cx="12733867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9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37556" y="2222500"/>
            <a:ext cx="62504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400" b="1" dirty="0" smtClean="0">
                <a:solidFill>
                  <a:srgbClr val="003668"/>
                </a:solidFill>
                <a:latin typeface="Noto Sans KR"/>
              </a:rPr>
              <a:t> </a:t>
            </a:r>
            <a:r>
              <a:rPr lang="ko-KR" altLang="en-US" sz="2400" b="1" dirty="0" err="1" smtClean="0">
                <a:solidFill>
                  <a:srgbClr val="003668"/>
                </a:solidFill>
                <a:latin typeface="Noto Sans KR"/>
              </a:rPr>
              <a:t>응급처치시</a:t>
            </a:r>
            <a:r>
              <a:rPr lang="ko-KR" altLang="en-US" sz="2400" b="1" dirty="0" smtClean="0">
                <a:solidFill>
                  <a:srgbClr val="003668"/>
                </a:solidFill>
                <a:latin typeface="Noto Sans KR"/>
              </a:rPr>
              <a:t> </a:t>
            </a:r>
            <a:r>
              <a:rPr lang="ko-KR" altLang="en-US" sz="2400" b="1" dirty="0" err="1">
                <a:solidFill>
                  <a:srgbClr val="003668"/>
                </a:solidFill>
                <a:latin typeface="Noto Sans KR"/>
              </a:rPr>
              <a:t>알아두어야야</a:t>
            </a:r>
            <a:r>
              <a:rPr lang="ko-KR" altLang="en-US" sz="2400" b="1" dirty="0">
                <a:solidFill>
                  <a:srgbClr val="003668"/>
                </a:solidFill>
                <a:latin typeface="Noto Sans KR"/>
              </a:rPr>
              <a:t> 할 법적인 문제</a:t>
            </a:r>
            <a:endParaRPr lang="ko-KR" altLang="en-US" sz="2400" dirty="0"/>
          </a:p>
        </p:txBody>
      </p:sp>
      <p:sp>
        <p:nvSpPr>
          <p:cNvPr id="6" name="직사각형 5"/>
          <p:cNvSpPr/>
          <p:nvPr/>
        </p:nvSpPr>
        <p:spPr>
          <a:xfrm>
            <a:off x="2342356" y="2984500"/>
            <a:ext cx="10472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solidFill>
                  <a:srgbClr val="0E0E1E"/>
                </a:solidFill>
                <a:latin typeface="Noto Sans KR"/>
              </a:rPr>
              <a:t>응급처치자는 다음과 같은 법적 문제와 윤리적 문제에 대해 충분히 숙지하고 있어야 한다</a:t>
            </a:r>
            <a:r>
              <a:rPr lang="en-US" altLang="ko-KR" sz="2000" b="1" dirty="0">
                <a:solidFill>
                  <a:srgbClr val="0E0E1E"/>
                </a:solidFill>
                <a:latin typeface="Noto Sans KR"/>
              </a:rPr>
              <a:t>.</a:t>
            </a:r>
            <a:endParaRPr lang="ko-KR" altLang="en-US" sz="2000" dirty="0"/>
          </a:p>
        </p:txBody>
      </p:sp>
      <p:sp>
        <p:nvSpPr>
          <p:cNvPr id="7" name="직사각형 6"/>
          <p:cNvSpPr/>
          <p:nvPr/>
        </p:nvSpPr>
        <p:spPr>
          <a:xfrm>
            <a:off x="2494756" y="3684945"/>
            <a:ext cx="15011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1) 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동의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 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응급처치를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하기 전 </a:t>
            </a:r>
            <a:r>
              <a:rPr lang="ko-KR" altLang="en-US" b="1" dirty="0" err="1">
                <a:solidFill>
                  <a:srgbClr val="0E0E1E"/>
                </a:solidFill>
                <a:latin typeface="Noto Sans KR"/>
              </a:rPr>
              <a:t>처치자는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반드시 부상자로부터 사전 동의를 얻도록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허락이나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동의없이 신체를 접촉하는 행위는 위법이며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어떤 면에서는 폭행으로 간주되어 법적 소송에 휘말릴 수 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  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따라서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부상자의 사전 동의 없는 응급처치 행위는 위법이 될 수 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2)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명시적 동의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의식이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있는 경우 즉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이성적인 결정을 내릴 수 있는 법적인 성인에게는 사전 동의를 얻어야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- </a:t>
            </a:r>
            <a:r>
              <a:rPr lang="ko-KR" altLang="en-US" b="1" dirty="0" err="1" smtClean="0">
                <a:solidFill>
                  <a:srgbClr val="0E0E1E"/>
                </a:solidFill>
                <a:latin typeface="Noto Sans KR"/>
              </a:rPr>
              <a:t>처치자는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자신의 이름을 대고 응급처치 교육을 받았음을 밝혀야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그리고 앞으로 실시할 응급처치에 대해 설명을 해야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부상자는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상태에 따라 직접 말을 하거나 고개를 끄덕이는 방법으로 의사표현을 할 것이다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21909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916368" y="546100"/>
            <a:ext cx="132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altLang="ko-KR" sz="2800" b="1" spc="-25" dirty="0" smtClean="0">
                <a:latin typeface="+mj-ea"/>
                <a:ea typeface="+mj-ea"/>
                <a:cs typeface="Adobe 고딕 Std B"/>
              </a:rPr>
              <a:t>1. </a:t>
            </a:r>
            <a:r>
              <a:rPr lang="ko-KR" altLang="en-US" sz="2800" b="1" spc="-25" dirty="0" smtClean="0">
                <a:latin typeface="+mj-ea"/>
                <a:ea typeface="+mj-ea"/>
                <a:cs typeface="Adobe 고딕 Std B"/>
              </a:rPr>
              <a:t>골절</a:t>
            </a:r>
            <a:endParaRPr lang="ko-KR" altLang="en-US" sz="2800" dirty="0">
              <a:latin typeface="+mj-ea"/>
              <a:ea typeface="+mj-ea"/>
              <a:cs typeface="Adobe 고딕 Std B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37556" y="1069320"/>
            <a:ext cx="2908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0690" indent="-285750">
              <a:spcBef>
                <a:spcPts val="5"/>
              </a:spcBef>
              <a:buFont typeface="Wingdings" panose="05000000000000000000" pitchFamily="2" charset="2"/>
              <a:buChar char="v"/>
            </a:pPr>
            <a:r>
              <a:rPr lang="ko-KR" altLang="en-US" sz="2400" b="1" spc="-150" dirty="0" smtClean="0">
                <a:solidFill>
                  <a:srgbClr val="494444"/>
                </a:solidFill>
                <a:latin typeface="+mj-ea"/>
                <a:ea typeface="+mj-ea"/>
                <a:cs typeface="Adobe 고딕 Std B"/>
              </a:rPr>
              <a:t> 골절의</a:t>
            </a:r>
            <a:r>
              <a:rPr lang="ko-KR" altLang="en-US" sz="2400" b="1" spc="-50" dirty="0" smtClean="0">
                <a:solidFill>
                  <a:srgbClr val="494444"/>
                </a:solidFill>
                <a:latin typeface="+mj-ea"/>
                <a:ea typeface="+mj-ea"/>
                <a:cs typeface="Adobe 고딕 Std B"/>
              </a:rPr>
              <a:t> </a:t>
            </a:r>
            <a:r>
              <a:rPr lang="ko-KR" altLang="en-US" sz="2400" b="1" spc="-20" dirty="0" smtClean="0">
                <a:solidFill>
                  <a:srgbClr val="494444"/>
                </a:solidFill>
                <a:latin typeface="+mj-ea"/>
                <a:ea typeface="+mj-ea"/>
                <a:cs typeface="Adobe 고딕 Std B"/>
              </a:rPr>
              <a:t>응급처치</a:t>
            </a:r>
            <a:endParaRPr lang="ko-KR" altLang="en-US" sz="2400" dirty="0">
              <a:latin typeface="+mj-ea"/>
              <a:ea typeface="+mj-ea"/>
              <a:cs typeface="Adobe 고딕 Std B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17789" y="1599924"/>
            <a:ext cx="15476368" cy="7920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3565" marR="5080" indent="-285750">
              <a:lnSpc>
                <a:spcPct val="2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부주의로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부러진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err="1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뼈끝이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신경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혈관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근육을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손상하게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하거나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피부를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뚫고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나오지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않게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주의해야 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함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marR="11811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어떤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종류의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골절도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외피의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상처를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동반할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있고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인접한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근육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err="1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혈관신경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혹은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장기의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손상을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동반할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있다는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것을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항상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염두에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둠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indent="-285750">
              <a:lnSpc>
                <a:spcPct val="20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출혈과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통증으로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쇼크를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일으킬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있으므로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이의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60" dirty="0" err="1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예방조치와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처치를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시행함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marR="198755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피부의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상처를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동반한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개방성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골절일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경우 지혈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처치를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b="1" spc="-160" dirty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우</a:t>
            </a:r>
            <a:r>
              <a:rPr lang="ko-KR" altLang="en-US" sz="1800" b="1" spc="-16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선하여야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하며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외상이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없는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폐쇄성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골절의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경우에는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내부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출혈의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징후를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관찰함</a:t>
            </a:r>
            <a:endParaRPr lang="en-US" altLang="ko-KR" sz="1800" dirty="0" smtClean="0">
              <a:latin typeface="Adobe 고딕 Std B"/>
              <a:ea typeface="+mj-ea"/>
              <a:cs typeface="Adobe 고딕 Std B"/>
            </a:endParaRPr>
          </a:p>
          <a:p>
            <a:pPr marL="297815" marR="8890">
              <a:lnSpc>
                <a:spcPct val="200000"/>
              </a:lnSpc>
              <a:spcBef>
                <a:spcPts val="750"/>
              </a:spcBef>
            </a:pPr>
            <a:r>
              <a:rPr lang="en-US" altLang="ko-KR" dirty="0" smtClean="0">
                <a:hlinkClick r:id="rId3"/>
              </a:rPr>
              <a:t>     https</a:t>
            </a:r>
            <a:r>
              <a:rPr lang="en-US" altLang="ko-KR" dirty="0">
                <a:hlinkClick r:id="rId3"/>
              </a:rPr>
              <a:t>://www.youtube.com/shorts/-ooSflSxvQY</a:t>
            </a:r>
            <a:r>
              <a:rPr lang="en-US" altLang="ko-KR" dirty="0"/>
              <a:t> (</a:t>
            </a:r>
            <a:r>
              <a:rPr lang="ko-KR" altLang="en-US" dirty="0"/>
              <a:t>개방성 골절 주치</a:t>
            </a:r>
            <a:r>
              <a:rPr lang="en-US" altLang="ko-KR" dirty="0" smtClean="0"/>
              <a:t>)</a:t>
            </a:r>
            <a:endParaRPr lang="en-US" altLang="ko-KR" b="1" spc="-135" dirty="0">
              <a:solidFill>
                <a:srgbClr val="494444"/>
              </a:solidFill>
              <a:latin typeface="Adobe 고딕 Std B"/>
              <a:ea typeface="+mj-ea"/>
              <a:cs typeface="Adobe 고딕 Std B"/>
            </a:endParaRPr>
          </a:p>
          <a:p>
            <a:pPr marL="583565" marR="889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다친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부위를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움직이지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않게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고정하고</a:t>
            </a:r>
            <a:r>
              <a:rPr lang="en-US" altLang="ko-KR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환자가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곳이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위험한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위치가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아닌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완전히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고정하기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전에는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움직이지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않아야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함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marR="198755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60" dirty="0" err="1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부목고정을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하기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전에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긴급히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부상자를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옮겨야만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경우에는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손으로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골절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부위의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위쪽을</a:t>
            </a:r>
            <a:r>
              <a:rPr lang="en-US" altLang="ko-KR" sz="1800" b="1" spc="-2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,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다른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손으로는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그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아래쪽을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지지하여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보호함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ea typeface="+mj-ea"/>
              <a:cs typeface="Adobe 고딕 Std B"/>
            </a:endParaRPr>
          </a:p>
          <a:p>
            <a:pPr marL="297815" marR="198755">
              <a:lnSpc>
                <a:spcPct val="200000"/>
              </a:lnSpc>
              <a:spcBef>
                <a:spcPts val="750"/>
              </a:spcBef>
            </a:pPr>
            <a:r>
              <a:rPr lang="en-US" altLang="ko-KR" dirty="0" smtClean="0">
                <a:latin typeface="Adobe 고딕 Std B"/>
                <a:ea typeface="+mj-ea"/>
                <a:cs typeface="Adobe 고딕 Std B"/>
                <a:hlinkClick r:id="rId4"/>
              </a:rPr>
              <a:t>    https</a:t>
            </a:r>
            <a:r>
              <a:rPr lang="en-US" altLang="ko-KR" dirty="0">
                <a:latin typeface="Adobe 고딕 Std B"/>
                <a:ea typeface="+mj-ea"/>
                <a:cs typeface="Adobe 고딕 Std B"/>
                <a:hlinkClick r:id="rId4"/>
              </a:rPr>
              <a:t>://www.youtube.com/watch?v=-</a:t>
            </a:r>
            <a:r>
              <a:rPr lang="en-US" altLang="ko-KR" dirty="0" smtClean="0">
                <a:latin typeface="Adobe 고딕 Std B"/>
                <a:ea typeface="+mj-ea"/>
                <a:cs typeface="Adobe 고딕 Std B"/>
                <a:hlinkClick r:id="rId4"/>
              </a:rPr>
              <a:t>PGJa0d4344</a:t>
            </a:r>
            <a:r>
              <a:rPr lang="en-US" altLang="ko-KR" dirty="0" smtClean="0">
                <a:latin typeface="Adobe 고딕 Std B"/>
                <a:ea typeface="+mj-ea"/>
                <a:cs typeface="Adobe 고딕 Std B"/>
              </a:rPr>
              <a:t> (</a:t>
            </a:r>
            <a:r>
              <a:rPr lang="ko-KR" altLang="en-US" dirty="0" err="1" smtClean="0">
                <a:latin typeface="Adobe 고딕 Std B"/>
                <a:ea typeface="+mj-ea"/>
                <a:cs typeface="Adobe 고딕 Std B"/>
              </a:rPr>
              <a:t>부목사용법</a:t>
            </a:r>
            <a:r>
              <a:rPr lang="en-US" altLang="ko-KR" dirty="0" smtClean="0">
                <a:latin typeface="Adobe 고딕 Std B"/>
                <a:ea typeface="+mj-ea"/>
                <a:cs typeface="Adobe 고딕 Std B"/>
              </a:rPr>
              <a:t>)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marR="39243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심한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통증을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느낄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있으므로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운반하는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동안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통증을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최소화할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있도록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가능하면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err="1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냉습포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en-US" altLang="ko-KR" sz="1800" b="1" spc="-9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(</a:t>
            </a:r>
            <a:r>
              <a:rPr lang="ko-KR" altLang="en-US" sz="1800" b="1" spc="-9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얼음</a:t>
            </a:r>
            <a:r>
              <a:rPr lang="en-US" altLang="ko-KR" sz="1800" b="1" spc="-9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)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찜질을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줌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indent="-285750">
              <a:lnSpc>
                <a:spcPct val="200000"/>
              </a:lnSpc>
              <a:spcBef>
                <a:spcPts val="925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전신은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모포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등으로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보온해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줌</a:t>
            </a:r>
            <a:endParaRPr lang="ko-KR" altLang="en-US" sz="1800" dirty="0" smtClean="0">
              <a:latin typeface="Adobe 고딕 Std B"/>
              <a:ea typeface="+mj-ea"/>
              <a:cs typeface="Adobe 고딕 Std B"/>
            </a:endParaRPr>
          </a:p>
          <a:p>
            <a:pPr marL="583565" indent="-285750">
              <a:lnSpc>
                <a:spcPct val="20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병원에서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마취가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필요할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수도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있으므로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먹거나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마실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것을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주지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ea typeface="+mj-ea"/>
                <a:cs typeface="Adobe 고딕 Std B"/>
              </a:rPr>
              <a:t>않음   </a:t>
            </a:r>
            <a:r>
              <a:rPr lang="ko-KR" altLang="en-US" dirty="0">
                <a:hlinkClick r:id="rId5"/>
              </a:rPr>
              <a:t>https://</a:t>
            </a:r>
            <a:r>
              <a:rPr lang="ko-KR" altLang="en-US" dirty="0" smtClean="0">
                <a:hlinkClick r:id="rId5"/>
              </a:rPr>
              <a:t>www.youtube.com/watch?v=nHALkeKtAu4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금지사항</a:t>
            </a:r>
            <a:r>
              <a:rPr lang="en-US" altLang="ko-KR" dirty="0" smtClean="0"/>
              <a:t>)</a:t>
            </a:r>
          </a:p>
          <a:p>
            <a:pPr marL="297815">
              <a:lnSpc>
                <a:spcPct val="200000"/>
              </a:lnSpc>
              <a:spcBef>
                <a:spcPts val="930"/>
              </a:spcBef>
            </a:pPr>
            <a:r>
              <a:rPr lang="en-US" altLang="ko-KR" dirty="0" smtClean="0">
                <a:latin typeface="Adobe 고딕 Std B"/>
                <a:ea typeface="+mj-ea"/>
                <a:cs typeface="Adobe 고딕 Std B"/>
                <a:hlinkClick r:id="rId6"/>
              </a:rPr>
              <a:t>    https</a:t>
            </a:r>
            <a:r>
              <a:rPr lang="en-US" altLang="ko-KR" dirty="0">
                <a:latin typeface="Adobe 고딕 Std B"/>
                <a:ea typeface="+mj-ea"/>
                <a:cs typeface="Adobe 고딕 Std B"/>
                <a:hlinkClick r:id="rId6"/>
              </a:rPr>
              <a:t>://</a:t>
            </a:r>
            <a:r>
              <a:rPr lang="en-US" altLang="ko-KR" dirty="0" smtClean="0">
                <a:latin typeface="Adobe 고딕 Std B"/>
                <a:ea typeface="+mj-ea"/>
                <a:cs typeface="Adobe 고딕 Std B"/>
                <a:hlinkClick r:id="rId6"/>
              </a:rPr>
              <a:t>www.youtube.com/shorts/Ibrk1l_OJYM</a:t>
            </a:r>
            <a:r>
              <a:rPr lang="en-US" altLang="ko-KR" dirty="0" smtClean="0">
                <a:latin typeface="Adobe 고딕 Std B"/>
                <a:ea typeface="+mj-ea"/>
                <a:cs typeface="Adobe 고딕 Std B"/>
              </a:rPr>
              <a:t>(</a:t>
            </a:r>
            <a:r>
              <a:rPr lang="ko-KR" altLang="en-US" dirty="0" smtClean="0">
                <a:latin typeface="Adobe 고딕 Std B"/>
                <a:ea typeface="+mj-ea"/>
                <a:cs typeface="Adobe 고딕 Std B"/>
              </a:rPr>
              <a:t>절단</a:t>
            </a:r>
            <a:r>
              <a:rPr lang="en-US" altLang="ko-KR" dirty="0" smtClean="0">
                <a:latin typeface="Adobe 고딕 Std B"/>
                <a:ea typeface="+mj-ea"/>
                <a:cs typeface="Adobe 고딕 Std B"/>
              </a:rPr>
              <a:t>)</a:t>
            </a:r>
            <a:endParaRPr lang="ko-KR" altLang="en-US" sz="1800" dirty="0">
              <a:latin typeface="Adobe 고딕 Std B"/>
              <a:ea typeface="+mj-ea"/>
              <a:cs typeface="Adobe 고딕 Std B"/>
            </a:endParaRPr>
          </a:p>
        </p:txBody>
      </p:sp>
    </p:spTree>
    <p:extLst>
      <p:ext uri="{BB962C8B-B14F-4D97-AF65-F5344CB8AC3E}">
        <p14:creationId xmlns:p14="http://schemas.microsoft.com/office/powerpoint/2010/main" val="305746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64266" y="3927249"/>
            <a:ext cx="16459200" cy="5911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3565" indent="-285750">
              <a:lnSpc>
                <a:spcPct val="20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가능하면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혈압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맥박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호흡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체온을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측정하고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쇼크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증상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관찰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및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쇼크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6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예방조치를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취함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297815">
              <a:lnSpc>
                <a:spcPct val="200000"/>
              </a:lnSpc>
              <a:spcBef>
                <a:spcPts val="930"/>
              </a:spcBef>
            </a:pPr>
            <a:r>
              <a:rPr lang="en-US" altLang="ko-KR" dirty="0" smtClean="0">
                <a:latin typeface="Adobe 고딕 Std B"/>
                <a:cs typeface="Adobe 고딕 Std B"/>
              </a:rPr>
              <a:t>             </a:t>
            </a:r>
            <a:r>
              <a:rPr lang="en-US" altLang="ko-KR" dirty="0" smtClean="0">
                <a:latin typeface="Adobe 고딕 Std B"/>
                <a:cs typeface="Adobe 고딕 Std B"/>
                <a:hlinkClick r:id="rId3"/>
              </a:rPr>
              <a:t>https</a:t>
            </a:r>
            <a:r>
              <a:rPr lang="en-US" altLang="ko-KR" dirty="0">
                <a:latin typeface="Adobe 고딕 Std B"/>
                <a:cs typeface="Adobe 고딕 Std B"/>
                <a:hlinkClick r:id="rId3"/>
              </a:rPr>
              <a:t>://</a:t>
            </a:r>
            <a:r>
              <a:rPr lang="en-US" altLang="ko-KR" dirty="0" smtClean="0">
                <a:latin typeface="Adobe 고딕 Std B"/>
                <a:cs typeface="Adobe 고딕 Std B"/>
                <a:hlinkClick r:id="rId3"/>
              </a:rPr>
              <a:t>www.youtube.com/watch?v=t1ox26Ut6yU</a:t>
            </a:r>
            <a:r>
              <a:rPr lang="en-US" altLang="ko-KR" dirty="0" smtClean="0">
                <a:latin typeface="Adobe 고딕 Std B"/>
                <a:cs typeface="Adobe 고딕 Std B"/>
              </a:rPr>
              <a:t> (</a:t>
            </a:r>
            <a:r>
              <a:rPr lang="ko-KR" altLang="en-US" dirty="0" smtClean="0">
                <a:latin typeface="Adobe 고딕 Std B"/>
                <a:cs typeface="Adobe 고딕 Std B"/>
              </a:rPr>
              <a:t>출혈 쇼크 증세</a:t>
            </a:r>
            <a:r>
              <a:rPr lang="en-US" altLang="ko-KR" dirty="0" smtClean="0">
                <a:latin typeface="Adobe 고딕 Std B"/>
                <a:cs typeface="Adobe 고딕 Std B"/>
              </a:rPr>
              <a:t>)</a:t>
            </a:r>
            <a:endParaRPr lang="ko-KR" altLang="en-US" sz="1800" dirty="0" smtClean="0">
              <a:latin typeface="Adobe 고딕 Std B"/>
              <a:cs typeface="Adobe 고딕 Std B"/>
            </a:endParaRPr>
          </a:p>
          <a:p>
            <a:pPr marL="583565" marR="469265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60" dirty="0" err="1" smtClean="0">
                <a:solidFill>
                  <a:srgbClr val="494444"/>
                </a:solidFill>
                <a:latin typeface="Adobe 고딕 Std B"/>
                <a:cs typeface="Adobe 고딕 Std B"/>
              </a:rPr>
              <a:t>외부출혈이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없는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상태에서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쇼크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증상이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나타나면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60" dirty="0" err="1" smtClean="0">
                <a:solidFill>
                  <a:srgbClr val="494444"/>
                </a:solidFill>
                <a:latin typeface="Adobe 고딕 Std B"/>
                <a:cs typeface="Adobe 고딕 Std B"/>
              </a:rPr>
              <a:t>내부출혈의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가능성이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크므로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즉시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쇼크 </a:t>
            </a:r>
            <a:r>
              <a:rPr lang="ko-KR" altLang="en-US" sz="1800" b="1" spc="-16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예방조치를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취하고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병원으로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이송하며</a:t>
            </a:r>
            <a:r>
              <a:rPr lang="en-US" altLang="ko-KR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환자는</a:t>
            </a:r>
            <a:r>
              <a:rPr lang="ko-KR" altLang="en-US" sz="1800" b="1" spc="-4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담요로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보온하고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금식함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583565" marR="469265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ko-KR" altLang="en-US" sz="1800" dirty="0" smtClean="0">
              <a:latin typeface="Adobe 고딕 Std B"/>
              <a:cs typeface="Adobe 고딕 Std B"/>
            </a:endParaRPr>
          </a:p>
          <a:p>
            <a:pPr marL="583565" marR="21717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국소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출혈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시에는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en-US" altLang="ko-KR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5</a:t>
            </a:r>
            <a:r>
              <a:rPr lang="ko-KR" altLang="en-US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이상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출혈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부위를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직접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압박하여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지혈하고</a:t>
            </a:r>
            <a:r>
              <a:rPr lang="en-US" altLang="ko-KR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출혈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부위를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심장보다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높게 </a:t>
            </a:r>
            <a:r>
              <a:rPr lang="ko-KR" altLang="en-US" sz="1800" b="1" spc="-2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들어올림</a:t>
            </a:r>
            <a:endParaRPr lang="en-US" altLang="ko-KR" sz="1800" b="1" spc="-20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297815" marR="217170">
              <a:lnSpc>
                <a:spcPct val="200000"/>
              </a:lnSpc>
              <a:spcBef>
                <a:spcPts val="750"/>
              </a:spcBef>
            </a:pPr>
            <a:r>
              <a:rPr lang="en-US" altLang="ko-KR" dirty="0" smtClean="0">
                <a:latin typeface="Adobe 고딕 Std B"/>
                <a:cs typeface="Adobe 고딕 Std B"/>
              </a:rPr>
              <a:t>             </a:t>
            </a:r>
            <a:r>
              <a:rPr lang="en-US" altLang="ko-KR" dirty="0" smtClean="0">
                <a:latin typeface="Adobe 고딕 Std B"/>
                <a:cs typeface="Adobe 고딕 Std B"/>
                <a:hlinkClick r:id="rId4"/>
              </a:rPr>
              <a:t>https</a:t>
            </a:r>
            <a:r>
              <a:rPr lang="en-US" altLang="ko-KR" dirty="0">
                <a:latin typeface="Adobe 고딕 Std B"/>
                <a:cs typeface="Adobe 고딕 Std B"/>
                <a:hlinkClick r:id="rId4"/>
              </a:rPr>
              <a:t>://</a:t>
            </a:r>
            <a:r>
              <a:rPr lang="en-US" altLang="ko-KR" dirty="0" smtClean="0">
                <a:latin typeface="Adobe 고딕 Std B"/>
                <a:cs typeface="Adobe 고딕 Std B"/>
                <a:hlinkClick r:id="rId4"/>
              </a:rPr>
              <a:t>www.youtube.com/shorts/3AP4VOlajxw</a:t>
            </a:r>
            <a:r>
              <a:rPr lang="en-US" altLang="ko-KR" dirty="0" smtClean="0">
                <a:latin typeface="Adobe 고딕 Std B"/>
                <a:cs typeface="Adobe 고딕 Std B"/>
              </a:rPr>
              <a:t> (</a:t>
            </a:r>
            <a:r>
              <a:rPr lang="ko-KR" altLang="en-US" dirty="0" smtClean="0">
                <a:latin typeface="Adobe 고딕 Std B"/>
                <a:cs typeface="Adobe 고딕 Std B"/>
              </a:rPr>
              <a:t>출혈 응급조치</a:t>
            </a:r>
            <a:r>
              <a:rPr lang="en-US" altLang="ko-KR" dirty="0" smtClean="0">
                <a:latin typeface="Adobe 고딕 Std B"/>
                <a:cs typeface="Adobe 고딕 Std B"/>
              </a:rPr>
              <a:t>)</a:t>
            </a:r>
            <a:endParaRPr lang="ko-KR" altLang="en-US" sz="1800" dirty="0" smtClean="0">
              <a:latin typeface="Adobe 고딕 Std B"/>
              <a:cs typeface="Adobe 고딕 Std B"/>
            </a:endParaRPr>
          </a:p>
          <a:p>
            <a:pPr marL="297815" marR="5080">
              <a:lnSpc>
                <a:spcPct val="200000"/>
              </a:lnSpc>
              <a:spcBef>
                <a:spcPts val="750"/>
              </a:spcBef>
            </a:pPr>
            <a:r>
              <a:rPr lang="ko-KR" altLang="en-US" dirty="0" smtClean="0"/>
              <a:t>                     </a:t>
            </a:r>
            <a:r>
              <a:rPr lang="ko-KR" altLang="en-US" dirty="0" smtClean="0">
                <a:hlinkClick r:id="rId5"/>
              </a:rPr>
              <a:t>https</a:t>
            </a:r>
            <a:r>
              <a:rPr lang="ko-KR" altLang="en-US" dirty="0">
                <a:hlinkClick r:id="rId5"/>
              </a:rPr>
              <a:t>://</a:t>
            </a:r>
            <a:r>
              <a:rPr lang="ko-KR" altLang="en-US" dirty="0" smtClean="0">
                <a:hlinkClick r:id="rId5"/>
              </a:rPr>
              <a:t>www.youtube.com/watch?v=ayhuuugbrBE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과다출혈 </a:t>
            </a:r>
            <a:r>
              <a:rPr lang="ko-KR" altLang="en-US" dirty="0" err="1" smtClean="0"/>
              <a:t>지혈대</a:t>
            </a:r>
            <a:r>
              <a:rPr lang="en-US" altLang="ko-KR" dirty="0" smtClean="0"/>
              <a:t>)</a:t>
            </a:r>
            <a:endParaRPr lang="en-US" altLang="ko-KR" sz="1800" b="1" spc="-15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583565" marR="508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5" dirty="0" err="1" smtClean="0">
                <a:solidFill>
                  <a:srgbClr val="494444"/>
                </a:solidFill>
                <a:latin typeface="Adobe 고딕 Std B"/>
                <a:cs typeface="Adobe 고딕 Std B"/>
              </a:rPr>
              <a:t>지혈대는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절단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등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생명이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위급할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때만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사용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상처에서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심장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쪽으로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적용하며</a:t>
            </a:r>
            <a:r>
              <a:rPr lang="en-US" altLang="ko-KR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err="1" smtClean="0">
                <a:solidFill>
                  <a:srgbClr val="494444"/>
                </a:solidFill>
                <a:latin typeface="Adobe 고딕 Std B"/>
                <a:cs typeface="Adobe 고딕 Std B"/>
              </a:rPr>
              <a:t>지혈대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사용시간을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기록하고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2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시간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이내에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병원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치료를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받음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297815" marR="5080">
              <a:lnSpc>
                <a:spcPct val="200000"/>
              </a:lnSpc>
              <a:spcBef>
                <a:spcPts val="750"/>
              </a:spcBef>
            </a:pPr>
            <a:r>
              <a:rPr lang="en-US" altLang="ko-KR" dirty="0" smtClean="0">
                <a:latin typeface="Adobe 고딕 Std B"/>
                <a:cs typeface="Adobe 고딕 Std B"/>
              </a:rPr>
              <a:t>             </a:t>
            </a:r>
            <a:r>
              <a:rPr lang="en-US" altLang="ko-KR" dirty="0" smtClean="0">
                <a:latin typeface="Adobe 고딕 Std B"/>
                <a:cs typeface="Adobe 고딕 Std B"/>
                <a:hlinkClick r:id="rId6"/>
              </a:rPr>
              <a:t>https</a:t>
            </a:r>
            <a:r>
              <a:rPr lang="en-US" altLang="ko-KR" dirty="0">
                <a:latin typeface="Adobe 고딕 Std B"/>
                <a:cs typeface="Adobe 고딕 Std B"/>
                <a:hlinkClick r:id="rId6"/>
              </a:rPr>
              <a:t>://</a:t>
            </a:r>
            <a:r>
              <a:rPr lang="en-US" altLang="ko-KR" dirty="0" smtClean="0">
                <a:latin typeface="Adobe 고딕 Std B"/>
                <a:cs typeface="Adobe 고딕 Std B"/>
                <a:hlinkClick r:id="rId6"/>
              </a:rPr>
              <a:t>www.youtube.com/watch?v=8uR97IuGVNk</a:t>
            </a:r>
            <a:r>
              <a:rPr lang="en-US" altLang="ko-KR" dirty="0" smtClean="0">
                <a:latin typeface="Adobe 고딕 Std B"/>
                <a:cs typeface="Adobe 고딕 Std B"/>
              </a:rPr>
              <a:t> (</a:t>
            </a:r>
            <a:r>
              <a:rPr lang="ko-KR" altLang="en-US" dirty="0" err="1" smtClean="0">
                <a:latin typeface="Adobe 고딕 Std B"/>
                <a:cs typeface="Adobe 고딕 Std B"/>
              </a:rPr>
              <a:t>지혈대</a:t>
            </a:r>
            <a:r>
              <a:rPr lang="ko-KR" altLang="en-US" dirty="0" smtClean="0">
                <a:latin typeface="Adobe 고딕 Std B"/>
                <a:cs typeface="Adobe 고딕 Std B"/>
              </a:rPr>
              <a:t> 사용법</a:t>
            </a:r>
            <a:r>
              <a:rPr lang="en-US" altLang="ko-KR" dirty="0" smtClean="0">
                <a:latin typeface="Adobe 고딕 Std B"/>
                <a:cs typeface="Adobe 고딕 Std B"/>
              </a:rPr>
              <a:t>)</a:t>
            </a:r>
            <a:endParaRPr lang="ko-KR" altLang="en-US" sz="1800" dirty="0">
              <a:latin typeface="Adobe 고딕 Std B"/>
              <a:cs typeface="Adobe 고딕 Std B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32931" y="1980196"/>
            <a:ext cx="132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/>
            <a:r>
              <a:rPr lang="en-US" altLang="ko-KR" sz="2800" b="1" spc="-25" dirty="0" smtClean="0">
                <a:latin typeface="Adobe 고딕 Std B"/>
                <a:cs typeface="Adobe 고딕 Std B"/>
              </a:rPr>
              <a:t>2. </a:t>
            </a:r>
            <a:r>
              <a:rPr lang="ko-KR" altLang="en-US" sz="2800" b="1" spc="-25" dirty="0" smtClean="0">
                <a:latin typeface="Adobe 고딕 Std B"/>
                <a:cs typeface="Adobe 고딕 Std B"/>
              </a:rPr>
              <a:t>출혈</a:t>
            </a:r>
            <a:endParaRPr lang="ko-KR" altLang="en-US" sz="2800" dirty="0">
              <a:latin typeface="Adobe 고딕 Std B"/>
              <a:cs typeface="Adobe 고딕 Std B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32931" y="2984500"/>
            <a:ext cx="2876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7840" indent="-342900">
              <a:buFont typeface="Wingdings" panose="05000000000000000000" pitchFamily="2" charset="2"/>
              <a:buChar char="v"/>
            </a:pPr>
            <a:r>
              <a:rPr lang="ko-KR" altLang="en-US" sz="24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출혈의</a:t>
            </a:r>
            <a:r>
              <a:rPr lang="ko-KR" altLang="en-US" sz="24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2400" b="1" spc="-2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응급처치</a:t>
            </a:r>
            <a:endParaRPr lang="ko-KR" altLang="en-US" sz="2400" dirty="0">
              <a:latin typeface="Adobe 고딕 Std B"/>
              <a:cs typeface="Adobe 고딕 Std B"/>
            </a:endParaRPr>
          </a:p>
        </p:txBody>
      </p:sp>
    </p:spTree>
    <p:extLst>
      <p:ext uri="{BB962C8B-B14F-4D97-AF65-F5344CB8AC3E}">
        <p14:creationId xmlns:p14="http://schemas.microsoft.com/office/powerpoint/2010/main" val="162208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982551" y="698500"/>
            <a:ext cx="132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/>
            <a:r>
              <a:rPr lang="en-US" altLang="ko-KR" sz="2800" b="1" spc="-25" dirty="0" smtClean="0">
                <a:latin typeface="Adobe 고딕 Std B"/>
                <a:cs typeface="Adobe 고딕 Std B"/>
              </a:rPr>
              <a:t>3. </a:t>
            </a:r>
            <a:r>
              <a:rPr lang="ko-KR" altLang="en-US" sz="2800" b="1" spc="-25" dirty="0" smtClean="0">
                <a:latin typeface="Adobe 고딕 Std B"/>
                <a:cs typeface="Adobe 고딕 Std B"/>
              </a:rPr>
              <a:t>화상</a:t>
            </a:r>
            <a:endParaRPr lang="ko-KR" altLang="en-US" sz="2800" dirty="0">
              <a:latin typeface="Adobe 고딕 Std B"/>
              <a:cs typeface="Adobe 고딕 Std B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45361" y="1460500"/>
            <a:ext cx="2732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spcBef>
                <a:spcPts val="1025"/>
              </a:spcBef>
              <a:buFont typeface="Wingdings" panose="05000000000000000000" pitchFamily="2" charset="2"/>
              <a:buChar char="v"/>
            </a:pPr>
            <a:r>
              <a:rPr lang="ko-KR" altLang="en-US" sz="24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화상의</a:t>
            </a:r>
            <a:r>
              <a:rPr lang="ko-KR" altLang="en-US" sz="24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2400" b="1" spc="-2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응급처치</a:t>
            </a:r>
            <a:endParaRPr lang="ko-KR" altLang="en-US" sz="2400" dirty="0">
              <a:latin typeface="Adobe 고딕 Std B"/>
              <a:cs typeface="Adobe 고딕 Std B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250161" y="2725663"/>
            <a:ext cx="15713079" cy="6260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0690" marR="113664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즉시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화상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부위를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찬물로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식히고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화상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부위를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제외한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부위는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보온하여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err="1" smtClean="0">
                <a:solidFill>
                  <a:srgbClr val="494444"/>
                </a:solidFill>
                <a:latin typeface="Adobe 고딕 Std B"/>
                <a:cs typeface="Adobe 고딕 Std B"/>
              </a:rPr>
              <a:t>저체온을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방지함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440690" marR="113664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냉 찜질은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err="1" smtClean="0">
                <a:solidFill>
                  <a:srgbClr val="494444"/>
                </a:solidFill>
                <a:latin typeface="Adobe 고딕 Std B"/>
                <a:cs typeface="Adobe 고딕 Std B"/>
              </a:rPr>
              <a:t>화상면의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확대와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수포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발생을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방지할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있고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염증을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억제하며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통증을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감소시킴 </a:t>
            </a:r>
            <a:endParaRPr lang="en-US" altLang="ko-KR" sz="1800" b="1" spc="-50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440690" marR="113664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옷이나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양말은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벗기지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말고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그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위로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물을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끼얹어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냉각시킨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후</a:t>
            </a:r>
            <a:r>
              <a:rPr lang="en-US" altLang="ko-KR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벗기기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힘들면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가위로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자름 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440690" marR="113664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1</a:t>
            </a:r>
            <a:r>
              <a:rPr lang="ko-KR" altLang="en-US" sz="1800" b="1" spc="-7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화상인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경우는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바셀린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거즈나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윤활유를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바름</a:t>
            </a:r>
            <a:endParaRPr lang="ko-KR" altLang="en-US" sz="1800" dirty="0" smtClean="0">
              <a:latin typeface="Adobe 고딕 Std B"/>
              <a:cs typeface="Adobe 고딕 Std B"/>
            </a:endParaRPr>
          </a:p>
          <a:p>
            <a:pPr marL="440690" marR="508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수포가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생긴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범위가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넓으면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환부를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충분히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6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냉각시키기만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하면서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아무것도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바르지</a:t>
            </a:r>
            <a:r>
              <a:rPr lang="ko-KR" altLang="en-US" sz="1800" b="1" spc="-4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않은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채로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의사에게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의뢰함</a:t>
            </a:r>
            <a:endParaRPr lang="ko-KR" altLang="en-US" sz="1800" dirty="0" smtClean="0">
              <a:latin typeface="Adobe 고딕 Std B"/>
              <a:cs typeface="Adobe 고딕 Std B"/>
            </a:endParaRPr>
          </a:p>
          <a:p>
            <a:pPr marL="440690" indent="-285750">
              <a:lnSpc>
                <a:spcPct val="20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의식이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있으면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소금물을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주고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쇼크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감염</a:t>
            </a:r>
            <a:r>
              <a:rPr lang="en-US" altLang="ko-KR" sz="1800" b="1" spc="-10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,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탈수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예방에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노력함</a:t>
            </a:r>
            <a:endParaRPr lang="ko-KR" altLang="en-US" sz="1800" dirty="0" smtClean="0">
              <a:latin typeface="Adobe 고딕 Std B"/>
              <a:cs typeface="Adobe 고딕 Std B"/>
            </a:endParaRPr>
          </a:p>
          <a:p>
            <a:pPr marL="440690" marR="11811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이송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도중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호흡을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유지하고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쇼크를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방지하는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조치를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할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수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3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있는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6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전문 차량을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이용하여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화상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치료가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가능한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9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큰</a:t>
            </a:r>
            <a:r>
              <a:rPr lang="ko-KR" altLang="en-US" sz="1800" b="1" spc="-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15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병원으로</a:t>
            </a:r>
            <a:r>
              <a:rPr lang="ko-KR" altLang="en-US" sz="1800" b="1" spc="-50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 </a:t>
            </a:r>
            <a:r>
              <a:rPr lang="ko-KR" altLang="en-US" sz="1800" b="1" spc="-25" dirty="0" smtClean="0">
                <a:solidFill>
                  <a:srgbClr val="494444"/>
                </a:solidFill>
                <a:latin typeface="Adobe 고딕 Std B"/>
                <a:cs typeface="Adobe 고딕 Std B"/>
              </a:rPr>
              <a:t>후송함</a:t>
            </a:r>
            <a:endParaRPr lang="en-US" altLang="ko-KR" sz="1800" b="1" spc="-25" dirty="0" smtClean="0">
              <a:solidFill>
                <a:srgbClr val="494444"/>
              </a:solidFill>
              <a:latin typeface="Adobe 고딕 Std B"/>
              <a:cs typeface="Adobe 고딕 Std B"/>
            </a:endParaRPr>
          </a:p>
          <a:p>
            <a:pPr marL="440690" marR="11811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Adobe 고딕 Std B"/>
                <a:cs typeface="Adobe 고딕 Std B"/>
                <a:hlinkClick r:id="rId2"/>
              </a:rPr>
              <a:t>https</a:t>
            </a:r>
            <a:r>
              <a:rPr lang="en-US" altLang="ko-KR" dirty="0">
                <a:latin typeface="Adobe 고딕 Std B"/>
                <a:cs typeface="Adobe 고딕 Std B"/>
                <a:hlinkClick r:id="rId2"/>
              </a:rPr>
              <a:t>://</a:t>
            </a:r>
            <a:r>
              <a:rPr lang="en-US" altLang="ko-KR" dirty="0" smtClean="0">
                <a:latin typeface="Adobe 고딕 Std B"/>
                <a:cs typeface="Adobe 고딕 Std B"/>
                <a:hlinkClick r:id="rId2"/>
              </a:rPr>
              <a:t>www.youtube.com/watch?v=ww4S3_9PdDU</a:t>
            </a:r>
            <a:r>
              <a:rPr lang="en-US" altLang="ko-KR" dirty="0" smtClean="0">
                <a:latin typeface="Adobe 고딕 Std B"/>
                <a:cs typeface="Adobe 고딕 Std B"/>
              </a:rPr>
              <a:t> (</a:t>
            </a:r>
            <a:r>
              <a:rPr lang="ko-KR" altLang="en-US" dirty="0" smtClean="0">
                <a:latin typeface="Adobe 고딕 Std B"/>
                <a:cs typeface="Adobe 고딕 Std B"/>
              </a:rPr>
              <a:t>화상 발생</a:t>
            </a:r>
            <a:r>
              <a:rPr lang="en-US" altLang="ko-KR" dirty="0" smtClean="0">
                <a:latin typeface="Adobe 고딕 Std B"/>
                <a:cs typeface="Adobe 고딕 Std B"/>
              </a:rPr>
              <a:t>)</a:t>
            </a:r>
          </a:p>
          <a:p>
            <a:pPr marL="440690" marR="11811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latin typeface="Adobe 고딕 Std B"/>
                <a:cs typeface="Adobe 고딕 Std B"/>
                <a:hlinkClick r:id="rId3"/>
              </a:rPr>
              <a:t>https://</a:t>
            </a:r>
            <a:r>
              <a:rPr lang="en-US" altLang="ko-KR" dirty="0" smtClean="0">
                <a:latin typeface="Adobe 고딕 Std B"/>
                <a:cs typeface="Adobe 고딕 Std B"/>
                <a:hlinkClick r:id="rId3"/>
              </a:rPr>
              <a:t>www.youtube.com/watch?v=0wVfW95OxVU</a:t>
            </a:r>
            <a:r>
              <a:rPr lang="en-US" altLang="ko-KR" dirty="0" smtClean="0">
                <a:latin typeface="Adobe 고딕 Std B"/>
                <a:cs typeface="Adobe 고딕 Std B"/>
              </a:rPr>
              <a:t> (</a:t>
            </a:r>
            <a:r>
              <a:rPr lang="ko-KR" altLang="en-US" dirty="0" smtClean="0">
                <a:latin typeface="Adobe 고딕 Std B"/>
                <a:cs typeface="Adobe 고딕 Std B"/>
              </a:rPr>
              <a:t>화상 응급조치</a:t>
            </a:r>
            <a:r>
              <a:rPr lang="en-US" altLang="ko-KR" dirty="0" smtClean="0">
                <a:latin typeface="Adobe 고딕 Std B"/>
                <a:cs typeface="Adobe 고딕 Std B"/>
              </a:rPr>
              <a:t>)</a:t>
            </a:r>
          </a:p>
          <a:p>
            <a:pPr marL="440690" marR="118110" indent="-285750">
              <a:lnSpc>
                <a:spcPct val="20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latin typeface="Adobe 고딕 Std B"/>
                <a:cs typeface="Adobe 고딕 Std B"/>
                <a:hlinkClick r:id="rId4"/>
              </a:rPr>
              <a:t>https://www.youtube.com/watch?v=HeJCNqoaL70</a:t>
            </a:r>
            <a:r>
              <a:rPr lang="en-US" altLang="ko-KR" dirty="0">
                <a:latin typeface="Adobe 고딕 Std B"/>
                <a:cs typeface="Adobe 고딕 Std B"/>
              </a:rPr>
              <a:t> (</a:t>
            </a:r>
            <a:r>
              <a:rPr lang="ko-KR" altLang="en-US" dirty="0">
                <a:latin typeface="Adobe 고딕 Std B"/>
                <a:cs typeface="Adobe 고딕 Std B"/>
              </a:rPr>
              <a:t>화상 </a:t>
            </a:r>
            <a:r>
              <a:rPr lang="ko-KR" altLang="en-US" dirty="0" smtClean="0">
                <a:latin typeface="Adobe 고딕 Std B"/>
                <a:cs typeface="Adobe 고딕 Std B"/>
              </a:rPr>
              <a:t>응급조치</a:t>
            </a:r>
            <a:r>
              <a:rPr lang="en-US" altLang="ko-KR" dirty="0" smtClean="0">
                <a:latin typeface="Adobe 고딕 Std B"/>
                <a:cs typeface="Adobe 고딕 Std B"/>
              </a:rPr>
              <a:t>,</a:t>
            </a:r>
            <a:r>
              <a:rPr lang="ko-KR" altLang="en-US" dirty="0">
                <a:latin typeface="Adobe 고딕 Std B"/>
                <a:cs typeface="Adobe 고딕 Std B"/>
              </a:rPr>
              <a:t> </a:t>
            </a:r>
            <a:r>
              <a:rPr lang="ko-KR" altLang="en-US" dirty="0" smtClean="0">
                <a:latin typeface="Adobe 고딕 Std B"/>
                <a:cs typeface="Adobe 고딕 Std B"/>
              </a:rPr>
              <a:t>흉터 남지 않을 대책</a:t>
            </a:r>
            <a:r>
              <a:rPr lang="en-US" altLang="ko-KR" dirty="0" smtClean="0">
                <a:latin typeface="Adobe 고딕 Std B"/>
                <a:cs typeface="Adobe 고딕 Std B"/>
              </a:rPr>
              <a:t>)</a:t>
            </a:r>
            <a:endParaRPr lang="en-US" altLang="ko-KR" dirty="0">
              <a:latin typeface="Adobe 고딕 Std B"/>
              <a:cs typeface="Adobe 고딕 Std B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02561" y="2068882"/>
            <a:ext cx="13507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불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뜨거운 증기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기름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물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주방기구 등에 의해서 화상을 입으며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주로 </a:t>
            </a:r>
            <a:r>
              <a:rPr lang="ko-KR" altLang="en-US" b="1" dirty="0" err="1">
                <a:solidFill>
                  <a:srgbClr val="0E0E1E"/>
                </a:solidFill>
                <a:latin typeface="Noto Sans KR"/>
              </a:rPr>
              <a:t>어린들에게서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많이 발생한다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65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08956" y="546100"/>
            <a:ext cx="49439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>
                <a:solidFill>
                  <a:srgbClr val="1B1B1B"/>
                </a:solidFill>
                <a:latin typeface="Noto Sans KR"/>
              </a:rPr>
              <a:t>4. </a:t>
            </a:r>
            <a:r>
              <a:rPr lang="ko-KR" altLang="en-US" sz="2800" b="1" dirty="0" smtClean="0">
                <a:solidFill>
                  <a:srgbClr val="1B1B1B"/>
                </a:solidFill>
                <a:latin typeface="Noto Sans KR"/>
              </a:rPr>
              <a:t>열 </a:t>
            </a:r>
            <a:r>
              <a:rPr lang="ko-KR" altLang="en-US" sz="2800" b="1" dirty="0">
                <a:solidFill>
                  <a:srgbClr val="1B1B1B"/>
                </a:solidFill>
                <a:latin typeface="Noto Sans KR"/>
              </a:rPr>
              <a:t>경련이 발생하였을 때는</a:t>
            </a:r>
            <a:endParaRPr lang="ko-KR" altLang="en-US" sz="2800" b="1" i="0" dirty="0">
              <a:solidFill>
                <a:srgbClr val="1B1B1B"/>
              </a:solidFill>
              <a:effectLst/>
              <a:latin typeface="Noto Sans KR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266156" y="1384300"/>
            <a:ext cx="14859000" cy="1666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더운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기후나 심한 운동 후에 주로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나타나며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,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땀을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흘림으로 신체의 전해질을 변화시켜서 손과 발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복부에 경련을 일으키는 것으로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때로는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어지러워 쓰러질 수도 있는 증상입니다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환자를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그늘지고 시원한 장소로 옮겨서 편안한 자세를 해주고 의식이 있는 경우 입으로 이온음료를 마시게 합니다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52969" y="5118100"/>
            <a:ext cx="4817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u="sng" dirty="0" smtClean="0">
                <a:solidFill>
                  <a:srgbClr val="1B1B1B"/>
                </a:solidFill>
                <a:latin typeface="Noto Sans KR"/>
              </a:rPr>
              <a:t>5. </a:t>
            </a:r>
            <a:r>
              <a:rPr lang="ko-KR" altLang="en-US" sz="2800" b="1" u="sng" dirty="0" smtClean="0">
                <a:solidFill>
                  <a:srgbClr val="1B1B1B"/>
                </a:solidFill>
                <a:latin typeface="Noto Sans KR"/>
              </a:rPr>
              <a:t>일사병이 </a:t>
            </a:r>
            <a:r>
              <a:rPr lang="ko-KR" altLang="en-US" sz="2800" b="1" u="sng" dirty="0">
                <a:solidFill>
                  <a:srgbClr val="1B1B1B"/>
                </a:solidFill>
                <a:latin typeface="Noto Sans KR"/>
              </a:rPr>
              <a:t>발생하였을 때는</a:t>
            </a:r>
            <a:endParaRPr lang="ko-KR" altLang="en-US" sz="2800" b="1" i="0" u="sng" dirty="0">
              <a:solidFill>
                <a:srgbClr val="1B1B1B"/>
              </a:solidFill>
              <a:effectLst/>
              <a:latin typeface="Noto Sans KR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42356" y="5945080"/>
            <a:ext cx="1539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열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손상 중에는 가장 흔히 발생하는 것으로 더운 곳에서 열심히 운동을 하였거나 장시간 햇볕을 쬐면 일어나는 것으로 토할 것 같은 느낌과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    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어지러움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두통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경련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일시적으로 쓰러지는 등의 증상을 나타냅니다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시원한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장소로 옮긴 후 편안한 자세로 </a:t>
            </a:r>
            <a:r>
              <a:rPr lang="ko-KR" altLang="en-US" b="1" dirty="0" err="1">
                <a:solidFill>
                  <a:srgbClr val="0E0E1E"/>
                </a:solidFill>
                <a:latin typeface="Noto Sans KR"/>
              </a:rPr>
              <a:t>뉘어두고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옷을 벗겨줍니다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부채질을 해주거나 이온음료 또는 물을 줍니다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단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의식이 없으면 입으로 아무것도 주지 않습니다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일사병은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보통 시원한 곳에서 안정시키면 좋아지는 경우가 많으나 주위가 덥고 의식이 없어졌다고 하여 다 일사병은 아닙니다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따라서 의식이 없는 환자는 의료기관에서 확인하는 것이 중요합니다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251628" y="3486125"/>
            <a:ext cx="6599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2"/>
              </a:rPr>
              <a:t>https://</a:t>
            </a:r>
            <a:r>
              <a:rPr lang="ko-KR" altLang="en-US" dirty="0" smtClean="0">
                <a:hlinkClick r:id="rId2"/>
              </a:rPr>
              <a:t>www.youtube.com/watch?v=9ZN2PaKUOl8 </a:t>
            </a:r>
            <a:r>
              <a:rPr lang="en-US" altLang="ko-KR" dirty="0" smtClean="0">
                <a:hlinkClick r:id="rId2"/>
              </a:rPr>
              <a:t>(</a:t>
            </a:r>
            <a:r>
              <a:rPr lang="ko-KR" altLang="en-US" dirty="0" smtClean="0">
                <a:hlinkClick r:id="rId2"/>
              </a:rPr>
              <a:t>일사병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일사병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095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04156" y="698500"/>
            <a:ext cx="33810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>
                <a:solidFill>
                  <a:srgbClr val="1B1B1B"/>
                </a:solidFill>
                <a:latin typeface="Noto Sans KR"/>
              </a:rPr>
              <a:t>6. </a:t>
            </a:r>
            <a:r>
              <a:rPr lang="ko-KR" altLang="en-US" sz="2800" b="1" dirty="0" smtClean="0">
                <a:solidFill>
                  <a:srgbClr val="1B1B1B"/>
                </a:solidFill>
                <a:latin typeface="Noto Sans KR"/>
              </a:rPr>
              <a:t>뱀에 </a:t>
            </a:r>
            <a:r>
              <a:rPr lang="ko-KR" altLang="en-US" sz="2800" b="1" dirty="0">
                <a:solidFill>
                  <a:srgbClr val="1B1B1B"/>
                </a:solidFill>
                <a:latin typeface="Noto Sans KR"/>
              </a:rPr>
              <a:t>물렸을 경우</a:t>
            </a:r>
            <a:endParaRPr lang="ko-KR" altLang="en-US" sz="2800" b="1" i="0" dirty="0">
              <a:solidFill>
                <a:srgbClr val="1B1B1B"/>
              </a:solidFill>
              <a:effectLst/>
              <a:latin typeface="Noto Sans KR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808956" y="1460500"/>
            <a:ext cx="14325600" cy="2116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∙ 손상부위를 심장보다 낮게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민간요법 지양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가능한 한 빨리 도움을 요청하고 의료기관으로 이송</a:t>
            </a:r>
          </a:p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∙ 우선 환자를 뱀이 없는 안전한 곳으로 옮긴다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119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또는 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1339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의 도움을 청한다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환자를 안정시키고 물린 팔 또는 다리를 심장보다 낮게 위치시킨다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상처를 비누와 물로 씻는다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비누는 독소를 불활성화 시킬 수 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504156" y="3815565"/>
            <a:ext cx="6138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 dirty="0" err="1">
                <a:solidFill>
                  <a:srgbClr val="0E0E1E"/>
                </a:solidFill>
                <a:latin typeface="Noto Sans KR"/>
              </a:rPr>
              <a:t>물린지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15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분 이내인 경우에만 다음의 처치를 실시한다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656556" y="4194185"/>
            <a:ext cx="1567382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물린 부위의 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10cm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위쪽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(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심장에 가까운 쪽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)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을 폭 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2cm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이상의 넓은 끈이나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천으로 묶는다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묶은 후 손가락 하나가 통과하도록 느슨하게 묶어야 하며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    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절대로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꽉 조이지 않도록 하여야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병원까지의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거리가 먼 경우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(1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시간 이상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)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에는 진공흡입기를 이용하거나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아니면 입으로 독을 빨아 낼 수 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입에 상처가 있거나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치아가 </a:t>
            </a:r>
            <a:r>
              <a:rPr lang="ko-KR" altLang="en-US" b="1" dirty="0" err="1">
                <a:solidFill>
                  <a:srgbClr val="0E0E1E"/>
                </a:solidFill>
                <a:latin typeface="Noto Sans KR"/>
              </a:rPr>
              <a:t>결손난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     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 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사람은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절대 입으로 독을 빨아내서는 안 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환자를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주의 깊게 관찰하고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입으로 물이나 음식을 주지 않는다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어지럼증을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호소하는 경우 환자를 반듯이 눕히고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구토가 일어나면 몸을 옆으로 기울여준다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04156" y="6911693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하지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않아야 할 처치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656556" y="7390019"/>
            <a:ext cx="151638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상처를 칼로 절개하지 않는다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혈관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신경 등 구조물을 손상할 뿐 아니라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2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차 감염이나 파상풍의 위험이 더 커지게 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상처에 담뱃재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된장 등을 바르지 않는다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뱀을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잡으려고 시도하지 않는다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-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상처에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얼음을 직접 대지 않는다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 err="1">
                <a:solidFill>
                  <a:srgbClr val="0E0E1E"/>
                </a:solidFill>
                <a:latin typeface="Noto Sans KR"/>
              </a:rPr>
              <a:t>냉찜질은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 통증을 어느 정도 완화할 수 있으나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독의 흡수를 지연시키는 효과는 없으며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오히려 상처부위의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 손상을 가중시킬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수 있다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. 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073787" y="775444"/>
            <a:ext cx="6490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2"/>
              </a:rPr>
              <a:t>https://www.youtube.com/watch?v=MW7s-_</a:t>
            </a:r>
            <a:r>
              <a:rPr lang="ko-KR" altLang="en-US" dirty="0" smtClean="0">
                <a:hlinkClick r:id="rId2"/>
              </a:rPr>
              <a:t>pmkYw</a:t>
            </a:r>
            <a:r>
              <a:rPr lang="en-US" altLang="ko-KR" dirty="0" smtClean="0"/>
              <a:t>(</a:t>
            </a:r>
            <a:r>
              <a:rPr lang="ko-KR" altLang="en-US" dirty="0" smtClean="0"/>
              <a:t>뱀</a:t>
            </a:r>
            <a:r>
              <a:rPr lang="en-US" altLang="ko-KR" dirty="0" smtClean="0"/>
              <a:t>,</a:t>
            </a:r>
            <a:r>
              <a:rPr lang="ko-KR" altLang="en-US" dirty="0" smtClean="0"/>
              <a:t>응급조치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94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61356" y="2222500"/>
            <a:ext cx="33810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>
                <a:solidFill>
                  <a:srgbClr val="1B1B1B"/>
                </a:solidFill>
                <a:latin typeface="Noto Sans KR"/>
              </a:rPr>
              <a:t>7. </a:t>
            </a:r>
            <a:r>
              <a:rPr lang="ko-KR" altLang="en-US" sz="2800" b="1" dirty="0" smtClean="0">
                <a:solidFill>
                  <a:srgbClr val="1B1B1B"/>
                </a:solidFill>
                <a:latin typeface="Noto Sans KR"/>
              </a:rPr>
              <a:t>벌에 </a:t>
            </a:r>
            <a:r>
              <a:rPr lang="ko-KR" altLang="en-US" sz="2800" b="1" dirty="0">
                <a:solidFill>
                  <a:srgbClr val="1B1B1B"/>
                </a:solidFill>
                <a:latin typeface="Noto Sans KR"/>
              </a:rPr>
              <a:t>쏘였을 경우</a:t>
            </a:r>
            <a:endParaRPr lang="ko-KR" altLang="en-US" sz="2800" b="1" i="0" dirty="0">
              <a:solidFill>
                <a:srgbClr val="1B1B1B"/>
              </a:solidFill>
              <a:effectLst/>
              <a:latin typeface="Noto Sans KR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42356" y="3592612"/>
            <a:ext cx="14706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∙ 쏘인 부위 벌침이 남아있으면 바늘이나 칼 등으로 제거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없으면 신용카드로 긁어서 제거 후 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2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차 감염 방지 위해 비누와 물로 씻을 것</a:t>
            </a:r>
          </a:p>
          <a:p>
            <a:pPr algn="just">
              <a:lnSpc>
                <a:spcPct val="200000"/>
              </a:lnSpc>
            </a:pP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∙ 환자를 벌이 없는 안전한 곳으로 옮기고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119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또는 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1339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에 연락한다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피부에 벌침이 남아있는 경우 신용카드 등으로 밀어서 제거한다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집게 등으로 제거할 때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침에 남은 독을 짜서 밀어 넣게 될 수 있다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상처를 비누와 물로 씻고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통증이 심한 경우 얼음을 주머니에 싸서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(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피부에 직접 닿지 않도록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.)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대 준다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∙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알레르기 반응이 나타나는 경우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신속하게 병원으로 이송해야 한다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구급차가 도착하기 전까지는 환자를 반듯이 눕히고 입으로 아무것도 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            </a:t>
            </a:r>
            <a:endParaRPr lang="en-US" altLang="ko-KR" b="1" dirty="0" smtClean="0">
              <a:solidFill>
                <a:srgbClr val="0E0E1E"/>
              </a:solidFill>
              <a:latin typeface="Noto Sans KR"/>
            </a:endParaRPr>
          </a:p>
          <a:p>
            <a:pPr algn="just">
              <a:lnSpc>
                <a:spcPct val="200000"/>
              </a:lnSpc>
            </a:pP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 </a:t>
            </a:r>
            <a:r>
              <a:rPr lang="en-US" altLang="ko-KR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 err="1" smtClean="0">
                <a:solidFill>
                  <a:srgbClr val="0E0E1E"/>
                </a:solidFill>
                <a:latin typeface="Noto Sans KR"/>
              </a:rPr>
              <a:t>섭취시키지</a:t>
            </a:r>
            <a:r>
              <a:rPr lang="ko-KR" altLang="en-US" b="1" dirty="0" smtClean="0">
                <a:solidFill>
                  <a:srgbClr val="0E0E1E"/>
                </a:solidFill>
                <a:latin typeface="Noto Sans KR"/>
              </a:rPr>
              <a:t> </a:t>
            </a:r>
            <a:r>
              <a:rPr lang="ko-KR" altLang="en-US" b="1" dirty="0">
                <a:solidFill>
                  <a:srgbClr val="0E0E1E"/>
                </a:solidFill>
                <a:latin typeface="Noto Sans KR"/>
              </a:rPr>
              <a:t>않는다</a:t>
            </a:r>
            <a:r>
              <a:rPr lang="en-US" altLang="ko-KR" b="1" dirty="0">
                <a:solidFill>
                  <a:srgbClr val="0E0E1E"/>
                </a:solidFill>
                <a:latin typeface="Noto Sans KR"/>
              </a:rPr>
              <a:t>.</a:t>
            </a:r>
            <a:endParaRPr lang="en-US" altLang="ko-KR" b="1" i="0" dirty="0">
              <a:solidFill>
                <a:srgbClr val="0E0E1E"/>
              </a:solidFill>
              <a:effectLst/>
              <a:latin typeface="Noto Sans KR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570956" y="2984500"/>
            <a:ext cx="502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https://www.youtube.com/watch?v=jVNzNk-wqVY</a:t>
            </a:r>
          </a:p>
        </p:txBody>
      </p:sp>
    </p:spTree>
    <p:extLst>
      <p:ext uri="{BB962C8B-B14F-4D97-AF65-F5344CB8AC3E}">
        <p14:creationId xmlns:p14="http://schemas.microsoft.com/office/powerpoint/2010/main" val="315522207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198</TotalTime>
  <Words>1097</Words>
  <Application>Microsoft Office PowerPoint</Application>
  <PresentationFormat>사용자 지정</PresentationFormat>
  <Paragraphs>91</Paragraphs>
  <Slides>9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Adobe 고딕 Std B</vt:lpstr>
      <vt:lpstr>Noto Sans KR</vt:lpstr>
      <vt:lpstr>맑은 고딕</vt:lpstr>
      <vt:lpstr>Arial</vt:lpstr>
      <vt:lpstr>Calibri</vt:lpstr>
      <vt:lpstr>Calibri Light</vt:lpstr>
      <vt:lpstr>Wingdings</vt:lpstr>
      <vt:lpstr>추억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23</cp:revision>
  <dcterms:created xsi:type="dcterms:W3CDTF">2024-09-24T01:49:40Z</dcterms:created>
  <dcterms:modified xsi:type="dcterms:W3CDTF">2026-09-20T09:04:00Z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2022-08-18T00:00:00Z</vt:filetime>
  </property>
  <property fmtid="{D5CDD505-2E9C-101B-9397-08002B2CF9AE}" pid="3" name="Creator">
    <vt:lpwstr>Mozilla/5.0 (Windows NT 10.0; Win64; x64) AppleWebKit/537.36 (KHTML, like Gecko) Chrome/104.0.0.0 Safari/537.36</vt:lpwstr>
  </property>
  <property fmtid="{D5CDD505-2E9C-101B-9397-08002B2CF9AE}" pid="4" name="LastSaved">
    <vt:filetime>2024-09-24T00:00:00Z</vt:filetime>
  </property>
  <property fmtid="{D5CDD505-2E9C-101B-9397-08002B2CF9AE}" pid="5" name="Producer">
    <vt:lpwstr>Skia/PDF m104</vt:lpwstr>
  </property>
</Properties>
</file>