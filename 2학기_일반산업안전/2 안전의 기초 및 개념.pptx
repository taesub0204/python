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6858000" type="screen4x3"/>
  <p:notesSz cx="6858000" cy="9144000"/>
  <p:embeddedFontLst>
    <p:embeddedFont>
      <p:font typeface="맑은 고딕 2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Wingdings" panose="05000000000000000000" pitchFamily="2" charset="2"/>
      <p:regular r:id="rId35"/>
    </p:embeddedFont>
    <p:embeddedFont>
      <p:font typeface="나눔고딕" panose="020D0604000000000000" pitchFamily="50" charset="-127"/>
      <p:regular r:id="rId36"/>
      <p:bold r:id="rId37"/>
    </p:embeddedFont>
    <p:embeddedFont>
      <p:font typeface="맑은 고딕" panose="020B0503020000020004" pitchFamily="50" charset="-127"/>
      <p:regular r:id="rId38"/>
      <p:bold r:id="rId39"/>
    </p:embeddedFont>
    <p:embeddedFont>
      <p:font typeface="나눔고딕 2"/>
      <p:regular r:id="rId40"/>
      <p:bold r:id="rId41"/>
    </p:embeddedFont>
    <p:embeddedFont>
      <p:font typeface="Arial" panose="020B0604020202020204" pitchFamily="34" charset="0"/>
      <p:regular r:id="rId4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-600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5EB0D-27F2-43D9-9E79-82353336E03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753ADB-E896-45BD-B470-C9E0A304C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979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753ADB-E896-45BD-B470-C9E0A304C51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040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fir1YtfLSqQ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shorts/OkFncMsjyXg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341243" y="1225880"/>
            <a:ext cx="3230580" cy="853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802" b="1" spc="432" dirty="0">
                <a:solidFill>
                  <a:srgbClr val="000000"/>
                </a:solidFill>
                <a:latin typeface="맑은 고딕"/>
                <a:cs typeface="맑은 고딕"/>
              </a:rPr>
              <a:t>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60320" y="2523195"/>
            <a:ext cx="1234910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Ⅰ. 안전의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70630" y="2523195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48354" y="2523195"/>
            <a:ext cx="53477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기초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60320" y="3188548"/>
            <a:ext cx="1234910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Ⅱ. 안전을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70630" y="3188548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48354" y="3188548"/>
            <a:ext cx="80214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둘러싼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34738" y="3188548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10938" y="3188548"/>
            <a:ext cx="53508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기초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0664" y="15751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7072" y="1569823"/>
            <a:ext cx="122147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안전확보를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52193" y="15698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19249" y="156982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전제로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37307" y="15698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05887" y="156982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가치를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23691" y="15698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90747" y="156982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창출하는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48200" y="15698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15256" y="15698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93792" y="15698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63896" y="156982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기업의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81700" y="15698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148756" y="1569823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목표여야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06082" y="15698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73138" y="156982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1811" y="2058445"/>
            <a:ext cx="38709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12" dirty="0">
                <a:solidFill>
                  <a:srgbClr val="000000"/>
                </a:solidFill>
                <a:latin typeface="나눔고딕 2"/>
                <a:cs typeface="나눔고딕 2"/>
              </a:rPr>
              <a:t>   -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1532" y="2066395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지역과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36725" y="207246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05305" y="2072462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종업원의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62631" y="207246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28163" y="2072462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행복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406699" y="207246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553003" y="207246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나아가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270807" y="207246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37863" y="207246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사회의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056048" y="207246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24628" y="2072462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요청에도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081700" y="207246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148756" y="2072462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부응하는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106082" y="207246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173138" y="2072462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59815" y="2460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2883" y="246085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종업원의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080311" y="2460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147367" y="24608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부상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625903" y="2460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770683" y="246085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생명피해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727755" y="2460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795065" y="24608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등은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73601" y="2460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342181" y="246085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기업의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059985" y="2460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128565" y="246085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사회적인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085891" y="2460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152947" y="246085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신용의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939331" y="2460855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실추로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657516" y="2460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724572" y="24608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연결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83016" y="2867029"/>
            <a:ext cx="20404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✓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69528" y="286168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불안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548445" y="2861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693225" y="286168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불신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171761" y="2861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318065" y="286168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거절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796601" y="2861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941381" y="286168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적대의식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898707" y="2861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041963" y="2861685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정보화시대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236779" y="2861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304089" y="286168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특유의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021893" y="2861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090473" y="286168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평판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569009" y="2861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637589" y="286168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피해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116125" y="2861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186610" y="2861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425878" y="2861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59815" y="3222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22883" y="322285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사고는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840662" y="3222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909623" y="3222855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영업기회의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104439" y="3222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171495" y="32228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상실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650031" y="3222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795065" y="32228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해당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73601" y="3222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342181" y="3222855"/>
            <a:ext cx="146428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사업으로부터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76519" y="3222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843575" y="32228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철수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6322111" y="3222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6390691" y="322285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629959" y="3222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6700063" y="3222855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경영을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7417867" y="3222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44931" y="3604109"/>
            <a:ext cx="3629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7" dirty="0">
                <a:solidFill>
                  <a:srgbClr val="000000"/>
                </a:solidFill>
                <a:latin typeface="나눔고딕 2"/>
                <a:cs typeface="나눔고딕 2"/>
              </a:rPr>
              <a:t>    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101547" y="360410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좌우하는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2058975" y="36041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2126031" y="360410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문제를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843835" y="36041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912415" y="360410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야기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818693" y="43480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035406" y="4342679"/>
            <a:ext cx="126842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‘인간존중의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2277491" y="434267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2344547" y="4342679"/>
            <a:ext cx="78057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사상’은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3109849" y="434267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3178429" y="4342679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안전제일의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374769" y="434267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440301" y="4342679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정신과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5158486" y="434267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227066" y="434267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일맥상통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037844" y="4709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200912" y="470970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인간존중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2158238" y="4709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2225294" y="470970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사상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2703830" y="4709709"/>
            <a:ext cx="2219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5" dirty="0">
                <a:solidFill>
                  <a:srgbClr val="000000"/>
                </a:solidFill>
                <a:latin typeface="나눔고딕 2"/>
                <a:cs typeface="나눔고딕 2"/>
              </a:rPr>
              <a:t> :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920238" y="470970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사람의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3638042" y="4709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3707003" y="470970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소중한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4424807" y="4709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491863" y="470970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생명과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209667" y="4709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278247" y="470970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건강이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5996305" y="4709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6064885" y="4709709"/>
            <a:ext cx="146283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손상되어서는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7497826" y="4709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822960" y="5090709"/>
            <a:ext cx="3629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7" dirty="0">
                <a:solidFill>
                  <a:srgbClr val="000000"/>
                </a:solidFill>
                <a:latin typeface="나눔고딕 2"/>
                <a:cs typeface="나눔고딕 2"/>
              </a:rPr>
              <a:t>     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179576" y="509070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안된다는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2136902" y="5090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2203958" y="509070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사상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822960" y="5471428"/>
            <a:ext cx="3867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11" dirty="0">
                <a:solidFill>
                  <a:srgbClr val="000000"/>
                </a:solidFill>
                <a:latin typeface="나눔고딕 2"/>
                <a:cs typeface="나눔고딕 2"/>
              </a:rPr>
              <a:t>   - 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1200912" y="5471428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안전제일의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2395982" y="547142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2463038" y="5471428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성립에는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1280160" y="5858358"/>
            <a:ext cx="20404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✓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1566672" y="5853014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사고와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2284730" y="58530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2353310" y="585301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재해를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3071114" y="58530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3138170" y="585301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일으키지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4095623" y="58530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4162679" y="585301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않겠다는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5119751" y="58530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5186807" y="585301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열의와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5904865" y="58530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5973445" y="58530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신념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6451981" y="58530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6596761" y="58530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신중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075297" y="58530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7220077" y="5853014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냉정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7698994" y="58530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1566672" y="6157814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지식에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2284730" y="61578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2353310" y="615781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근거한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3071114" y="61578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3138170" y="6157814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의사결정의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4334891" y="61578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4400423" y="615781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지속이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5118227" y="61578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5186807" y="61578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필요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534619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1) 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883615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왜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1146048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1223772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안전은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2010156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2087880" y="1213164"/>
            <a:ext cx="133717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기업활동의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339877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3474974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근간인가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안전의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기초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04036" y="3828466"/>
            <a:ext cx="58323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https://www.youtube.com/watch?v=hLmefQiFzDA</a:t>
            </a:r>
          </a:p>
        </p:txBody>
      </p:sp>
      <p:sp>
        <p:nvSpPr>
          <p:cNvPr id="178" name="직사각형 177"/>
          <p:cNvSpPr/>
          <p:nvPr/>
        </p:nvSpPr>
        <p:spPr>
          <a:xfrm>
            <a:off x="2806141" y="5060844"/>
            <a:ext cx="54223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https://www.youtube.com/watch?v=x0nnHJzoGW4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기초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6948" y="1799844"/>
            <a:ext cx="439607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spc="137" dirty="0">
                <a:solidFill>
                  <a:srgbClr val="000000"/>
                </a:solidFill>
                <a:latin typeface="나눔고딕 2"/>
                <a:cs typeface="나눔고딕 2"/>
              </a:rPr>
              <a:t>(1)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6716" y="1799844"/>
            <a:ext cx="76869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작업에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11350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84502" y="1799844"/>
            <a:ext cx="76869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안전을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38882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12034" y="1799844"/>
            <a:ext cx="1025179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반영하는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18255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89883" y="1799844"/>
            <a:ext cx="255712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1210" y="23064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7618" y="23011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25447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94281" y="23011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생산을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12085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79141" y="2301154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구분해서는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975862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041394" y="23011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안전을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59198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27778" y="23011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확보할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45582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14162" y="230115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853684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923788" y="23011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없다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02324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34466" y="2804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97559" y="280407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15617" y="2804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084197" y="280407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일상의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802001" y="2804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869057" y="280407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일은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347593" y="2804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417697" y="280407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별개가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135882" y="2804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202938" y="280407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아니다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34466" y="3185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97559" y="3185074"/>
            <a:ext cx="145790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작업현장에서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727325" y="3185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797429" y="3185074"/>
            <a:ext cx="730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513709" y="3185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583813" y="3185074"/>
            <a:ext cx="4865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실패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061206" y="3185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152646" y="3185074"/>
            <a:ext cx="72901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재해의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867402" y="3185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939030" y="3185074"/>
            <a:ext cx="4865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발생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16042" y="3185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507482" y="318507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는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747004" y="3185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817108" y="3185074"/>
            <a:ext cx="145946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생산과정에서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248144" y="3185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318248" y="3185074"/>
            <a:ext cx="97150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발생하는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271002" y="3185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341106" y="318507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578850" y="31850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91210" y="3566455"/>
            <a:ext cx="29186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0" dirty="0">
                <a:solidFill>
                  <a:srgbClr val="0070C0"/>
                </a:solidFill>
                <a:latin typeface="나눔고딕 2"/>
                <a:cs typeface="나눔고딕 2"/>
              </a:rPr>
              <a:t>   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276223" y="356645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안전은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994281" y="35664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062861" y="3566455"/>
            <a:ext cx="14628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생산과정에서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496945" y="35664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564001" y="356645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이행되는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521454" y="35664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586986" y="356645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34619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2)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83615" y="1213164"/>
            <a:ext cx="803057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67030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748028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생산의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534412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612136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일체화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92734" y="39948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209142" y="398949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현장에서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2166239" y="39894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233295" y="3989492"/>
            <a:ext cx="14628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최우선과제는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3666109" y="39894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733165" y="398949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보다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4211701" y="39894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4281805" y="3989492"/>
            <a:ext cx="53626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‘좋은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807966" y="39894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876546" y="3989492"/>
            <a:ext cx="7803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작업’을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5641594" y="39894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710174" y="398949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실현하는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6667500" y="39894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734556" y="398949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135990" y="43704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299083" y="4370492"/>
            <a:ext cx="53626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‘좋은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824863" y="43704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894967" y="4370492"/>
            <a:ext cx="102437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작업’이란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899537" y="43704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3042793" y="437049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일련의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760597" y="43704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3827653" y="437049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동작을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545457" y="43704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614037" y="4370492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차근차근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571490" y="43704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638546" y="437049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실천하는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6595872" y="43704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6662928" y="437049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것이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7141464" y="43704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277747" y="4751211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자연스럽게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2474087" y="475121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541143" y="4751211"/>
            <a:ext cx="97740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안전하고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3498469" y="475121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3565525" y="4751211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효율적인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522597" y="475121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588129" y="4751211"/>
            <a:ext cx="97740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생산으로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545582" y="475121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612638" y="4751211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연결되는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6569964" y="475121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6637020" y="475121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작업을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7354824" y="475121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7423404" y="475121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말함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135990" y="51327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299083" y="513274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일을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1777619" y="51327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846199" y="513274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안전하면서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3042793" y="51327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3109849" y="513274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효율적으로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4304665" y="51327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4371721" y="513274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진행하기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5329174" y="51327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5396230" y="513274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위해서는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6353302" y="51327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449959" y="5519115"/>
            <a:ext cx="20404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✓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736471" y="551377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안전을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2454275" y="55137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2522855" y="5513771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원점으로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3480181" y="55137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3547237" y="551377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생각하고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4504309" y="55137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449959" y="5899841"/>
            <a:ext cx="20428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✓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736471" y="5894490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작업속에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2693543" y="5894490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2760853" y="5894490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안전을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3478657" y="5894490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3547237" y="5894490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생산과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4265041" y="5894490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4332097" y="5894490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일체의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5050282" y="5894490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5118862" y="5894490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것으로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5836666" y="5894490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5903722" y="5894490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반영하여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6861048" y="5894490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6928104" y="5894490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일상적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7645908" y="5894490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7714488" y="5894490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업무로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1736471" y="619987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추진해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2454275" y="619987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2522855" y="619987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가는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3001645" y="619987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3070225" y="619987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것이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3548761" y="619987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3617341" y="619987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필요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안전의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기초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201139" y="6233021"/>
            <a:ext cx="52315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https://www.youtube.com/watch?v=czU7GtbWrmY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기초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4619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2)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3615" y="1213164"/>
            <a:ext cx="803057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030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8028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생산의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34412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12136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일체화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0310" y="30526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6718" y="304734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체계적인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64069" y="30473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31125" y="304734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경영활동과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25941" y="30473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92997" y="304734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선제적인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350450" y="30473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17506" y="304734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문제해결을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12322" y="30473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79378" y="3047346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위해서는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33566" y="353502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96634" y="353502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목표를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14463" y="353502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83297" y="353502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정하고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3566" y="391574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96634" y="3915745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각각의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914463" y="391574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983297" y="3915745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구성원에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40369" y="391574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007425" y="3915745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대해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485961" y="391574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554541" y="3915745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역할을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72726" y="391574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41306" y="3915745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정하고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33566" y="42974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96634" y="4297407"/>
            <a:ext cx="121543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문제해결을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387157" y="42974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458785" y="4297407"/>
            <a:ext cx="4865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위한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935797" y="42974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005901" y="4297407"/>
            <a:ext cx="97297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계획수립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960306" y="4297407"/>
            <a:ext cx="84758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8" dirty="0">
                <a:solidFill>
                  <a:srgbClr val="0070C0"/>
                </a:solidFill>
                <a:latin typeface="나눔고딕 2"/>
                <a:cs typeface="나눔고딕 2"/>
              </a:rPr>
              <a:t>(Plan),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790886" y="429740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실행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267898" y="4297407"/>
            <a:ext cx="68456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1" dirty="0">
                <a:solidFill>
                  <a:srgbClr val="0070C0"/>
                </a:solidFill>
                <a:latin typeface="나눔고딕 2"/>
                <a:cs typeface="나눔고딕 2"/>
              </a:rPr>
              <a:t>(Do),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938712" y="4297407"/>
            <a:ext cx="4865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실행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485828" y="4297407"/>
            <a:ext cx="72901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결과를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200584" y="42974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272212" y="4297407"/>
            <a:ext cx="4865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평가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747954" y="4297407"/>
            <a:ext cx="99971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6" dirty="0">
                <a:solidFill>
                  <a:srgbClr val="0070C0"/>
                </a:solidFill>
                <a:latin typeface="나눔고딕 2"/>
                <a:cs typeface="나눔고딕 2"/>
              </a:rPr>
              <a:t>(Check),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75298" y="467840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이를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723963" y="4678407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토대로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442021" y="46784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510601" y="467840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개선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989137" y="4678407"/>
            <a:ext cx="59577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1" dirty="0">
                <a:solidFill>
                  <a:srgbClr val="0070C0"/>
                </a:solidFill>
                <a:latin typeface="나눔고딕 2"/>
                <a:cs typeface="나눔고딕 2"/>
              </a:rPr>
              <a:t>(Act)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572829" y="4678407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하는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050222" y="46784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117278" y="467840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것이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595814" y="46784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664394" y="467840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기본이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382198" y="46784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450778" y="467840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되는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929568" y="46784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998148" y="467840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것이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476684" y="46784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545264" y="467840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필요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91834" y="525004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08242" y="524470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기업에서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065339" y="5244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132395" y="52447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생산성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850453" y="5244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919033" y="524470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향상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397569" y="5244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542349" y="5244700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품질향상을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737546" y="5244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804602" y="524470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위해서는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637742" y="5243352"/>
            <a:ext cx="11253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48" dirty="0">
                <a:solidFill>
                  <a:srgbClr val="000000"/>
                </a:solidFill>
                <a:latin typeface="나눔고딕 2"/>
                <a:cs typeface="나눔고딕 2"/>
              </a:rPr>
              <a:t> P-D-C-A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862256" y="5244700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경영이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7580060" y="5244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648640" y="524470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정착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35090" y="573263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198158" y="573263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안전에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915987" y="573263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984567" y="573263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대해서는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2941893" y="573263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008949" y="573263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재해가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3726753" y="573263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793809" y="573263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발생하면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4751262" y="573263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818318" y="573263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057586" y="573263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127690" y="5732634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뒷처리하는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322506" y="573263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6389562" y="5732634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수준의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107620" y="573263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176200" y="573263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7654736" y="573263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7723316" y="573263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다수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528744" y="1784675"/>
            <a:ext cx="1173282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spc="173" dirty="0">
                <a:solidFill>
                  <a:srgbClr val="000000"/>
                </a:solidFill>
                <a:latin typeface="나눔고딕 2"/>
                <a:cs typeface="나눔고딕 2"/>
              </a:rPr>
              <a:t>(2) PDCA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877822" y="1799844"/>
            <a:ext cx="255712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를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2129282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2203958" y="1799844"/>
            <a:ext cx="76869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돌리는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2958338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3029966" y="1799844"/>
            <a:ext cx="255712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안전의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기초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12446" y="2246514"/>
            <a:ext cx="82640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PDCA (Plan-Do-Check-Act)</a:t>
            </a:r>
            <a:r>
              <a:rPr lang="ko-KR" altLang="en-US" dirty="0"/>
              <a:t>는 업무</a:t>
            </a:r>
            <a:r>
              <a:rPr lang="en-US" altLang="ko-KR" dirty="0"/>
              <a:t>, </a:t>
            </a:r>
            <a:r>
              <a:rPr lang="ko-KR" altLang="en-US" dirty="0"/>
              <a:t>프로젝트</a:t>
            </a:r>
            <a:r>
              <a:rPr lang="en-US" altLang="ko-KR" dirty="0"/>
              <a:t>, </a:t>
            </a:r>
            <a:r>
              <a:rPr lang="ko-KR" altLang="en-US" dirty="0"/>
              <a:t>품질 관리 등에서 프로세스를 </a:t>
            </a:r>
            <a:r>
              <a:rPr lang="en-US" altLang="ko-KR" dirty="0"/>
              <a:t>continuous improvement(</a:t>
            </a:r>
            <a:r>
              <a:rPr lang="ko-KR" altLang="en-US" dirty="0"/>
              <a:t>지속적 개선</a:t>
            </a:r>
            <a:r>
              <a:rPr lang="en-US" altLang="ko-KR" dirty="0"/>
              <a:t>)</a:t>
            </a:r>
            <a:r>
              <a:rPr lang="ko-KR" altLang="en-US" dirty="0"/>
              <a:t>하기 위해 사용하는 </a:t>
            </a:r>
            <a:r>
              <a:rPr lang="en-US" altLang="ko-KR" dirty="0"/>
              <a:t>4</a:t>
            </a:r>
            <a:r>
              <a:rPr lang="ko-KR" altLang="en-US" dirty="0"/>
              <a:t>단계 관리 </a:t>
            </a:r>
            <a:r>
              <a:rPr lang="ko-KR" altLang="en-US" dirty="0" smtClean="0"/>
              <a:t>사이클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967" y="593090"/>
            <a:ext cx="3610479" cy="1600423"/>
          </a:xfrm>
          <a:prstGeom prst="rect">
            <a:avLst/>
          </a:prstGeom>
        </p:spPr>
      </p:pic>
      <p:sp>
        <p:nvSpPr>
          <p:cNvPr id="118" name="직사각형 117"/>
          <p:cNvSpPr/>
          <p:nvPr/>
        </p:nvSpPr>
        <p:spPr>
          <a:xfrm>
            <a:off x="1120483" y="6113634"/>
            <a:ext cx="6686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https://www.youtube.com/watch?v=i7kVkN4Ei_Y</a:t>
            </a:r>
          </a:p>
        </p:txBody>
      </p:sp>
      <p:sp>
        <p:nvSpPr>
          <p:cNvPr id="119" name="직사각형 118"/>
          <p:cNvSpPr/>
          <p:nvPr/>
        </p:nvSpPr>
        <p:spPr>
          <a:xfrm>
            <a:off x="3210570" y="3428346"/>
            <a:ext cx="50008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https://www.youtube.com/watch?v=uqNkEWf4iJA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위험의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17" name="Shape 17"/>
          <p:cNvSpPr/>
          <p:nvPr/>
        </p:nvSpPr>
        <p:spPr>
          <a:xfrm>
            <a:off x="509295" y="1224597"/>
            <a:ext cx="8240268" cy="400114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600761" y="1280455"/>
            <a:ext cx="170530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산업안전보건법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72919" y="12804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39975" y="128045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해석과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58033" y="12804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25089" y="1280455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위험성평가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21429" y="12804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86961" y="128045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실시를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05146" y="12804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73726" y="12804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52262" y="12804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20842" y="128045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위험분류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78168" y="12804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45224" y="12804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이해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23760" y="12804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93864" y="12804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필요</a:t>
            </a:r>
          </a:p>
        </p:txBody>
      </p:sp>
      <p:sp>
        <p:nvSpPr>
          <p:cNvPr id="33" name="Shape 33"/>
          <p:cNvSpPr/>
          <p:nvPr/>
        </p:nvSpPr>
        <p:spPr>
          <a:xfrm>
            <a:off x="559270" y="2401544"/>
            <a:ext cx="1231760" cy="431698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34" name="Shape 34"/>
          <p:cNvSpPr/>
          <p:nvPr/>
        </p:nvSpPr>
        <p:spPr>
          <a:xfrm>
            <a:off x="1791081" y="2401544"/>
            <a:ext cx="2134997" cy="431698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35" name="Shape 35"/>
          <p:cNvSpPr/>
          <p:nvPr/>
        </p:nvSpPr>
        <p:spPr>
          <a:xfrm>
            <a:off x="3926078" y="2401544"/>
            <a:ext cx="4803013" cy="431698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36" name="Shape 36"/>
          <p:cNvSpPr/>
          <p:nvPr/>
        </p:nvSpPr>
        <p:spPr>
          <a:xfrm>
            <a:off x="559270" y="2833116"/>
            <a:ext cx="1231760" cy="1295146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37" name="Shape 37"/>
          <p:cNvSpPr/>
          <p:nvPr/>
        </p:nvSpPr>
        <p:spPr>
          <a:xfrm>
            <a:off x="1791081" y="2833217"/>
            <a:ext cx="2134997" cy="431698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38" name="Shape 38"/>
          <p:cNvSpPr/>
          <p:nvPr/>
        </p:nvSpPr>
        <p:spPr>
          <a:xfrm>
            <a:off x="3926078" y="2833217"/>
            <a:ext cx="4803013" cy="431698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39" name="Shape 39"/>
          <p:cNvSpPr/>
          <p:nvPr/>
        </p:nvSpPr>
        <p:spPr>
          <a:xfrm>
            <a:off x="1791081" y="3264891"/>
            <a:ext cx="2134997" cy="431698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40" name="Shape 40"/>
          <p:cNvSpPr/>
          <p:nvPr/>
        </p:nvSpPr>
        <p:spPr>
          <a:xfrm>
            <a:off x="3926078" y="3264891"/>
            <a:ext cx="4803013" cy="431698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41" name="Shape 41"/>
          <p:cNvSpPr/>
          <p:nvPr/>
        </p:nvSpPr>
        <p:spPr>
          <a:xfrm>
            <a:off x="1791081" y="3696564"/>
            <a:ext cx="2134997" cy="431698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42" name="Shape 42"/>
          <p:cNvSpPr/>
          <p:nvPr/>
        </p:nvSpPr>
        <p:spPr>
          <a:xfrm>
            <a:off x="3926078" y="3696564"/>
            <a:ext cx="4803013" cy="431698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43" name="Shape 43"/>
          <p:cNvSpPr/>
          <p:nvPr/>
        </p:nvSpPr>
        <p:spPr>
          <a:xfrm>
            <a:off x="559270" y="4128338"/>
            <a:ext cx="1231760" cy="863397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44" name="Shape 44"/>
          <p:cNvSpPr/>
          <p:nvPr/>
        </p:nvSpPr>
        <p:spPr>
          <a:xfrm>
            <a:off x="1791081" y="4128364"/>
            <a:ext cx="2134997" cy="431698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45" name="Shape 45"/>
          <p:cNvSpPr/>
          <p:nvPr/>
        </p:nvSpPr>
        <p:spPr>
          <a:xfrm>
            <a:off x="3926078" y="4128364"/>
            <a:ext cx="4803013" cy="431698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46" name="Shape 46"/>
          <p:cNvSpPr/>
          <p:nvPr/>
        </p:nvSpPr>
        <p:spPr>
          <a:xfrm>
            <a:off x="1791081" y="4560037"/>
            <a:ext cx="2134997" cy="431698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47" name="Shape 47"/>
          <p:cNvSpPr/>
          <p:nvPr/>
        </p:nvSpPr>
        <p:spPr>
          <a:xfrm>
            <a:off x="3926078" y="4560037"/>
            <a:ext cx="4803013" cy="431698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48" name="Shape 48"/>
          <p:cNvSpPr/>
          <p:nvPr/>
        </p:nvSpPr>
        <p:spPr>
          <a:xfrm>
            <a:off x="559270" y="4991760"/>
            <a:ext cx="1231760" cy="1283208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49" name="Shape 49"/>
          <p:cNvSpPr/>
          <p:nvPr/>
        </p:nvSpPr>
        <p:spPr>
          <a:xfrm>
            <a:off x="1791081" y="4991710"/>
            <a:ext cx="2134997" cy="431698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50" name="Shape 50"/>
          <p:cNvSpPr/>
          <p:nvPr/>
        </p:nvSpPr>
        <p:spPr>
          <a:xfrm>
            <a:off x="3926078" y="4991710"/>
            <a:ext cx="4803013" cy="431698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51" name="Shape 51"/>
          <p:cNvSpPr/>
          <p:nvPr/>
        </p:nvSpPr>
        <p:spPr>
          <a:xfrm>
            <a:off x="1791081" y="5423408"/>
            <a:ext cx="2134997" cy="425780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52" name="Shape 52"/>
          <p:cNvSpPr/>
          <p:nvPr/>
        </p:nvSpPr>
        <p:spPr>
          <a:xfrm>
            <a:off x="3926078" y="5423408"/>
            <a:ext cx="4803013" cy="425780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53" name="Shape 53"/>
          <p:cNvSpPr/>
          <p:nvPr/>
        </p:nvSpPr>
        <p:spPr>
          <a:xfrm>
            <a:off x="1791081" y="5849188"/>
            <a:ext cx="2134997" cy="425780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54" name="Shape 54"/>
          <p:cNvSpPr/>
          <p:nvPr/>
        </p:nvSpPr>
        <p:spPr>
          <a:xfrm>
            <a:off x="3926078" y="5849188"/>
            <a:ext cx="4803013" cy="425780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55" name="Shape 55"/>
          <p:cNvSpPr/>
          <p:nvPr/>
        </p:nvSpPr>
        <p:spPr>
          <a:xfrm>
            <a:off x="1791081" y="2395220"/>
            <a:ext cx="1" cy="3886098"/>
          </a:xfrm>
          <a:custGeom>
            <a:avLst/>
            <a:gdLst/>
            <a:ahLst/>
            <a:cxnLst/>
            <a:rect l="0" t="0" r="1" b="3886098"/>
            <a:pathLst>
              <a:path w="1" h="3886098" fill="none">
                <a:moveTo>
                  <a:pt x="0" y="0"/>
                </a:moveTo>
                <a:lnTo>
                  <a:pt x="0" y="3886098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Shape 56"/>
          <p:cNvSpPr/>
          <p:nvPr/>
        </p:nvSpPr>
        <p:spPr>
          <a:xfrm>
            <a:off x="3926078" y="2395220"/>
            <a:ext cx="1" cy="3886098"/>
          </a:xfrm>
          <a:custGeom>
            <a:avLst/>
            <a:gdLst/>
            <a:ahLst/>
            <a:cxnLst/>
            <a:rect l="0" t="0" r="1" b="3886098"/>
            <a:pathLst>
              <a:path w="1" h="3886098" fill="none">
                <a:moveTo>
                  <a:pt x="0" y="0"/>
                </a:moveTo>
                <a:lnTo>
                  <a:pt x="0" y="3886098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Shape 57"/>
          <p:cNvSpPr/>
          <p:nvPr/>
        </p:nvSpPr>
        <p:spPr>
          <a:xfrm>
            <a:off x="552920" y="2833243"/>
            <a:ext cx="8182521" cy="1"/>
          </a:xfrm>
          <a:custGeom>
            <a:avLst/>
            <a:gdLst/>
            <a:ahLst/>
            <a:cxnLst/>
            <a:rect l="0" t="0" r="8182521" b="1"/>
            <a:pathLst>
              <a:path w="8182521" h="1" fill="none">
                <a:moveTo>
                  <a:pt x="0" y="0"/>
                </a:moveTo>
                <a:lnTo>
                  <a:pt x="818252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Shape 58"/>
          <p:cNvSpPr/>
          <p:nvPr/>
        </p:nvSpPr>
        <p:spPr>
          <a:xfrm>
            <a:off x="1784731" y="3264916"/>
            <a:ext cx="6950710" cy="1"/>
          </a:xfrm>
          <a:custGeom>
            <a:avLst/>
            <a:gdLst/>
            <a:ahLst/>
            <a:cxnLst/>
            <a:rect l="0" t="0" r="6950710" b="1"/>
            <a:pathLst>
              <a:path w="6950710" h="1" fill="none">
                <a:moveTo>
                  <a:pt x="0" y="0"/>
                </a:moveTo>
                <a:lnTo>
                  <a:pt x="6950710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Shape 59"/>
          <p:cNvSpPr/>
          <p:nvPr/>
        </p:nvSpPr>
        <p:spPr>
          <a:xfrm>
            <a:off x="1784731" y="3696589"/>
            <a:ext cx="6950710" cy="1"/>
          </a:xfrm>
          <a:custGeom>
            <a:avLst/>
            <a:gdLst/>
            <a:ahLst/>
            <a:cxnLst/>
            <a:rect l="0" t="0" r="6950710" b="1"/>
            <a:pathLst>
              <a:path w="6950710" h="1" fill="none">
                <a:moveTo>
                  <a:pt x="0" y="0"/>
                </a:moveTo>
                <a:lnTo>
                  <a:pt x="6950710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Shape 60"/>
          <p:cNvSpPr/>
          <p:nvPr/>
        </p:nvSpPr>
        <p:spPr>
          <a:xfrm>
            <a:off x="552920" y="4128262"/>
            <a:ext cx="8182521" cy="1"/>
          </a:xfrm>
          <a:custGeom>
            <a:avLst/>
            <a:gdLst/>
            <a:ahLst/>
            <a:cxnLst/>
            <a:rect l="0" t="0" r="8182521" b="1"/>
            <a:pathLst>
              <a:path w="8182521" h="1" fill="none">
                <a:moveTo>
                  <a:pt x="0" y="0"/>
                </a:moveTo>
                <a:lnTo>
                  <a:pt x="818252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Shape 61"/>
          <p:cNvSpPr/>
          <p:nvPr/>
        </p:nvSpPr>
        <p:spPr>
          <a:xfrm>
            <a:off x="1784731" y="4560062"/>
            <a:ext cx="6950710" cy="1"/>
          </a:xfrm>
          <a:custGeom>
            <a:avLst/>
            <a:gdLst/>
            <a:ahLst/>
            <a:cxnLst/>
            <a:rect l="0" t="0" r="6950710" b="1"/>
            <a:pathLst>
              <a:path w="6950710" h="1" fill="none">
                <a:moveTo>
                  <a:pt x="0" y="0"/>
                </a:moveTo>
                <a:lnTo>
                  <a:pt x="6950710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Shape 62"/>
          <p:cNvSpPr/>
          <p:nvPr/>
        </p:nvSpPr>
        <p:spPr>
          <a:xfrm>
            <a:off x="552920" y="4991735"/>
            <a:ext cx="8182521" cy="1"/>
          </a:xfrm>
          <a:custGeom>
            <a:avLst/>
            <a:gdLst/>
            <a:ahLst/>
            <a:cxnLst/>
            <a:rect l="0" t="0" r="8182521" b="1"/>
            <a:pathLst>
              <a:path w="8182521" h="1" fill="none">
                <a:moveTo>
                  <a:pt x="0" y="0"/>
                </a:moveTo>
                <a:lnTo>
                  <a:pt x="818252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Shape 63"/>
          <p:cNvSpPr/>
          <p:nvPr/>
        </p:nvSpPr>
        <p:spPr>
          <a:xfrm>
            <a:off x="1784731" y="5423408"/>
            <a:ext cx="6950710" cy="1"/>
          </a:xfrm>
          <a:custGeom>
            <a:avLst/>
            <a:gdLst/>
            <a:ahLst/>
            <a:cxnLst/>
            <a:rect l="0" t="0" r="6950710" b="1"/>
            <a:pathLst>
              <a:path w="6950710" h="1" fill="none">
                <a:moveTo>
                  <a:pt x="0" y="0"/>
                </a:moveTo>
                <a:lnTo>
                  <a:pt x="6950710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Shape 64"/>
          <p:cNvSpPr/>
          <p:nvPr/>
        </p:nvSpPr>
        <p:spPr>
          <a:xfrm>
            <a:off x="1784731" y="5849188"/>
            <a:ext cx="6950710" cy="1"/>
          </a:xfrm>
          <a:custGeom>
            <a:avLst/>
            <a:gdLst/>
            <a:ahLst/>
            <a:cxnLst/>
            <a:rect l="0" t="0" r="6950710" b="1"/>
            <a:pathLst>
              <a:path w="6950710" h="1" fill="none">
                <a:moveTo>
                  <a:pt x="0" y="0"/>
                </a:moveTo>
                <a:lnTo>
                  <a:pt x="6950710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Shape 65"/>
          <p:cNvSpPr/>
          <p:nvPr/>
        </p:nvSpPr>
        <p:spPr>
          <a:xfrm>
            <a:off x="559270" y="2395220"/>
            <a:ext cx="1" cy="3886098"/>
          </a:xfrm>
          <a:custGeom>
            <a:avLst/>
            <a:gdLst/>
            <a:ahLst/>
            <a:cxnLst/>
            <a:rect l="0" t="0" r="1" b="3886098"/>
            <a:pathLst>
              <a:path w="1" h="3886098" fill="none">
                <a:moveTo>
                  <a:pt x="0" y="0"/>
                </a:moveTo>
                <a:lnTo>
                  <a:pt x="0" y="3886098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Shape 66"/>
          <p:cNvSpPr/>
          <p:nvPr/>
        </p:nvSpPr>
        <p:spPr>
          <a:xfrm>
            <a:off x="8729091" y="2395220"/>
            <a:ext cx="1" cy="3886098"/>
          </a:xfrm>
          <a:custGeom>
            <a:avLst/>
            <a:gdLst/>
            <a:ahLst/>
            <a:cxnLst/>
            <a:rect l="0" t="0" r="1" b="3886098"/>
            <a:pathLst>
              <a:path w="1" h="3886098" fill="none">
                <a:moveTo>
                  <a:pt x="0" y="0"/>
                </a:moveTo>
                <a:lnTo>
                  <a:pt x="0" y="3886098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Shape 67"/>
          <p:cNvSpPr/>
          <p:nvPr/>
        </p:nvSpPr>
        <p:spPr>
          <a:xfrm>
            <a:off x="552920" y="2401570"/>
            <a:ext cx="8182521" cy="1"/>
          </a:xfrm>
          <a:custGeom>
            <a:avLst/>
            <a:gdLst/>
            <a:ahLst/>
            <a:cxnLst/>
            <a:rect l="0" t="0" r="8182521" b="1"/>
            <a:pathLst>
              <a:path w="8182521" h="1" fill="none">
                <a:moveTo>
                  <a:pt x="0" y="0"/>
                </a:moveTo>
                <a:lnTo>
                  <a:pt x="818252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Shape 68"/>
          <p:cNvSpPr/>
          <p:nvPr/>
        </p:nvSpPr>
        <p:spPr>
          <a:xfrm>
            <a:off x="552920" y="6274968"/>
            <a:ext cx="8182521" cy="1"/>
          </a:xfrm>
          <a:custGeom>
            <a:avLst/>
            <a:gdLst/>
            <a:ahLst/>
            <a:cxnLst/>
            <a:rect l="0" t="0" r="8182521" b="1"/>
            <a:pathLst>
              <a:path w="8182521" h="1" fill="none">
                <a:moveTo>
                  <a:pt x="0" y="0"/>
                </a:moveTo>
                <a:lnTo>
                  <a:pt x="818252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TextBox 69"/>
          <p:cNvSpPr txBox="1"/>
          <p:nvPr/>
        </p:nvSpPr>
        <p:spPr>
          <a:xfrm>
            <a:off x="662026" y="24574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0562" y="24574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209142" y="2457491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종류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380234" y="245749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사고유형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148072" y="245749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위험이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865876" y="24574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934456" y="24574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많은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412992" y="24574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481572" y="2457491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기계의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199630" y="24574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268210" y="245749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예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15950" y="3186063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접촉적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36346" y="349139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976374" y="29070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협착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2454910" y="29070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2547874" y="29070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끼임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025140" y="2907071"/>
            <a:ext cx="24558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1" dirty="0">
                <a:solidFill>
                  <a:srgbClr val="0070C0"/>
                </a:solidFill>
                <a:latin typeface="나눔고딕 2"/>
                <a:cs typeface="나눔고딕 2"/>
              </a:rPr>
              <a:t>), 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3261360" y="29070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감김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4018153" y="2952938"/>
            <a:ext cx="494667" cy="2410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56" b="1" dirty="0">
                <a:solidFill>
                  <a:srgbClr val="000000"/>
                </a:solidFill>
                <a:latin typeface="나눔고딕"/>
                <a:cs typeface="나눔고딕"/>
              </a:rPr>
              <a:t>원동기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4502785" y="2952938"/>
            <a:ext cx="103327" cy="2410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5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4603369" y="2952938"/>
            <a:ext cx="988991" cy="2410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56" b="1" dirty="0">
                <a:solidFill>
                  <a:srgbClr val="000000"/>
                </a:solidFill>
                <a:latin typeface="나눔고딕"/>
                <a:cs typeface="나눔고딕"/>
              </a:rPr>
              <a:t>동력전달기구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5573014" y="2952938"/>
            <a:ext cx="103327" cy="2410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5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5676646" y="2952938"/>
            <a:ext cx="659442" cy="2410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56" b="1" dirty="0">
                <a:solidFill>
                  <a:srgbClr val="000000"/>
                </a:solidFill>
                <a:latin typeface="나눔고딕"/>
                <a:cs typeface="나눔고딕"/>
              </a:rPr>
              <a:t>공작기계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6322822" y="2952938"/>
            <a:ext cx="103327" cy="2410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5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6423406" y="2952938"/>
            <a:ext cx="824215" cy="2410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56" b="1" dirty="0">
                <a:solidFill>
                  <a:srgbClr val="000000"/>
                </a:solidFill>
                <a:latin typeface="나눔고딕"/>
                <a:cs typeface="나눔고딕"/>
              </a:rPr>
              <a:t>엘리베이터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7231380" y="2952938"/>
            <a:ext cx="103327" cy="2410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5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281672" y="2952938"/>
            <a:ext cx="165117" cy="2410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56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2307082" y="333899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베임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2785618" y="33389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930398" y="3338998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마찰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4018153" y="3347044"/>
            <a:ext cx="925724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공작기계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926457" y="3347044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068189" y="3347044"/>
            <a:ext cx="926656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식품기계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976874" y="3347044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117082" y="3347044"/>
            <a:ext cx="925724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동력공구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025640" y="3347044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094220" y="3347044"/>
            <a:ext cx="230871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307082" y="37706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충돌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785618" y="37706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930398" y="3770671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격돌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4018153" y="3778717"/>
            <a:ext cx="925724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건설기계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4926457" y="3778717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068189" y="3778717"/>
            <a:ext cx="694728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크레인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5749798" y="3778717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890006" y="3778717"/>
            <a:ext cx="138895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하역운반기계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7252716" y="3778717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7321296" y="3778717"/>
            <a:ext cx="230871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15950" y="426597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물리적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936346" y="45707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2002282" y="42024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비래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2480818" y="4278183"/>
            <a:ext cx="103327" cy="2410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56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2543302" y="4278183"/>
            <a:ext cx="494667" cy="2410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56" b="1" dirty="0">
                <a:solidFill>
                  <a:srgbClr val="0070C0"/>
                </a:solidFill>
                <a:latin typeface="나눔고딕"/>
                <a:cs typeface="나눔고딕"/>
              </a:rPr>
              <a:t>날아옴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3028188" y="4278183"/>
            <a:ext cx="103327" cy="2410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56" b="1" dirty="0">
                <a:solidFill>
                  <a:srgbClr val="0070C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3090672" y="42024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3235452" y="42024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낙하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4018153" y="4210517"/>
            <a:ext cx="138895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금속공작기계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5380990" y="4210517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5521198" y="4210517"/>
            <a:ext cx="925724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건설기계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6429502" y="4210517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6571234" y="4210517"/>
            <a:ext cx="694107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크레인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7252716" y="4210517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7321296" y="4210517"/>
            <a:ext cx="230871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976374" y="463386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추락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2454910" y="463386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2599690" y="463386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전락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3078480" y="463386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3171444" y="463386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轉落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3649980" y="463386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4018153" y="4641910"/>
            <a:ext cx="1389248" cy="337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8" b="1" dirty="0">
                <a:solidFill>
                  <a:srgbClr val="000000"/>
                </a:solidFill>
                <a:latin typeface="나눔고딕"/>
                <a:cs typeface="나눔고딕"/>
              </a:rPr>
              <a:t>하역운반기계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5380990" y="4641910"/>
            <a:ext cx="144658" cy="337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5449570" y="4641910"/>
            <a:ext cx="231164" cy="337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8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815950" y="533937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구조적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936346" y="5643945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2619502" y="5066071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파열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4018153" y="5074117"/>
            <a:ext cx="694107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보일러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4699381" y="5074117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4841113" y="5074117"/>
            <a:ext cx="925724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압력용기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5749798" y="5074117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5890006" y="5074117"/>
            <a:ext cx="46248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배관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6344158" y="5074117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6412738" y="5074117"/>
            <a:ext cx="230871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2619502" y="5494874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파괴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4018153" y="5502920"/>
            <a:ext cx="138895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고속회전기계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5380990" y="5502920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5449570" y="5502920"/>
            <a:ext cx="230871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2619502" y="5920679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절단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4018153" y="5928725"/>
            <a:ext cx="1157342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와이어로프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5153914" y="5928725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5222494" y="5928725"/>
            <a:ext cx="230871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534619" y="1870923"/>
            <a:ext cx="35530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spc="150" dirty="0">
                <a:solidFill>
                  <a:srgbClr val="000000"/>
                </a:solidFill>
                <a:latin typeface="나눔고딕 2"/>
                <a:cs typeface="나눔고딕 2"/>
              </a:rPr>
              <a:t>1) 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883615" y="1870923"/>
            <a:ext cx="80276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기계적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1670304" y="1870923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1748028" y="1870923"/>
            <a:ext cx="53477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안전의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기초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위험의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17" name="Shape 17"/>
          <p:cNvSpPr/>
          <p:nvPr/>
        </p:nvSpPr>
        <p:spPr>
          <a:xfrm>
            <a:off x="637692" y="1716278"/>
            <a:ext cx="1267308" cy="396240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1905000" y="1716278"/>
            <a:ext cx="6867525" cy="396240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19" name="Shape 19"/>
          <p:cNvSpPr/>
          <p:nvPr/>
        </p:nvSpPr>
        <p:spPr>
          <a:xfrm>
            <a:off x="637692" y="2112518"/>
            <a:ext cx="1267308" cy="914400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20" name="Shape 20"/>
          <p:cNvSpPr/>
          <p:nvPr/>
        </p:nvSpPr>
        <p:spPr>
          <a:xfrm>
            <a:off x="1905000" y="2112518"/>
            <a:ext cx="6867525" cy="914400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1" name="Shape 21"/>
          <p:cNvSpPr/>
          <p:nvPr/>
        </p:nvSpPr>
        <p:spPr>
          <a:xfrm>
            <a:off x="637692" y="3026918"/>
            <a:ext cx="1267308" cy="914400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1905000" y="3026918"/>
            <a:ext cx="6867525" cy="914400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23" name="Shape 23"/>
          <p:cNvSpPr/>
          <p:nvPr/>
        </p:nvSpPr>
        <p:spPr>
          <a:xfrm>
            <a:off x="637692" y="3941318"/>
            <a:ext cx="1267308" cy="701040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24" name="Shape 24"/>
          <p:cNvSpPr/>
          <p:nvPr/>
        </p:nvSpPr>
        <p:spPr>
          <a:xfrm>
            <a:off x="1905000" y="3941318"/>
            <a:ext cx="6867525" cy="701040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5" name="Shape 25"/>
          <p:cNvSpPr/>
          <p:nvPr/>
        </p:nvSpPr>
        <p:spPr>
          <a:xfrm>
            <a:off x="637692" y="4642358"/>
            <a:ext cx="1267308" cy="914400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1905000" y="4642358"/>
            <a:ext cx="6867525" cy="914400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637692" y="5556821"/>
            <a:ext cx="1267308" cy="914400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1905000" y="5556821"/>
            <a:ext cx="6867525" cy="914400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1905000" y="1709928"/>
            <a:ext cx="1" cy="4767643"/>
          </a:xfrm>
          <a:custGeom>
            <a:avLst/>
            <a:gdLst/>
            <a:ahLst/>
            <a:cxnLst/>
            <a:rect l="0" t="0" r="1" b="4767643"/>
            <a:pathLst>
              <a:path w="1" h="4767643" fill="none">
                <a:moveTo>
                  <a:pt x="0" y="0"/>
                </a:moveTo>
                <a:lnTo>
                  <a:pt x="0" y="4767643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31342" y="2112518"/>
            <a:ext cx="8147533" cy="1"/>
          </a:xfrm>
          <a:custGeom>
            <a:avLst/>
            <a:gdLst/>
            <a:ahLst/>
            <a:cxnLst/>
            <a:rect l="0" t="0" r="8147533" b="1"/>
            <a:pathLst>
              <a:path w="8147533" h="1" fill="none">
                <a:moveTo>
                  <a:pt x="0" y="0"/>
                </a:moveTo>
                <a:lnTo>
                  <a:pt x="8147533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631342" y="3026918"/>
            <a:ext cx="8147533" cy="1"/>
          </a:xfrm>
          <a:custGeom>
            <a:avLst/>
            <a:gdLst/>
            <a:ahLst/>
            <a:cxnLst/>
            <a:rect l="0" t="0" r="8147533" b="1"/>
            <a:pathLst>
              <a:path w="8147533" h="1" fill="none">
                <a:moveTo>
                  <a:pt x="0" y="0"/>
                </a:moveTo>
                <a:lnTo>
                  <a:pt x="8147533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631342" y="3941318"/>
            <a:ext cx="8147533" cy="1"/>
          </a:xfrm>
          <a:custGeom>
            <a:avLst/>
            <a:gdLst/>
            <a:ahLst/>
            <a:cxnLst/>
            <a:rect l="0" t="0" r="8147533" b="1"/>
            <a:pathLst>
              <a:path w="8147533" h="1" fill="none">
                <a:moveTo>
                  <a:pt x="0" y="0"/>
                </a:moveTo>
                <a:lnTo>
                  <a:pt x="8147533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Shape 33"/>
          <p:cNvSpPr/>
          <p:nvPr/>
        </p:nvSpPr>
        <p:spPr>
          <a:xfrm>
            <a:off x="631342" y="4642358"/>
            <a:ext cx="8147533" cy="1"/>
          </a:xfrm>
          <a:custGeom>
            <a:avLst/>
            <a:gdLst/>
            <a:ahLst/>
            <a:cxnLst/>
            <a:rect l="0" t="0" r="8147533" b="1"/>
            <a:pathLst>
              <a:path w="8147533" h="1" fill="none">
                <a:moveTo>
                  <a:pt x="0" y="0"/>
                </a:moveTo>
                <a:lnTo>
                  <a:pt x="8147533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Shape 34"/>
          <p:cNvSpPr/>
          <p:nvPr/>
        </p:nvSpPr>
        <p:spPr>
          <a:xfrm>
            <a:off x="631342" y="5556758"/>
            <a:ext cx="8147533" cy="1"/>
          </a:xfrm>
          <a:custGeom>
            <a:avLst/>
            <a:gdLst/>
            <a:ahLst/>
            <a:cxnLst/>
            <a:rect l="0" t="0" r="8147533" b="1"/>
            <a:pathLst>
              <a:path w="8147533" h="1" fill="none">
                <a:moveTo>
                  <a:pt x="0" y="0"/>
                </a:moveTo>
                <a:lnTo>
                  <a:pt x="8147533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Shape 35"/>
          <p:cNvSpPr/>
          <p:nvPr/>
        </p:nvSpPr>
        <p:spPr>
          <a:xfrm>
            <a:off x="637692" y="1709928"/>
            <a:ext cx="1" cy="4767643"/>
          </a:xfrm>
          <a:custGeom>
            <a:avLst/>
            <a:gdLst/>
            <a:ahLst/>
            <a:cxnLst/>
            <a:rect l="0" t="0" r="1" b="4767643"/>
            <a:pathLst>
              <a:path w="1" h="4767643" fill="none">
                <a:moveTo>
                  <a:pt x="0" y="0"/>
                </a:moveTo>
                <a:lnTo>
                  <a:pt x="0" y="4767643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Shape 36"/>
          <p:cNvSpPr/>
          <p:nvPr/>
        </p:nvSpPr>
        <p:spPr>
          <a:xfrm>
            <a:off x="8772525" y="1709928"/>
            <a:ext cx="1" cy="4767643"/>
          </a:xfrm>
          <a:custGeom>
            <a:avLst/>
            <a:gdLst/>
            <a:ahLst/>
            <a:cxnLst/>
            <a:rect l="0" t="0" r="1" b="4767643"/>
            <a:pathLst>
              <a:path w="1" h="4767643" fill="none">
                <a:moveTo>
                  <a:pt x="0" y="0"/>
                </a:moveTo>
                <a:lnTo>
                  <a:pt x="0" y="4767643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Shape 37"/>
          <p:cNvSpPr/>
          <p:nvPr/>
        </p:nvSpPr>
        <p:spPr>
          <a:xfrm>
            <a:off x="631342" y="1716278"/>
            <a:ext cx="8147533" cy="1"/>
          </a:xfrm>
          <a:custGeom>
            <a:avLst/>
            <a:gdLst/>
            <a:ahLst/>
            <a:cxnLst/>
            <a:rect l="0" t="0" r="8147533" b="1"/>
            <a:pathLst>
              <a:path w="8147533" h="1" fill="none">
                <a:moveTo>
                  <a:pt x="0" y="0"/>
                </a:moveTo>
                <a:lnTo>
                  <a:pt x="8147533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Shape 38"/>
          <p:cNvSpPr/>
          <p:nvPr/>
        </p:nvSpPr>
        <p:spPr>
          <a:xfrm>
            <a:off x="631342" y="6471222"/>
            <a:ext cx="8147533" cy="1"/>
          </a:xfrm>
          <a:custGeom>
            <a:avLst/>
            <a:gdLst/>
            <a:ahLst/>
            <a:cxnLst/>
            <a:rect l="0" t="0" r="8147533" b="1"/>
            <a:pathLst>
              <a:path w="8147533" h="1" fill="none">
                <a:moveTo>
                  <a:pt x="0" y="0"/>
                </a:moveTo>
                <a:lnTo>
                  <a:pt x="8147533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1031138" y="177232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099304" y="177232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설명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2266" y="227524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폭발성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30045" y="22752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31138" y="258004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996694" y="2168017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스스로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641346" y="216801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703830" y="2168017"/>
            <a:ext cx="65816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산소를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348863" y="216801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409823" y="2168017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함유하고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269359" y="216801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330319" y="2168017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있어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760341" y="216801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822825" y="2168017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가열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252593" y="216801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385181" y="2168017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충격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814949" y="216801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947537" y="2168017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마찰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377305" y="216801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08369" y="2168017"/>
            <a:ext cx="658166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점화원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153402" y="216801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215886" y="2168017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등에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645654" y="216801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708138" y="2168017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의해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137906" y="216801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996694" y="2442337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다량의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641346" y="24423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703830" y="2442337"/>
            <a:ext cx="43867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열과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133979" y="24423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194939" y="2442337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가스를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839591" y="24423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902075" y="2442337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발생시켜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761865" y="24423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822825" y="2442337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격렬한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467477" y="24423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529961" y="2442337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폭발을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174613" y="24423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235573" y="2442337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일으키는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095490" y="24423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156450" y="2442337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고체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586218" y="24423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7648702" y="2442337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078470" y="24423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8140954" y="2442337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액체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8570976" y="24423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996694" y="2716657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2426462" y="271665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508758" y="2716657"/>
            <a:ext cx="153427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초산에스테르류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4013327" y="271665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4141343" y="2716657"/>
            <a:ext cx="1315091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니트로화합물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430901" y="271665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5561965" y="2716657"/>
            <a:ext cx="1315091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유기과산화물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851650" y="271665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6911086" y="2716657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7125970" y="271665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912266" y="319002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발화성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630045" y="31900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031138" y="349482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996694" y="3082798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통상의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641346" y="308279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2703830" y="3082798"/>
            <a:ext cx="109715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상태에서도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778631" y="308279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3838067" y="3082798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발화하기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697857" y="308279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760341" y="3082798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쉽고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190109" y="308279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321173" y="3082798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물과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5750941" y="308279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813425" y="3082798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접촉하여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673342" y="308279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6734302" y="3082798"/>
            <a:ext cx="1315089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가연성가스가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8023606" y="308279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996694" y="3358642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발생하여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2856611" y="335864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2917571" y="3358642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발열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3347339" y="3340354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3418967" y="3358642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발화하는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78503" y="335864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337939" y="3358642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996694" y="363143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2078990" y="3631438"/>
            <a:ext cx="1095908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알칼리금속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3153791" y="363143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3284855" y="3631438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인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3499739" y="363143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3562223" y="3631438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및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3777107" y="363143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3839591" y="3631438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인화합물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4699381" y="363143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830445" y="3631438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셀로이드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89981" y="363143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821045" y="3631438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카바이드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6680962" y="363143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6743446" y="3631438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6958330" y="363143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912266" y="399774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인화성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031138" y="430226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996694" y="4027678"/>
            <a:ext cx="131509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액체표면에서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3286379" y="402767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3345815" y="4027678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증발한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3990467" y="402767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4052951" y="4027678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가연성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4697857" y="402767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4760341" y="4027678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증기와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5404993" y="402767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5465953" y="4027678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공기의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6110605" y="402767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6173089" y="4027678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혼합기에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7033006" y="402767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7093966" y="4027678"/>
            <a:ext cx="876726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점화원이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7953502" y="402767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996694" y="4301718"/>
            <a:ext cx="877017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작용하면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2856611" y="4301718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2917571" y="4301718"/>
            <a:ext cx="657836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폭발할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3562223" y="4301718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3624707" y="4301718"/>
            <a:ext cx="877017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위험성이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4484243" y="4301718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4545203" y="4301718"/>
            <a:ext cx="438967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4975225" y="4301718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5037709" y="4301718"/>
            <a:ext cx="438655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5467477" y="4301718"/>
            <a:ext cx="148488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(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5612257" y="4301718"/>
            <a:ext cx="657836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가솔린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6256909" y="4301718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6387973" y="4301718"/>
            <a:ext cx="658458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메탄올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7033006" y="4301718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7095490" y="4301718"/>
            <a:ext cx="219474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7310374" y="4301718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912266" y="480572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산화성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1031138" y="511052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1996694" y="4700016"/>
            <a:ext cx="1095908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단독으로는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3071495" y="470001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3132455" y="4700016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발화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3562223" y="468172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3633851" y="4700016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폭발의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4278503" y="470001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4337939" y="4700016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위험은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4982845" y="470001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5045329" y="4700016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없지만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5689981" y="470001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5752465" y="4700016"/>
            <a:ext cx="1095909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가연성물질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6827266" y="470001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6956806" y="4700016"/>
            <a:ext cx="1315089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환원성물질과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8246110" y="470001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1996694" y="4974336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접촉하면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2856611" y="497433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2917571" y="4974336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충격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3347339" y="497433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3479927" y="4974336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점화원에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4339463" y="497433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4400423" y="4974336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의해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4830445" y="497433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4892929" y="4974336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발화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5322697" y="495604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5394325" y="4974336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폭발을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6038977" y="497433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6099937" y="4974336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일으키는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6959854" y="497433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7020814" y="4974336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1996694" y="524713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2078990" y="5247132"/>
            <a:ext cx="1095908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염소산염류</a:t>
            </a:r>
          </a:p>
        </p:txBody>
      </p:sp>
      <p:sp>
        <p:nvSpPr>
          <p:cNvPr id="198" name="TextBox 198"/>
          <p:cNvSpPr txBox="1"/>
          <p:nvPr/>
        </p:nvSpPr>
        <p:spPr>
          <a:xfrm>
            <a:off x="3153791" y="524713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99" name="TextBox 199"/>
          <p:cNvSpPr txBox="1"/>
          <p:nvPr/>
        </p:nvSpPr>
        <p:spPr>
          <a:xfrm>
            <a:off x="3284855" y="5247132"/>
            <a:ext cx="1315091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과염소산염류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4574159" y="524713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4703953" y="5247132"/>
            <a:ext cx="1315091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무기과산화물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5993257" y="524713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6052693" y="5247132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6267577" y="524713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205" name="TextBox 205"/>
          <p:cNvSpPr txBox="1"/>
          <p:nvPr/>
        </p:nvSpPr>
        <p:spPr>
          <a:xfrm>
            <a:off x="912266" y="5719840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가연성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752246" y="602675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가스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1230782" y="600638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1311529" y="602675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분진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1996694" y="5612612"/>
            <a:ext cx="438655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공기</a:t>
            </a:r>
          </a:p>
        </p:txBody>
      </p:sp>
      <p:sp>
        <p:nvSpPr>
          <p:cNvPr id="210" name="TextBox 210"/>
          <p:cNvSpPr txBox="1"/>
          <p:nvPr/>
        </p:nvSpPr>
        <p:spPr>
          <a:xfrm>
            <a:off x="2426462" y="5612612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2488946" y="5612612"/>
            <a:ext cx="219474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중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2703830" y="5612612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3" name="TextBox 213"/>
          <p:cNvSpPr txBox="1"/>
          <p:nvPr/>
        </p:nvSpPr>
        <p:spPr>
          <a:xfrm>
            <a:off x="2766314" y="5612612"/>
            <a:ext cx="438967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214" name="TextBox 214"/>
          <p:cNvSpPr txBox="1"/>
          <p:nvPr/>
        </p:nvSpPr>
        <p:spPr>
          <a:xfrm>
            <a:off x="3196463" y="5612612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5" name="TextBox 215"/>
          <p:cNvSpPr txBox="1"/>
          <p:nvPr/>
        </p:nvSpPr>
        <p:spPr>
          <a:xfrm>
            <a:off x="3258947" y="5612612"/>
            <a:ext cx="438655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산소</a:t>
            </a:r>
          </a:p>
        </p:txBody>
      </p:sp>
      <p:sp>
        <p:nvSpPr>
          <p:cNvPr id="216" name="TextBox 216"/>
          <p:cNvSpPr txBox="1"/>
          <p:nvPr/>
        </p:nvSpPr>
        <p:spPr>
          <a:xfrm>
            <a:off x="3688715" y="5612612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3751199" y="5612612"/>
            <a:ext cx="657836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중에서</a:t>
            </a:r>
          </a:p>
        </p:txBody>
      </p:sp>
      <p:sp>
        <p:nvSpPr>
          <p:cNvPr id="218" name="TextBox 218"/>
          <p:cNvSpPr txBox="1"/>
          <p:nvPr/>
        </p:nvSpPr>
        <p:spPr>
          <a:xfrm>
            <a:off x="4395851" y="5612612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9" name="TextBox 219"/>
          <p:cNvSpPr txBox="1"/>
          <p:nvPr/>
        </p:nvSpPr>
        <p:spPr>
          <a:xfrm>
            <a:off x="4458335" y="5612612"/>
            <a:ext cx="438967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어떤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4888357" y="5612612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4950841" y="5612612"/>
            <a:ext cx="657836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일정한</a:t>
            </a:r>
          </a:p>
        </p:txBody>
      </p:sp>
      <p:sp>
        <p:nvSpPr>
          <p:cNvPr id="222" name="TextBox 222"/>
          <p:cNvSpPr txBox="1"/>
          <p:nvPr/>
        </p:nvSpPr>
        <p:spPr>
          <a:xfrm>
            <a:off x="5595493" y="5612612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3" name="TextBox 223"/>
          <p:cNvSpPr txBox="1"/>
          <p:nvPr/>
        </p:nvSpPr>
        <p:spPr>
          <a:xfrm>
            <a:off x="5656453" y="5612612"/>
            <a:ext cx="657836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범위의</a:t>
            </a:r>
          </a:p>
        </p:txBody>
      </p:sp>
      <p:sp>
        <p:nvSpPr>
          <p:cNvPr id="224" name="TextBox 224"/>
          <p:cNvSpPr txBox="1"/>
          <p:nvPr/>
        </p:nvSpPr>
        <p:spPr>
          <a:xfrm>
            <a:off x="6301105" y="5612612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5" name="TextBox 225"/>
          <p:cNvSpPr txBox="1"/>
          <p:nvPr/>
        </p:nvSpPr>
        <p:spPr>
          <a:xfrm>
            <a:off x="6363589" y="5612612"/>
            <a:ext cx="658459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농도에</a:t>
            </a:r>
          </a:p>
        </p:txBody>
      </p:sp>
      <p:sp>
        <p:nvSpPr>
          <p:cNvPr id="226" name="TextBox 226"/>
          <p:cNvSpPr txBox="1"/>
          <p:nvPr/>
        </p:nvSpPr>
        <p:spPr>
          <a:xfrm>
            <a:off x="7008622" y="5612612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7069582" y="5612612"/>
            <a:ext cx="438655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있을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7499350" y="5612612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7561834" y="5612612"/>
            <a:ext cx="219474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때</a:t>
            </a:r>
          </a:p>
        </p:txBody>
      </p:sp>
      <p:sp>
        <p:nvSpPr>
          <p:cNvPr id="230" name="TextBox 230"/>
          <p:cNvSpPr txBox="1"/>
          <p:nvPr/>
        </p:nvSpPr>
        <p:spPr>
          <a:xfrm>
            <a:off x="7776718" y="5612612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1996694" y="5889041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점화원에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2856611" y="5889041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33" name="TextBox 233"/>
          <p:cNvSpPr txBox="1"/>
          <p:nvPr/>
        </p:nvSpPr>
        <p:spPr>
          <a:xfrm>
            <a:off x="2917571" y="5889041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의해</a:t>
            </a:r>
          </a:p>
        </p:txBody>
      </p:sp>
      <p:sp>
        <p:nvSpPr>
          <p:cNvPr id="234" name="TextBox 234"/>
          <p:cNvSpPr txBox="1"/>
          <p:nvPr/>
        </p:nvSpPr>
        <p:spPr>
          <a:xfrm>
            <a:off x="3347339" y="5889041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35" name="TextBox 235"/>
          <p:cNvSpPr txBox="1"/>
          <p:nvPr/>
        </p:nvSpPr>
        <p:spPr>
          <a:xfrm>
            <a:off x="3409823" y="5889041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발화</a:t>
            </a:r>
          </a:p>
        </p:txBody>
      </p:sp>
      <p:sp>
        <p:nvSpPr>
          <p:cNvPr id="236" name="TextBox 236"/>
          <p:cNvSpPr txBox="1"/>
          <p:nvPr/>
        </p:nvSpPr>
        <p:spPr>
          <a:xfrm>
            <a:off x="3839591" y="5870753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237" name="TextBox 237"/>
          <p:cNvSpPr txBox="1"/>
          <p:nvPr/>
        </p:nvSpPr>
        <p:spPr>
          <a:xfrm>
            <a:off x="3911219" y="5889041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폭발을</a:t>
            </a:r>
          </a:p>
        </p:txBody>
      </p:sp>
      <p:sp>
        <p:nvSpPr>
          <p:cNvPr id="238" name="TextBox 238"/>
          <p:cNvSpPr txBox="1"/>
          <p:nvPr/>
        </p:nvSpPr>
        <p:spPr>
          <a:xfrm>
            <a:off x="4555871" y="5889041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4616831" y="5889041"/>
            <a:ext cx="877659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일으키는</a:t>
            </a:r>
          </a:p>
        </p:txBody>
      </p:sp>
      <p:sp>
        <p:nvSpPr>
          <p:cNvPr id="240" name="TextBox 240"/>
          <p:cNvSpPr txBox="1"/>
          <p:nvPr/>
        </p:nvSpPr>
        <p:spPr>
          <a:xfrm>
            <a:off x="5476621" y="5889041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1" name="TextBox 241"/>
          <p:cNvSpPr txBox="1"/>
          <p:nvPr/>
        </p:nvSpPr>
        <p:spPr>
          <a:xfrm>
            <a:off x="5537581" y="5889041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242" name="TextBox 242"/>
          <p:cNvSpPr txBox="1"/>
          <p:nvPr/>
        </p:nvSpPr>
        <p:spPr>
          <a:xfrm>
            <a:off x="1996694" y="61618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43" name="TextBox 243"/>
          <p:cNvSpPr txBox="1"/>
          <p:nvPr/>
        </p:nvSpPr>
        <p:spPr>
          <a:xfrm>
            <a:off x="2078990" y="6161837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수소</a:t>
            </a:r>
          </a:p>
        </p:txBody>
      </p:sp>
      <p:sp>
        <p:nvSpPr>
          <p:cNvPr id="244" name="TextBox 244"/>
          <p:cNvSpPr txBox="1"/>
          <p:nvPr/>
        </p:nvSpPr>
        <p:spPr>
          <a:xfrm>
            <a:off x="2508758" y="61618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245" name="TextBox 245"/>
          <p:cNvSpPr txBox="1"/>
          <p:nvPr/>
        </p:nvSpPr>
        <p:spPr>
          <a:xfrm>
            <a:off x="2641346" y="6161837"/>
            <a:ext cx="8776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아세틸렌</a:t>
            </a:r>
          </a:p>
        </p:txBody>
      </p:sp>
      <p:sp>
        <p:nvSpPr>
          <p:cNvPr id="246" name="TextBox 246"/>
          <p:cNvSpPr txBox="1"/>
          <p:nvPr/>
        </p:nvSpPr>
        <p:spPr>
          <a:xfrm>
            <a:off x="3501263" y="61618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247" name="TextBox 247"/>
          <p:cNvSpPr txBox="1"/>
          <p:nvPr/>
        </p:nvSpPr>
        <p:spPr>
          <a:xfrm>
            <a:off x="3632327" y="6161837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메탄</a:t>
            </a:r>
          </a:p>
        </p:txBody>
      </p:sp>
      <p:sp>
        <p:nvSpPr>
          <p:cNvPr id="248" name="TextBox 248"/>
          <p:cNvSpPr txBox="1"/>
          <p:nvPr/>
        </p:nvSpPr>
        <p:spPr>
          <a:xfrm>
            <a:off x="4062095" y="61618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9" name="TextBox 249"/>
          <p:cNvSpPr txBox="1"/>
          <p:nvPr/>
        </p:nvSpPr>
        <p:spPr>
          <a:xfrm>
            <a:off x="4124579" y="6161837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250" name="TextBox 250"/>
          <p:cNvSpPr txBox="1"/>
          <p:nvPr/>
        </p:nvSpPr>
        <p:spPr>
          <a:xfrm>
            <a:off x="4339463" y="61618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51" name="TextBox 251"/>
          <p:cNvSpPr txBox="1"/>
          <p:nvPr/>
        </p:nvSpPr>
        <p:spPr>
          <a:xfrm>
            <a:off x="4401947" y="6161837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가스</a:t>
            </a:r>
          </a:p>
        </p:txBody>
      </p:sp>
      <p:sp>
        <p:nvSpPr>
          <p:cNvPr id="252" name="TextBox 252"/>
          <p:cNvSpPr txBox="1"/>
          <p:nvPr/>
        </p:nvSpPr>
        <p:spPr>
          <a:xfrm>
            <a:off x="4831969" y="61618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253" name="TextBox 253"/>
          <p:cNvSpPr txBox="1"/>
          <p:nvPr/>
        </p:nvSpPr>
        <p:spPr>
          <a:xfrm>
            <a:off x="4917313" y="6161837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알루미늄</a:t>
            </a:r>
          </a:p>
        </p:txBody>
      </p:sp>
      <p:sp>
        <p:nvSpPr>
          <p:cNvPr id="254" name="TextBox 254"/>
          <p:cNvSpPr txBox="1"/>
          <p:nvPr/>
        </p:nvSpPr>
        <p:spPr>
          <a:xfrm>
            <a:off x="5776849" y="61618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255" name="TextBox 255"/>
          <p:cNvSpPr txBox="1"/>
          <p:nvPr/>
        </p:nvSpPr>
        <p:spPr>
          <a:xfrm>
            <a:off x="5907913" y="6161837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유황</a:t>
            </a:r>
          </a:p>
        </p:txBody>
      </p:sp>
      <p:sp>
        <p:nvSpPr>
          <p:cNvPr id="256" name="TextBox 256"/>
          <p:cNvSpPr txBox="1"/>
          <p:nvPr/>
        </p:nvSpPr>
        <p:spPr>
          <a:xfrm>
            <a:off x="6337681" y="61618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257" name="TextBox 257"/>
          <p:cNvSpPr txBox="1"/>
          <p:nvPr/>
        </p:nvSpPr>
        <p:spPr>
          <a:xfrm>
            <a:off x="6468745" y="6161837"/>
            <a:ext cx="43867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석탄</a:t>
            </a:r>
          </a:p>
        </p:txBody>
      </p:sp>
      <p:sp>
        <p:nvSpPr>
          <p:cNvPr id="258" name="TextBox 258"/>
          <p:cNvSpPr txBox="1"/>
          <p:nvPr/>
        </p:nvSpPr>
        <p:spPr>
          <a:xfrm>
            <a:off x="6898894" y="61618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259" name="TextBox 259"/>
          <p:cNvSpPr txBox="1"/>
          <p:nvPr/>
        </p:nvSpPr>
        <p:spPr>
          <a:xfrm>
            <a:off x="7031482" y="6161837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소맥분</a:t>
            </a:r>
          </a:p>
        </p:txBody>
      </p:sp>
      <p:sp>
        <p:nvSpPr>
          <p:cNvPr id="260" name="TextBox 260"/>
          <p:cNvSpPr txBox="1"/>
          <p:nvPr/>
        </p:nvSpPr>
        <p:spPr>
          <a:xfrm>
            <a:off x="7676134" y="61618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1" name="TextBox 261"/>
          <p:cNvSpPr txBox="1"/>
          <p:nvPr/>
        </p:nvSpPr>
        <p:spPr>
          <a:xfrm>
            <a:off x="7738618" y="6161837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262" name="TextBox 262"/>
          <p:cNvSpPr txBox="1"/>
          <p:nvPr/>
        </p:nvSpPr>
        <p:spPr>
          <a:xfrm>
            <a:off x="7953502" y="61618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3" name="TextBox 263"/>
          <p:cNvSpPr txBox="1"/>
          <p:nvPr/>
        </p:nvSpPr>
        <p:spPr>
          <a:xfrm>
            <a:off x="8015986" y="6161837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분진</a:t>
            </a:r>
          </a:p>
        </p:txBody>
      </p:sp>
      <p:sp>
        <p:nvSpPr>
          <p:cNvPr id="264" name="TextBox 264"/>
          <p:cNvSpPr txBox="1"/>
          <p:nvPr/>
        </p:nvSpPr>
        <p:spPr>
          <a:xfrm>
            <a:off x="8446008" y="61618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265" name="TextBox 265"/>
          <p:cNvSpPr txBox="1"/>
          <p:nvPr/>
        </p:nvSpPr>
        <p:spPr>
          <a:xfrm>
            <a:off x="601370" y="1214688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2) </a:t>
            </a:r>
          </a:p>
        </p:txBody>
      </p:sp>
      <p:sp>
        <p:nvSpPr>
          <p:cNvPr id="266" name="TextBox 266"/>
          <p:cNvSpPr txBox="1"/>
          <p:nvPr/>
        </p:nvSpPr>
        <p:spPr>
          <a:xfrm>
            <a:off x="950366" y="1214688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화학적</a:t>
            </a:r>
          </a:p>
        </p:txBody>
      </p:sp>
      <p:sp>
        <p:nvSpPr>
          <p:cNvPr id="267" name="TextBox 267"/>
          <p:cNvSpPr txBox="1"/>
          <p:nvPr/>
        </p:nvSpPr>
        <p:spPr>
          <a:xfrm>
            <a:off x="1737106" y="1214688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8" name="TextBox 268"/>
          <p:cNvSpPr txBox="1"/>
          <p:nvPr/>
        </p:nvSpPr>
        <p:spPr>
          <a:xfrm>
            <a:off x="1814830" y="1214688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269" name="TextBox 269"/>
          <p:cNvSpPr txBox="1"/>
          <p:nvPr/>
        </p:nvSpPr>
        <p:spPr>
          <a:xfrm>
            <a:off x="2339086" y="1214688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70" name="TextBox 270"/>
          <p:cNvSpPr txBox="1"/>
          <p:nvPr/>
        </p:nvSpPr>
        <p:spPr>
          <a:xfrm>
            <a:off x="2439670" y="1214688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70C0"/>
                </a:solidFill>
                <a:latin typeface="나눔고딕"/>
                <a:cs typeface="나눔고딕"/>
              </a:rPr>
              <a:t>폭발</a:t>
            </a:r>
          </a:p>
        </p:txBody>
      </p:sp>
      <p:sp>
        <p:nvSpPr>
          <p:cNvPr id="271" name="TextBox 271"/>
          <p:cNvSpPr txBox="1"/>
          <p:nvPr/>
        </p:nvSpPr>
        <p:spPr>
          <a:xfrm>
            <a:off x="2963926" y="1192352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70C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272" name="TextBox 272"/>
          <p:cNvSpPr txBox="1"/>
          <p:nvPr/>
        </p:nvSpPr>
        <p:spPr>
          <a:xfrm>
            <a:off x="3052318" y="1214688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70C0"/>
                </a:solidFill>
                <a:latin typeface="나눔고딕"/>
                <a:cs typeface="나눔고딕"/>
              </a:rPr>
              <a:t>화재</a:t>
            </a:r>
          </a:p>
        </p:txBody>
      </p:sp>
      <p:sp>
        <p:nvSpPr>
          <p:cNvPr id="273" name="TextBox 273"/>
          <p:cNvSpPr txBox="1"/>
          <p:nvPr/>
        </p:nvSpPr>
        <p:spPr>
          <a:xfrm>
            <a:off x="3576828" y="1214688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4" name="TextBox 274"/>
          <p:cNvSpPr txBox="1"/>
          <p:nvPr/>
        </p:nvSpPr>
        <p:spPr>
          <a:xfrm>
            <a:off x="3653028" y="1214688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70C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275" name="TextBox 275"/>
          <p:cNvSpPr txBox="1"/>
          <p:nvPr/>
        </p:nvSpPr>
        <p:spPr>
          <a:xfrm>
            <a:off x="4177284" y="1214688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6" name="TextBox 276"/>
          <p:cNvSpPr txBox="1"/>
          <p:nvPr/>
        </p:nvSpPr>
        <p:spPr>
          <a:xfrm>
            <a:off x="4255008" y="1214688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277" name="TextBox 277"/>
          <p:cNvSpPr txBox="1"/>
          <p:nvPr/>
        </p:nvSpPr>
        <p:spPr>
          <a:xfrm>
            <a:off x="4779264" y="1214688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278" name="TextBox 278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안전의</a:t>
            </a:r>
          </a:p>
        </p:txBody>
      </p:sp>
      <p:sp>
        <p:nvSpPr>
          <p:cNvPr id="279" name="TextBox 279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0" name="TextBox 280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기초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270847" y="5814707"/>
            <a:ext cx="53495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https://www.youtube.com/watch?v=7p-xObcSRNM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854574" y="3298161"/>
            <a:ext cx="48617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https://www.youtube.com/watch?v=ZTfGLs3zy60</a:t>
            </a:r>
          </a:p>
        </p:txBody>
      </p:sp>
      <p:sp>
        <p:nvSpPr>
          <p:cNvPr id="281" name="직사각형 280"/>
          <p:cNvSpPr/>
          <p:nvPr/>
        </p:nvSpPr>
        <p:spPr>
          <a:xfrm>
            <a:off x="6252755" y="5201912"/>
            <a:ext cx="48320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https://www.youtube.com/shorts/JmP6hwu3l2I</a:t>
            </a:r>
          </a:p>
        </p:txBody>
      </p:sp>
      <p:sp>
        <p:nvSpPr>
          <p:cNvPr id="282" name="직사각형 281"/>
          <p:cNvSpPr/>
          <p:nvPr/>
        </p:nvSpPr>
        <p:spPr>
          <a:xfrm>
            <a:off x="7330501" y="2691804"/>
            <a:ext cx="6248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hlinkClick r:id="rId3"/>
              </a:rPr>
              <a:t>https://</a:t>
            </a:r>
            <a:r>
              <a:rPr lang="ko-KR" altLang="en-US" dirty="0" smtClean="0">
                <a:hlinkClick r:id="rId3"/>
              </a:rPr>
              <a:t>www.youtube.com/shorts/fir1YtfLSqQ</a:t>
            </a:r>
            <a:r>
              <a:rPr lang="en-US" altLang="ko-KR" dirty="0" smtClean="0"/>
              <a:t>(</a:t>
            </a:r>
            <a:r>
              <a:rPr lang="ko-KR" altLang="en-US" dirty="0" smtClean="0"/>
              <a:t>니트로글리세린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8175309" y="2093714"/>
            <a:ext cx="5962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4"/>
              </a:rPr>
              <a:t>https://</a:t>
            </a:r>
            <a:r>
              <a:rPr lang="ko-KR" altLang="en-US" dirty="0" smtClean="0">
                <a:hlinkClick r:id="rId4"/>
              </a:rPr>
              <a:t>www.youtube.com/shorts/OkFncMsjyXg</a:t>
            </a:r>
            <a:r>
              <a:rPr lang="en-US" altLang="ko-KR" dirty="0" smtClean="0"/>
              <a:t>(</a:t>
            </a:r>
            <a:r>
              <a:rPr lang="ko-KR" altLang="en-US" dirty="0" smtClean="0"/>
              <a:t>나트륨 실험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위험의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17" name="Shape 17"/>
          <p:cNvSpPr/>
          <p:nvPr/>
        </p:nvSpPr>
        <p:spPr>
          <a:xfrm>
            <a:off x="637692" y="1716278"/>
            <a:ext cx="1267308" cy="396240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1905000" y="1716278"/>
            <a:ext cx="6867525" cy="396240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19" name="Shape 19"/>
          <p:cNvSpPr/>
          <p:nvPr/>
        </p:nvSpPr>
        <p:spPr>
          <a:xfrm>
            <a:off x="637692" y="2112607"/>
            <a:ext cx="1267308" cy="1210602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20" name="Shape 20"/>
          <p:cNvSpPr/>
          <p:nvPr/>
        </p:nvSpPr>
        <p:spPr>
          <a:xfrm>
            <a:off x="1905000" y="2112607"/>
            <a:ext cx="6867525" cy="1210602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1" name="Shape 21"/>
          <p:cNvSpPr/>
          <p:nvPr/>
        </p:nvSpPr>
        <p:spPr>
          <a:xfrm>
            <a:off x="637692" y="3323209"/>
            <a:ext cx="1267308" cy="701040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1905000" y="3323209"/>
            <a:ext cx="6867525" cy="701040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23" name="Shape 23"/>
          <p:cNvSpPr/>
          <p:nvPr/>
        </p:nvSpPr>
        <p:spPr>
          <a:xfrm>
            <a:off x="1905000" y="1709928"/>
            <a:ext cx="1" cy="2320671"/>
          </a:xfrm>
          <a:custGeom>
            <a:avLst/>
            <a:gdLst/>
            <a:ahLst/>
            <a:cxnLst/>
            <a:rect l="0" t="0" r="1" b="2320671"/>
            <a:pathLst>
              <a:path w="1" h="2320671" fill="none">
                <a:moveTo>
                  <a:pt x="0" y="0"/>
                </a:moveTo>
                <a:lnTo>
                  <a:pt x="0" y="2320671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Shape 24"/>
          <p:cNvSpPr/>
          <p:nvPr/>
        </p:nvSpPr>
        <p:spPr>
          <a:xfrm>
            <a:off x="631342" y="2112518"/>
            <a:ext cx="8147533" cy="1"/>
          </a:xfrm>
          <a:custGeom>
            <a:avLst/>
            <a:gdLst/>
            <a:ahLst/>
            <a:cxnLst/>
            <a:rect l="0" t="0" r="8147533" b="1"/>
            <a:pathLst>
              <a:path w="8147533" h="1" fill="none">
                <a:moveTo>
                  <a:pt x="0" y="0"/>
                </a:moveTo>
                <a:lnTo>
                  <a:pt x="8147533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Shape 25"/>
          <p:cNvSpPr/>
          <p:nvPr/>
        </p:nvSpPr>
        <p:spPr>
          <a:xfrm>
            <a:off x="631342" y="3323209"/>
            <a:ext cx="8147533" cy="1"/>
          </a:xfrm>
          <a:custGeom>
            <a:avLst/>
            <a:gdLst/>
            <a:ahLst/>
            <a:cxnLst/>
            <a:rect l="0" t="0" r="8147533" b="1"/>
            <a:pathLst>
              <a:path w="8147533" h="1" fill="none">
                <a:moveTo>
                  <a:pt x="0" y="0"/>
                </a:moveTo>
                <a:lnTo>
                  <a:pt x="8147533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637692" y="1709928"/>
            <a:ext cx="1" cy="2320671"/>
          </a:xfrm>
          <a:custGeom>
            <a:avLst/>
            <a:gdLst/>
            <a:ahLst/>
            <a:cxnLst/>
            <a:rect l="0" t="0" r="1" b="2320671"/>
            <a:pathLst>
              <a:path w="1" h="2320671" fill="none">
                <a:moveTo>
                  <a:pt x="0" y="0"/>
                </a:moveTo>
                <a:lnTo>
                  <a:pt x="0" y="2320671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8772525" y="1709928"/>
            <a:ext cx="1" cy="2320671"/>
          </a:xfrm>
          <a:custGeom>
            <a:avLst/>
            <a:gdLst/>
            <a:ahLst/>
            <a:cxnLst/>
            <a:rect l="0" t="0" r="1" b="2320671"/>
            <a:pathLst>
              <a:path w="1" h="2320671" fill="none">
                <a:moveTo>
                  <a:pt x="0" y="0"/>
                </a:moveTo>
                <a:lnTo>
                  <a:pt x="0" y="2320671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631342" y="1716278"/>
            <a:ext cx="8147533" cy="1"/>
          </a:xfrm>
          <a:custGeom>
            <a:avLst/>
            <a:gdLst/>
            <a:ahLst/>
            <a:cxnLst/>
            <a:rect l="0" t="0" r="8147533" b="1"/>
            <a:pathLst>
              <a:path w="8147533" h="1" fill="none">
                <a:moveTo>
                  <a:pt x="0" y="0"/>
                </a:moveTo>
                <a:lnTo>
                  <a:pt x="8147533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631342" y="4024249"/>
            <a:ext cx="8147533" cy="1"/>
          </a:xfrm>
          <a:custGeom>
            <a:avLst/>
            <a:gdLst/>
            <a:ahLst/>
            <a:cxnLst/>
            <a:rect l="0" t="0" r="8147533" b="1"/>
            <a:pathLst>
              <a:path w="8147533" h="1" fill="none">
                <a:moveTo>
                  <a:pt x="0" y="0"/>
                </a:moveTo>
                <a:lnTo>
                  <a:pt x="8147533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1031138" y="177232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99304" y="177232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설명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2266" y="242345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부식성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31138" y="27282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96694" y="227105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금속이나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54147" y="22710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021203" y="227105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플라스틱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78275" y="22710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045331" y="22710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등을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23867" y="22710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92447" y="2271055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쉽게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071237" y="22710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141341" y="2271055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부식시키고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36157" y="22710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79413" y="2271055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인체에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197598" y="22710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264654" y="2271055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접촉하면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21726" y="22710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996694" y="25758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화상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475230" y="2575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543810" y="2575855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등의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022727" y="2575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092831" y="25758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심한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571367" y="2575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639947" y="257585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상해를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357751" y="2575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426331" y="2575855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입히는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144389" y="2575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211445" y="257585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산화성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929249" y="2575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997829" y="25758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476365" y="2575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45326" y="25758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023862" y="2575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093966" y="2575855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강산성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811770" y="2575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878826" y="25758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996694" y="28806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089658" y="288065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강염산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807843" y="28806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951099" y="2880655"/>
            <a:ext cx="14628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가성소다용액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385183" y="28806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526915" y="2880655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크레졸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244973" y="28806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313553" y="288065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552821" y="28806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12266" y="337951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극독성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31138" y="36843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996694" y="35319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089658" y="3531911"/>
            <a:ext cx="121855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시안화수소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3284855" y="35319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428111" y="353191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비화수소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385183" y="35319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526915" y="3531911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암모니아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484241" y="35319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5551297" y="353191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790565" y="35319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01370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2)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50366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화학적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737106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814830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339086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439670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70C0"/>
                </a:solidFill>
                <a:latin typeface="나눔고딕"/>
                <a:cs typeface="나눔고딕"/>
              </a:rPr>
              <a:t>생리적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322605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303778" y="1213164"/>
            <a:ext cx="535375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70C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3828288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906012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물질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4430268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안전의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기초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749694" y="2884232"/>
            <a:ext cx="50364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https://www.youtube.com/shorts/OvRVnA2Bvhg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891048" y="3523885"/>
            <a:ext cx="65345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https://www.youtube.com/watch?v=-p3S0Fbc65w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746149" y="4251586"/>
            <a:ext cx="79179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수소 </a:t>
            </a:r>
            <a:r>
              <a:rPr lang="ko-KR" altLang="en-US" dirty="0"/>
              <a:t>대신 질량수가 </a:t>
            </a:r>
            <a:r>
              <a:rPr lang="en-US" altLang="ko-KR" dirty="0"/>
              <a:t>2</a:t>
            </a:r>
            <a:r>
              <a:rPr lang="ko-KR" altLang="en-US" dirty="0"/>
              <a:t>배인 중수소</a:t>
            </a:r>
            <a:r>
              <a:rPr lang="en-US" altLang="ko-KR" dirty="0"/>
              <a:t>(D)</a:t>
            </a:r>
            <a:r>
              <a:rPr lang="ko-KR" altLang="en-US" dirty="0"/>
              <a:t>가 들어가면서 물리적 특성과 정밀 첨단 산업에서의 쓰임새가 크게 달라집니다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위험의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2571" y="1670611"/>
            <a:ext cx="439607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spc="137" dirty="0">
                <a:solidFill>
                  <a:srgbClr val="000000"/>
                </a:solidFill>
                <a:latin typeface="나눔고딕 2"/>
                <a:cs typeface="나눔고딕 2"/>
              </a:rPr>
              <a:t>(1)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2339" y="1670611"/>
            <a:ext cx="76869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전기적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86973" y="1670611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60125" y="1670611"/>
            <a:ext cx="512201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6833" y="211998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3266" y="211464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감전위험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9988" y="2477316"/>
            <a:ext cx="5609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spc="241" dirty="0">
                <a:solidFill>
                  <a:srgbClr val="000000"/>
                </a:solidFill>
                <a:latin typeface="맑은 고딕"/>
                <a:cs typeface="맑은 고딕"/>
              </a:rPr>
              <a:t>    -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08008" y="2506623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수전반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26066" y="250662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22078" y="2506623"/>
            <a:ext cx="1702404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전기기계기구의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89715" y="250662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056771" y="250662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단자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35307" y="250662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05411" y="2506623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44679" y="250662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14783" y="2506623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노출된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32587" y="250662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99897" y="2506623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충전부분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66833" y="2800698"/>
            <a:ext cx="31344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2" dirty="0">
                <a:solidFill>
                  <a:srgbClr val="000000"/>
                </a:solidFill>
                <a:latin typeface="나눔고딕 2"/>
                <a:cs typeface="나눔고딕 2"/>
              </a:rPr>
              <a:t>   -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52690" y="2795631"/>
            <a:ext cx="14628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전기기계기구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85504" y="27956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81516" y="2795631"/>
            <a:ext cx="4865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배선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57004" y="27956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624060" y="279563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절연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102977" y="27956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173081" y="279563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손상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651617" y="27956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20197" y="279563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부분에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438001" y="27956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506581" y="279563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접촉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985371" y="27956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053951" y="279563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67410" y="33391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83843" y="33337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발열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762379" y="331343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843151" y="3333791"/>
            <a:ext cx="73128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발화에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558161" y="33337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625217" y="33337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의한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103753" y="33337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173857" y="33337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67410" y="3768131"/>
            <a:ext cx="31344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2" dirty="0">
                <a:solidFill>
                  <a:srgbClr val="000000"/>
                </a:solidFill>
                <a:latin typeface="나눔고딕 2"/>
                <a:cs typeface="나눔고딕 2"/>
              </a:rPr>
              <a:t>   -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45387" y="3768131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아크용접의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640457" y="37681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707513" y="376813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아크에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425317" y="37681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493897" y="376813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의한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972814" y="37681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41394" y="3768131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눈장해위험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236210" y="37681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67410" y="4151036"/>
            <a:ext cx="3867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2" dirty="0">
                <a:solidFill>
                  <a:srgbClr val="000000"/>
                </a:solidFill>
                <a:latin typeface="나눔고딕 2"/>
                <a:cs typeface="나눔고딕 2"/>
              </a:rPr>
              <a:t>   -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445387" y="4151036"/>
            <a:ext cx="14628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전기기계기구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878201" y="41510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945257" y="41510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가열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423793" y="41510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519805" y="4151036"/>
            <a:ext cx="121699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전기스파크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713478" y="41510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807966" y="4151036"/>
            <a:ext cx="730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정전기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522722" y="41510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589778" y="4151036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방전에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307836" y="41510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374892" y="41510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의한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853428" y="41510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923532" y="41510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화재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7402068" y="41306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482840" y="415103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폭발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960106" y="41510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8027162" y="41510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01370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3)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50366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전기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474978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636522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열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898650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976374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238502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316226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에너지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102610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3180334" y="1213164"/>
            <a:ext cx="535375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804672" y="4714367"/>
            <a:ext cx="439607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spc="137" dirty="0">
                <a:solidFill>
                  <a:srgbClr val="000000"/>
                </a:solidFill>
                <a:latin typeface="나눔고딕 2"/>
                <a:cs typeface="나눔고딕 2"/>
              </a:rPr>
              <a:t>(2)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234440" y="4714367"/>
            <a:ext cx="255712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열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485900" y="4714367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641348" y="4714367"/>
            <a:ext cx="512201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기타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144268" y="4714367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2217420" y="4714367"/>
            <a:ext cx="512512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068934" y="507469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285367" y="506934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378331" y="5069346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화상위험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2333879" y="5069346"/>
            <a:ext cx="16759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2493899" y="5069346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용융고열물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3688969" y="506934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3832225" y="5069346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보일러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550029" y="506934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4617085" y="5069346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증기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5096002" y="506934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5242306" y="5069346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화학설비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199378" y="506934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342634" y="5069346"/>
            <a:ext cx="97740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건조설비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299960" y="506934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7443216" y="506934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기타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7921752" y="506934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285367" y="537478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고온물체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2242439" y="53747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2309495" y="53747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등에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2788285" y="53747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2856865" y="53747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접촉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3335401" y="53747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3405505" y="537478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68934" y="57611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285367" y="57557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방사선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003171" y="57557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2071751" y="57557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피폭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2550287" y="57557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2618867" y="5755783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068934" y="61421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285367" y="6136783"/>
            <a:ext cx="152644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레이저광선에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2794381" y="61367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2875153" y="6136783"/>
            <a:ext cx="126995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눈장해위험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4132453" y="61367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4213225" y="613678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안전의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기초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1283266" y="3009243"/>
            <a:ext cx="50489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https://www.youtube.com/watch?v=7579m5EAY4g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6337382" y="2790181"/>
            <a:ext cx="4784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https://www.youtube.com/shorts/MVIq6-iDEbw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1438254" y="4392299"/>
            <a:ext cx="54247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https://www.youtube.com/watch?v=XnWzeP_-yTU</a:t>
            </a:r>
          </a:p>
        </p:txBody>
      </p:sp>
      <p:sp>
        <p:nvSpPr>
          <p:cNvPr id="142" name="직사각형 141"/>
          <p:cNvSpPr/>
          <p:nvPr/>
        </p:nvSpPr>
        <p:spPr>
          <a:xfrm>
            <a:off x="3884547" y="5337488"/>
            <a:ext cx="5184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https://www.youtube.com/shorts/6Jd_C2N_mPM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위험의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17" name="Shape 17"/>
          <p:cNvSpPr/>
          <p:nvPr/>
        </p:nvSpPr>
        <p:spPr>
          <a:xfrm>
            <a:off x="934428" y="2337574"/>
            <a:ext cx="1512824" cy="463791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2447290" y="2337574"/>
            <a:ext cx="1384173" cy="463791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19" name="Shape 19"/>
          <p:cNvSpPr/>
          <p:nvPr/>
        </p:nvSpPr>
        <p:spPr>
          <a:xfrm>
            <a:off x="3831463" y="2337574"/>
            <a:ext cx="4592447" cy="463791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20" name="Shape 20"/>
          <p:cNvSpPr/>
          <p:nvPr/>
        </p:nvSpPr>
        <p:spPr>
          <a:xfrm>
            <a:off x="934428" y="2801493"/>
            <a:ext cx="1512824" cy="1855089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21" name="Shape 21"/>
          <p:cNvSpPr/>
          <p:nvPr/>
        </p:nvSpPr>
        <p:spPr>
          <a:xfrm>
            <a:off x="2447290" y="2801391"/>
            <a:ext cx="1384173" cy="463779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3831463" y="2801404"/>
            <a:ext cx="4592447" cy="927570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3" name="Shape 23"/>
          <p:cNvSpPr/>
          <p:nvPr/>
        </p:nvSpPr>
        <p:spPr>
          <a:xfrm>
            <a:off x="2447290" y="3265195"/>
            <a:ext cx="1384173" cy="463779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24" name="Shape 24"/>
          <p:cNvSpPr/>
          <p:nvPr/>
        </p:nvSpPr>
        <p:spPr>
          <a:xfrm>
            <a:off x="2447290" y="3728987"/>
            <a:ext cx="1384173" cy="463791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5" name="Shape 25"/>
          <p:cNvSpPr/>
          <p:nvPr/>
        </p:nvSpPr>
        <p:spPr>
          <a:xfrm>
            <a:off x="3831463" y="3728987"/>
            <a:ext cx="4592447" cy="463791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2447290" y="4192803"/>
            <a:ext cx="1384173" cy="463779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3831463" y="4192803"/>
            <a:ext cx="4592447" cy="463779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934428" y="4656556"/>
            <a:ext cx="1512824" cy="1728089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2447290" y="4656557"/>
            <a:ext cx="1384173" cy="800506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3831463" y="4656557"/>
            <a:ext cx="4592447" cy="800506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2447290" y="5457076"/>
            <a:ext cx="1384173" cy="463779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3831463" y="5457076"/>
            <a:ext cx="4592447" cy="463779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33" name="Shape 33"/>
          <p:cNvSpPr/>
          <p:nvPr/>
        </p:nvSpPr>
        <p:spPr>
          <a:xfrm>
            <a:off x="2447290" y="5920867"/>
            <a:ext cx="1384173" cy="463779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34" name="Shape 34"/>
          <p:cNvSpPr/>
          <p:nvPr/>
        </p:nvSpPr>
        <p:spPr>
          <a:xfrm>
            <a:off x="3831463" y="5920867"/>
            <a:ext cx="4592447" cy="463779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35" name="Shape 35"/>
          <p:cNvSpPr/>
          <p:nvPr/>
        </p:nvSpPr>
        <p:spPr>
          <a:xfrm>
            <a:off x="2447290" y="2331339"/>
            <a:ext cx="1" cy="4059657"/>
          </a:xfrm>
          <a:custGeom>
            <a:avLst/>
            <a:gdLst/>
            <a:ahLst/>
            <a:cxnLst/>
            <a:rect l="0" t="0" r="1" b="4059657"/>
            <a:pathLst>
              <a:path w="1" h="4059657" fill="none">
                <a:moveTo>
                  <a:pt x="0" y="0"/>
                </a:moveTo>
                <a:lnTo>
                  <a:pt x="0" y="4059657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Shape 36"/>
          <p:cNvSpPr/>
          <p:nvPr/>
        </p:nvSpPr>
        <p:spPr>
          <a:xfrm>
            <a:off x="3831463" y="2331339"/>
            <a:ext cx="1" cy="4059657"/>
          </a:xfrm>
          <a:custGeom>
            <a:avLst/>
            <a:gdLst/>
            <a:ahLst/>
            <a:cxnLst/>
            <a:rect l="0" t="0" r="1" b="4059657"/>
            <a:pathLst>
              <a:path w="1" h="4059657" fill="none">
                <a:moveTo>
                  <a:pt x="0" y="0"/>
                </a:moveTo>
                <a:lnTo>
                  <a:pt x="0" y="4059657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Shape 37"/>
          <p:cNvSpPr/>
          <p:nvPr/>
        </p:nvSpPr>
        <p:spPr>
          <a:xfrm>
            <a:off x="928078" y="2801366"/>
            <a:ext cx="7502182" cy="1"/>
          </a:xfrm>
          <a:custGeom>
            <a:avLst/>
            <a:gdLst/>
            <a:ahLst/>
            <a:cxnLst/>
            <a:rect l="0" t="0" r="7502182" b="1"/>
            <a:pathLst>
              <a:path w="7502182" h="1" fill="none">
                <a:moveTo>
                  <a:pt x="0" y="0"/>
                </a:moveTo>
                <a:lnTo>
                  <a:pt x="7502182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Shape 38"/>
          <p:cNvSpPr/>
          <p:nvPr/>
        </p:nvSpPr>
        <p:spPr>
          <a:xfrm>
            <a:off x="2440940" y="3265170"/>
            <a:ext cx="1396873" cy="1"/>
          </a:xfrm>
          <a:custGeom>
            <a:avLst/>
            <a:gdLst/>
            <a:ahLst/>
            <a:cxnLst/>
            <a:rect l="0" t="0" r="1396873" b="1"/>
            <a:pathLst>
              <a:path w="1396873" h="1" fill="none">
                <a:moveTo>
                  <a:pt x="0" y="0"/>
                </a:moveTo>
                <a:lnTo>
                  <a:pt x="1396873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Shape 39"/>
          <p:cNvSpPr/>
          <p:nvPr/>
        </p:nvSpPr>
        <p:spPr>
          <a:xfrm>
            <a:off x="2440940" y="3728974"/>
            <a:ext cx="5989320" cy="1"/>
          </a:xfrm>
          <a:custGeom>
            <a:avLst/>
            <a:gdLst/>
            <a:ahLst/>
            <a:cxnLst/>
            <a:rect l="0" t="0" r="5989320" b="1"/>
            <a:pathLst>
              <a:path w="5989320" h="1" fill="none">
                <a:moveTo>
                  <a:pt x="0" y="0"/>
                </a:moveTo>
                <a:lnTo>
                  <a:pt x="5989320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Shape 40"/>
          <p:cNvSpPr/>
          <p:nvPr/>
        </p:nvSpPr>
        <p:spPr>
          <a:xfrm>
            <a:off x="2440940" y="4192778"/>
            <a:ext cx="5989320" cy="1"/>
          </a:xfrm>
          <a:custGeom>
            <a:avLst/>
            <a:gdLst/>
            <a:ahLst/>
            <a:cxnLst/>
            <a:rect l="0" t="0" r="5989320" b="1"/>
            <a:pathLst>
              <a:path w="5989320" h="1" fill="none">
                <a:moveTo>
                  <a:pt x="0" y="0"/>
                </a:moveTo>
                <a:lnTo>
                  <a:pt x="5989320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Shape 41"/>
          <p:cNvSpPr/>
          <p:nvPr/>
        </p:nvSpPr>
        <p:spPr>
          <a:xfrm>
            <a:off x="928078" y="4656582"/>
            <a:ext cx="7502182" cy="1"/>
          </a:xfrm>
          <a:custGeom>
            <a:avLst/>
            <a:gdLst/>
            <a:ahLst/>
            <a:cxnLst/>
            <a:rect l="0" t="0" r="7502182" b="1"/>
            <a:pathLst>
              <a:path w="7502182" h="1" fill="none">
                <a:moveTo>
                  <a:pt x="0" y="0"/>
                </a:moveTo>
                <a:lnTo>
                  <a:pt x="7502182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Shape 42"/>
          <p:cNvSpPr/>
          <p:nvPr/>
        </p:nvSpPr>
        <p:spPr>
          <a:xfrm>
            <a:off x="2440940" y="5457063"/>
            <a:ext cx="5989320" cy="1"/>
          </a:xfrm>
          <a:custGeom>
            <a:avLst/>
            <a:gdLst/>
            <a:ahLst/>
            <a:cxnLst/>
            <a:rect l="0" t="0" r="5989320" b="1"/>
            <a:pathLst>
              <a:path w="5989320" h="1" fill="none">
                <a:moveTo>
                  <a:pt x="0" y="0"/>
                </a:moveTo>
                <a:lnTo>
                  <a:pt x="5989320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Shape 43"/>
          <p:cNvSpPr/>
          <p:nvPr/>
        </p:nvSpPr>
        <p:spPr>
          <a:xfrm>
            <a:off x="2440940" y="5920854"/>
            <a:ext cx="5989320" cy="1"/>
          </a:xfrm>
          <a:custGeom>
            <a:avLst/>
            <a:gdLst/>
            <a:ahLst/>
            <a:cxnLst/>
            <a:rect l="0" t="0" r="5989320" b="1"/>
            <a:pathLst>
              <a:path w="5989320" h="1" fill="none">
                <a:moveTo>
                  <a:pt x="0" y="0"/>
                </a:moveTo>
                <a:lnTo>
                  <a:pt x="5989320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Shape 44"/>
          <p:cNvSpPr/>
          <p:nvPr/>
        </p:nvSpPr>
        <p:spPr>
          <a:xfrm>
            <a:off x="934428" y="2331339"/>
            <a:ext cx="1" cy="4059657"/>
          </a:xfrm>
          <a:custGeom>
            <a:avLst/>
            <a:gdLst/>
            <a:ahLst/>
            <a:cxnLst/>
            <a:rect l="0" t="0" r="1" b="4059657"/>
            <a:pathLst>
              <a:path w="1" h="4059657" fill="none">
                <a:moveTo>
                  <a:pt x="0" y="0"/>
                </a:moveTo>
                <a:lnTo>
                  <a:pt x="0" y="4059657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Shape 45"/>
          <p:cNvSpPr/>
          <p:nvPr/>
        </p:nvSpPr>
        <p:spPr>
          <a:xfrm>
            <a:off x="8423910" y="2331339"/>
            <a:ext cx="1" cy="4059657"/>
          </a:xfrm>
          <a:custGeom>
            <a:avLst/>
            <a:gdLst/>
            <a:ahLst/>
            <a:cxnLst/>
            <a:rect l="0" t="0" r="1" b="4059657"/>
            <a:pathLst>
              <a:path w="1" h="4059657" fill="none">
                <a:moveTo>
                  <a:pt x="0" y="0"/>
                </a:moveTo>
                <a:lnTo>
                  <a:pt x="0" y="4059657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Shape 46"/>
          <p:cNvSpPr/>
          <p:nvPr/>
        </p:nvSpPr>
        <p:spPr>
          <a:xfrm>
            <a:off x="928078" y="2337689"/>
            <a:ext cx="7502182" cy="1"/>
          </a:xfrm>
          <a:custGeom>
            <a:avLst/>
            <a:gdLst/>
            <a:ahLst/>
            <a:cxnLst/>
            <a:rect l="0" t="0" r="7502182" b="1"/>
            <a:pathLst>
              <a:path w="7502182" h="1" fill="none">
                <a:moveTo>
                  <a:pt x="0" y="0"/>
                </a:moveTo>
                <a:lnTo>
                  <a:pt x="7502182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Shape 47"/>
          <p:cNvSpPr/>
          <p:nvPr/>
        </p:nvSpPr>
        <p:spPr>
          <a:xfrm>
            <a:off x="928078" y="6384646"/>
            <a:ext cx="7502182" cy="1"/>
          </a:xfrm>
          <a:custGeom>
            <a:avLst/>
            <a:gdLst/>
            <a:ahLst/>
            <a:cxnLst/>
            <a:rect l="0" t="0" r="7502182" b="1"/>
            <a:pathLst>
              <a:path w="7502182" h="1" fill="none">
                <a:moveTo>
                  <a:pt x="0" y="0"/>
                </a:moveTo>
                <a:lnTo>
                  <a:pt x="7502182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1058570" y="242739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위험의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776730" y="24273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45310" y="242739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종류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661539" y="242739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사고유형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497068" y="242739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위험원의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454394" y="24273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521450" y="242739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예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31722" y="343475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전기적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452118" y="373955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900807" y="2891323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감전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923411" y="3123225"/>
            <a:ext cx="146413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전기기계기구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356225" y="312322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99481" y="312322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송배전선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456934" y="312322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600190" y="312322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배선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078726" y="312322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148830" y="312322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900807" y="3355127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가열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900807" y="3819058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발화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923411" y="3819058"/>
            <a:ext cx="122148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전기스파크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118481" y="381905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261737" y="3819058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정전기방전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456934" y="381905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523990" y="3819058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780411" y="4282989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눈장해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923411" y="4282989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아크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402201" y="428298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470781" y="428298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258214" y="5226318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열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497838" y="52263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644142" y="522631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기타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122678" y="52263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451737" y="5531755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900807" y="4914914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화상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3923411" y="4762514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화염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402201" y="476251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4546981" y="4762514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용해고열물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5743321" y="476251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886577" y="4762514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보일러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604762" y="476251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748018" y="4762514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화학설비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7705090" y="476251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848600" y="4762514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건조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923411" y="5067849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설비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402201" y="506784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546981" y="506784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기타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025517" y="506784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095621" y="506784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고온물체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053074" y="506784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6120130" y="506784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542667" y="5547604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방사선장해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923411" y="55491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α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048379" y="5528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4129405" y="55491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β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243705" y="5528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324477" y="55491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γ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438777" y="5528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519549" y="5549128"/>
            <a:ext cx="17289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X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688713" y="5549128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선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927981" y="55491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071237" y="5549128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중성자선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6028690" y="55491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6095746" y="5549128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2780411" y="6011510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눈장해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3923411" y="6011510"/>
            <a:ext cx="122148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레이저광선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118481" y="601151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5185537" y="601151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601370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3) 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950366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전기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474978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636522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열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898650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976374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2238502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2316226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에너지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3102610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3180334" y="1213164"/>
            <a:ext cx="535375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803148" y="1799844"/>
            <a:ext cx="439607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spc="137" dirty="0">
                <a:solidFill>
                  <a:srgbClr val="000000"/>
                </a:solidFill>
                <a:latin typeface="나눔고딕 2"/>
                <a:cs typeface="나눔고딕 2"/>
              </a:rPr>
              <a:t>(3)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232916" y="1799844"/>
            <a:ext cx="76869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에너지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1987550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2060702" y="1799844"/>
            <a:ext cx="512201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2563622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2636774" y="1799844"/>
            <a:ext cx="76869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분류의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3391154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3464306" y="1799844"/>
            <a:ext cx="255712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예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안전의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기초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위험의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3148" y="1799844"/>
            <a:ext cx="439607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spc="137" dirty="0">
                <a:solidFill>
                  <a:srgbClr val="000000"/>
                </a:solidFill>
                <a:latin typeface="나눔고딕 2"/>
                <a:cs typeface="나눔고딕 2"/>
              </a:rPr>
              <a:t>(1)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2916" y="1799844"/>
            <a:ext cx="1281669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작업방법에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90470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62098" y="1799844"/>
            <a:ext cx="512201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의한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65018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38170" y="1799844"/>
            <a:ext cx="512201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7410" y="23064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83843" y="23011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다음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62379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30959" y="2301154"/>
            <a:ext cx="122147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작업에서는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27553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94609" y="2301154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작업방법을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289806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56862" y="230115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잘못하여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13934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80990" y="23011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099048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166104" y="2301154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연결되는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23176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190232" y="2301154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경우가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08290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76870" y="23011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많다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55406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10666" y="279035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73759" y="279035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66723" y="279035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굴착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945259" y="279035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090293" y="2790358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채석작업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047365" y="2790358"/>
            <a:ext cx="16595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05861" y="279035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토사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684397" y="276999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765169" y="2790358"/>
            <a:ext cx="73128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암석의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480306" y="279035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47362" y="279035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붕괴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025898" y="279035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72202" y="279035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굴착한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890260" y="279035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957316" y="279035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장소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435852" y="276999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516624" y="2790358"/>
            <a:ext cx="730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부근의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232904" y="279035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299960" y="2790358"/>
            <a:ext cx="122023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지하매설물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424051" y="316983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902587" y="316983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972691" y="3169834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옹벽의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690749" y="316983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757805" y="316983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손괴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236341" y="316983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306445" y="316983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10666" y="35512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73759" y="35512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466723" y="355121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하역작업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422525" y="3551215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582545" y="355121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하적단의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539617" y="35512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606673" y="355121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붕괴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085590" y="35512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230370" y="355121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화물의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948174" y="35512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016754" y="355121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낙하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495290" y="35512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563870" y="355121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210666" y="39322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373759" y="39322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466723" y="393221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벌목작업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422525" y="3932215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2582545" y="3932215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넘어지거나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777361" y="39322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844417" y="3932215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구르는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562602" y="39322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4631182" y="393221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나무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109718" y="39322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178298" y="393221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01370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4)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50366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작업적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737106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814830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068934" y="45712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285367" y="4565918"/>
            <a:ext cx="194983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작업방법으로부터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195193" y="45659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3262249" y="4565918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발생하는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219321" y="45659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4286377" y="456591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위험은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5004562" y="45659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071618" y="4565918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옥외작업에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267958" y="45659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335014" y="4565918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많지만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053072" y="45659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120128" y="4565918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공장에서도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314944" y="45659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285367" y="487125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발견됨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212190" y="53604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375283" y="53604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468247" y="536045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옥외작업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2423795" y="5360457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2583815" y="5360457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건설업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3301873" y="53604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3445129" y="536045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육상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3923665" y="53400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004437" y="5360457"/>
            <a:ext cx="121699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항만하역업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196586" y="53604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5339842" y="536045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운수업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6057646" y="53604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6202426" y="536045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임업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6681216" y="53604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6749796" y="536045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212190" y="57414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375283" y="57414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468247" y="574145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공장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946783" y="5741457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2106803" y="574145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2585339" y="57414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2655443" y="5741457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등의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3134233" y="57414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3202813" y="574145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조립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3681349" y="57210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3762121" y="574145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해체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4239133" y="57210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4318381" y="5741457"/>
            <a:ext cx="4865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수리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4795774" y="57414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4939030" y="574145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제품의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5656834" y="57414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5723890" y="574145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운반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6202426" y="57414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6272530" y="574145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안전의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기초</a:t>
            </a:r>
          </a:p>
        </p:txBody>
      </p:sp>
      <p:sp>
        <p:nvSpPr>
          <p:cNvPr id="145" name="직사각형 144"/>
          <p:cNvSpPr/>
          <p:nvPr/>
        </p:nvSpPr>
        <p:spPr>
          <a:xfrm>
            <a:off x="1320673" y="4197702"/>
            <a:ext cx="58216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https://www.youtube.com/shorts/auyQPoHAO7Y</a:t>
            </a:r>
          </a:p>
        </p:txBody>
      </p:sp>
      <p:sp>
        <p:nvSpPr>
          <p:cNvPr id="146" name="직사각형 145"/>
          <p:cNvSpPr/>
          <p:nvPr/>
        </p:nvSpPr>
        <p:spPr>
          <a:xfrm>
            <a:off x="1304277" y="6142368"/>
            <a:ext cx="59716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https://www.youtube.com/watch?v=nejuOybqx7s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위험의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1370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4)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0366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작업적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37106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14830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3148" y="1799844"/>
            <a:ext cx="439607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spc="137" dirty="0">
                <a:solidFill>
                  <a:srgbClr val="000000"/>
                </a:solidFill>
                <a:latin typeface="나눔고딕 2"/>
                <a:cs typeface="나눔고딕 2"/>
              </a:rPr>
              <a:t>(2)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2916" y="1799844"/>
            <a:ext cx="1281669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작업장소에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90470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62098" y="1799844"/>
            <a:ext cx="512201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의한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65018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38170" y="1799844"/>
            <a:ext cx="512201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67410" y="23064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83843" y="23011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01901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70481" y="23011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549017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93797" y="23011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화학적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11601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480181" y="23011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959098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03878" y="23011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에너지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821682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890262" y="23011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368798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513578" y="2301154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작업방법에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08648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75704" y="23011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의함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254240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324344" y="2301154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위험을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042402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109458" y="23011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방지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87994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83843" y="260595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하더라도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241169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384425" y="260595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작업장소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341497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408553" y="260595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647821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717925" y="2605954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자체가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436110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504690" y="260595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위험하여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461762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527294" y="2605954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재해가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245352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313932" y="2605954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발생하는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271004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38060" y="2605954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경우가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056118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124698" y="26059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있다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603234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82319" y="298695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521587" y="2986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591691" y="29869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예로는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10666" y="347435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373759" y="347435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466723" y="3474353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중력에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184781" y="347435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251837" y="347435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의해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730373" y="347435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798953" y="3474353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발생하는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756025" y="347435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823081" y="3474353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301998" y="3474353"/>
            <a:ext cx="16759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463542" y="347435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추락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942078" y="347435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088382" y="347435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붕괴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566918" y="347435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635498" y="3474353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210666" y="38575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373759" y="38575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466723" y="385753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일반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945259" y="38575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2014093" y="385753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작업장소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2971165" y="3857539"/>
            <a:ext cx="16595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129661" y="385753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일하는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847465" y="38575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916426" y="385753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장소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394962" y="38575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463542" y="385753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주변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942078" y="38575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012182" y="385753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정리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5490718" y="383717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5571490" y="3857539"/>
            <a:ext cx="48683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정돈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048756" y="38575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6114288" y="3857539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부적절에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7071360" y="38575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138416" y="385753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의한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616952" y="38575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687310" y="385753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8165846" y="38575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234426" y="385753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안전의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기초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위험의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1370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4)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0366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작업적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37106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14830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21" name="Shape 21"/>
          <p:cNvSpPr/>
          <p:nvPr/>
        </p:nvSpPr>
        <p:spPr>
          <a:xfrm>
            <a:off x="844448" y="2627147"/>
            <a:ext cx="1211580" cy="349987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2056003" y="2627147"/>
            <a:ext cx="2211197" cy="349987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23" name="Shape 23"/>
          <p:cNvSpPr/>
          <p:nvPr/>
        </p:nvSpPr>
        <p:spPr>
          <a:xfrm>
            <a:off x="4267200" y="2627147"/>
            <a:ext cx="4032377" cy="349987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24" name="Shape 24"/>
          <p:cNvSpPr/>
          <p:nvPr/>
        </p:nvSpPr>
        <p:spPr>
          <a:xfrm>
            <a:off x="844448" y="2977134"/>
            <a:ext cx="1211580" cy="2099945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25" name="Shape 25"/>
          <p:cNvSpPr/>
          <p:nvPr/>
        </p:nvSpPr>
        <p:spPr>
          <a:xfrm>
            <a:off x="2056003" y="2977197"/>
            <a:ext cx="2211197" cy="699961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4267200" y="2977197"/>
            <a:ext cx="4032377" cy="699961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2056003" y="3677094"/>
            <a:ext cx="2211197" cy="699961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4267200" y="3677094"/>
            <a:ext cx="4032377" cy="699961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2056003" y="4377081"/>
            <a:ext cx="2211197" cy="349987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4267200" y="4377081"/>
            <a:ext cx="4032377" cy="349987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2056003" y="4727092"/>
            <a:ext cx="2211197" cy="349987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4267200" y="4727092"/>
            <a:ext cx="4032377" cy="349987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33" name="Shape 33"/>
          <p:cNvSpPr/>
          <p:nvPr/>
        </p:nvSpPr>
        <p:spPr>
          <a:xfrm>
            <a:off x="844448" y="5077079"/>
            <a:ext cx="1211580" cy="1399921"/>
          </a:xfrm>
          <a:prstGeom prst="rect">
            <a:avLst/>
          </a:prstGeom>
          <a:solidFill>
            <a:srgbClr val="BFBFBF"/>
          </a:solidFill>
        </p:spPr>
        <p:txBody>
          <a:bodyPr/>
          <a:lstStyle/>
          <a:p>
            <a:endParaRPr/>
          </a:p>
        </p:txBody>
      </p:sp>
      <p:sp>
        <p:nvSpPr>
          <p:cNvPr id="34" name="Shape 34"/>
          <p:cNvSpPr/>
          <p:nvPr/>
        </p:nvSpPr>
        <p:spPr>
          <a:xfrm>
            <a:off x="2056003" y="5077104"/>
            <a:ext cx="2211197" cy="349987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35" name="Shape 35"/>
          <p:cNvSpPr/>
          <p:nvPr/>
        </p:nvSpPr>
        <p:spPr>
          <a:xfrm>
            <a:off x="4267200" y="5077104"/>
            <a:ext cx="4032377" cy="349987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36" name="Shape 36"/>
          <p:cNvSpPr/>
          <p:nvPr/>
        </p:nvSpPr>
        <p:spPr>
          <a:xfrm>
            <a:off x="2056003" y="5427053"/>
            <a:ext cx="2211197" cy="349987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37" name="Shape 37"/>
          <p:cNvSpPr/>
          <p:nvPr/>
        </p:nvSpPr>
        <p:spPr>
          <a:xfrm>
            <a:off x="4267200" y="5427053"/>
            <a:ext cx="4032377" cy="349987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38" name="Shape 38"/>
          <p:cNvSpPr/>
          <p:nvPr/>
        </p:nvSpPr>
        <p:spPr>
          <a:xfrm>
            <a:off x="2056003" y="5777040"/>
            <a:ext cx="2211197" cy="349987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39" name="Shape 39"/>
          <p:cNvSpPr/>
          <p:nvPr/>
        </p:nvSpPr>
        <p:spPr>
          <a:xfrm>
            <a:off x="4267200" y="5777040"/>
            <a:ext cx="4032377" cy="349987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40" name="Shape 40"/>
          <p:cNvSpPr/>
          <p:nvPr/>
        </p:nvSpPr>
        <p:spPr>
          <a:xfrm>
            <a:off x="2056003" y="6127013"/>
            <a:ext cx="2211197" cy="349987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41" name="Shape 41"/>
          <p:cNvSpPr/>
          <p:nvPr/>
        </p:nvSpPr>
        <p:spPr>
          <a:xfrm>
            <a:off x="4267200" y="6127013"/>
            <a:ext cx="4032377" cy="349987"/>
          </a:xfrm>
          <a:prstGeom prst="rect">
            <a:avLst/>
          </a:prstGeom>
          <a:solidFill>
            <a:srgbClr val="EAEFF7"/>
          </a:solidFill>
        </p:spPr>
        <p:txBody>
          <a:bodyPr/>
          <a:lstStyle/>
          <a:p>
            <a:endParaRPr/>
          </a:p>
        </p:txBody>
      </p:sp>
      <p:sp>
        <p:nvSpPr>
          <p:cNvPr id="42" name="Shape 42"/>
          <p:cNvSpPr/>
          <p:nvPr/>
        </p:nvSpPr>
        <p:spPr>
          <a:xfrm>
            <a:off x="2056003" y="2620899"/>
            <a:ext cx="1" cy="3862451"/>
          </a:xfrm>
          <a:custGeom>
            <a:avLst/>
            <a:gdLst/>
            <a:ahLst/>
            <a:cxnLst/>
            <a:rect l="0" t="0" r="1" b="3862451"/>
            <a:pathLst>
              <a:path w="1" h="3862451" fill="none">
                <a:moveTo>
                  <a:pt x="0" y="0"/>
                </a:moveTo>
                <a:lnTo>
                  <a:pt x="0" y="3862451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Shape 43"/>
          <p:cNvSpPr/>
          <p:nvPr/>
        </p:nvSpPr>
        <p:spPr>
          <a:xfrm>
            <a:off x="4267200" y="2620899"/>
            <a:ext cx="1" cy="3862451"/>
          </a:xfrm>
          <a:custGeom>
            <a:avLst/>
            <a:gdLst/>
            <a:ahLst/>
            <a:cxnLst/>
            <a:rect l="0" t="0" r="1" b="3862451"/>
            <a:pathLst>
              <a:path w="1" h="3862451" fill="none">
                <a:moveTo>
                  <a:pt x="0" y="0"/>
                </a:moveTo>
                <a:lnTo>
                  <a:pt x="0" y="3862451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Shape 44"/>
          <p:cNvSpPr/>
          <p:nvPr/>
        </p:nvSpPr>
        <p:spPr>
          <a:xfrm>
            <a:off x="838098" y="2977134"/>
            <a:ext cx="7467829" cy="1"/>
          </a:xfrm>
          <a:custGeom>
            <a:avLst/>
            <a:gdLst/>
            <a:ahLst/>
            <a:cxnLst/>
            <a:rect l="0" t="0" r="7467829" b="1"/>
            <a:pathLst>
              <a:path w="7467829" h="1" fill="none">
                <a:moveTo>
                  <a:pt x="0" y="0"/>
                </a:moveTo>
                <a:lnTo>
                  <a:pt x="7467829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Shape 45"/>
          <p:cNvSpPr/>
          <p:nvPr/>
        </p:nvSpPr>
        <p:spPr>
          <a:xfrm>
            <a:off x="2049653" y="3677158"/>
            <a:ext cx="6256274" cy="1"/>
          </a:xfrm>
          <a:custGeom>
            <a:avLst/>
            <a:gdLst/>
            <a:ahLst/>
            <a:cxnLst/>
            <a:rect l="0" t="0" r="6256274" b="1"/>
            <a:pathLst>
              <a:path w="6256274" h="1" fill="none">
                <a:moveTo>
                  <a:pt x="0" y="0"/>
                </a:moveTo>
                <a:lnTo>
                  <a:pt x="6256274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Shape 46"/>
          <p:cNvSpPr/>
          <p:nvPr/>
        </p:nvSpPr>
        <p:spPr>
          <a:xfrm>
            <a:off x="2049653" y="4377055"/>
            <a:ext cx="6256274" cy="1"/>
          </a:xfrm>
          <a:custGeom>
            <a:avLst/>
            <a:gdLst/>
            <a:ahLst/>
            <a:cxnLst/>
            <a:rect l="0" t="0" r="6256274" b="1"/>
            <a:pathLst>
              <a:path w="6256274" h="1" fill="none">
                <a:moveTo>
                  <a:pt x="0" y="0"/>
                </a:moveTo>
                <a:lnTo>
                  <a:pt x="6256274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Shape 47"/>
          <p:cNvSpPr/>
          <p:nvPr/>
        </p:nvSpPr>
        <p:spPr>
          <a:xfrm>
            <a:off x="2049653" y="4727067"/>
            <a:ext cx="6256274" cy="1"/>
          </a:xfrm>
          <a:custGeom>
            <a:avLst/>
            <a:gdLst/>
            <a:ahLst/>
            <a:cxnLst/>
            <a:rect l="0" t="0" r="6256274" b="1"/>
            <a:pathLst>
              <a:path w="6256274" h="1" fill="none">
                <a:moveTo>
                  <a:pt x="0" y="0"/>
                </a:moveTo>
                <a:lnTo>
                  <a:pt x="6256274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Shape 48"/>
          <p:cNvSpPr/>
          <p:nvPr/>
        </p:nvSpPr>
        <p:spPr>
          <a:xfrm>
            <a:off x="838098" y="5077079"/>
            <a:ext cx="7467829" cy="1"/>
          </a:xfrm>
          <a:custGeom>
            <a:avLst/>
            <a:gdLst/>
            <a:ahLst/>
            <a:cxnLst/>
            <a:rect l="0" t="0" r="7467829" b="1"/>
            <a:pathLst>
              <a:path w="7467829" h="1" fill="none">
                <a:moveTo>
                  <a:pt x="0" y="0"/>
                </a:moveTo>
                <a:lnTo>
                  <a:pt x="7467829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Shape 49"/>
          <p:cNvSpPr/>
          <p:nvPr/>
        </p:nvSpPr>
        <p:spPr>
          <a:xfrm>
            <a:off x="2049653" y="5427091"/>
            <a:ext cx="6256274" cy="1"/>
          </a:xfrm>
          <a:custGeom>
            <a:avLst/>
            <a:gdLst/>
            <a:ahLst/>
            <a:cxnLst/>
            <a:rect l="0" t="0" r="6256274" b="1"/>
            <a:pathLst>
              <a:path w="6256274" h="1" fill="none">
                <a:moveTo>
                  <a:pt x="0" y="0"/>
                </a:moveTo>
                <a:lnTo>
                  <a:pt x="6256274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Shape 50"/>
          <p:cNvSpPr/>
          <p:nvPr/>
        </p:nvSpPr>
        <p:spPr>
          <a:xfrm>
            <a:off x="2049653" y="5777040"/>
            <a:ext cx="6256274" cy="1"/>
          </a:xfrm>
          <a:custGeom>
            <a:avLst/>
            <a:gdLst/>
            <a:ahLst/>
            <a:cxnLst/>
            <a:rect l="0" t="0" r="6256274" b="1"/>
            <a:pathLst>
              <a:path w="6256274" h="1" fill="none">
                <a:moveTo>
                  <a:pt x="0" y="0"/>
                </a:moveTo>
                <a:lnTo>
                  <a:pt x="6256274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hape 51"/>
          <p:cNvSpPr/>
          <p:nvPr/>
        </p:nvSpPr>
        <p:spPr>
          <a:xfrm>
            <a:off x="2049653" y="6127026"/>
            <a:ext cx="6256274" cy="1"/>
          </a:xfrm>
          <a:custGeom>
            <a:avLst/>
            <a:gdLst/>
            <a:ahLst/>
            <a:cxnLst/>
            <a:rect l="0" t="0" r="6256274" b="1"/>
            <a:pathLst>
              <a:path w="6256274" h="1" fill="none">
                <a:moveTo>
                  <a:pt x="0" y="0"/>
                </a:moveTo>
                <a:lnTo>
                  <a:pt x="6256274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Shape 52"/>
          <p:cNvSpPr/>
          <p:nvPr/>
        </p:nvSpPr>
        <p:spPr>
          <a:xfrm>
            <a:off x="844448" y="2620899"/>
            <a:ext cx="1" cy="3862451"/>
          </a:xfrm>
          <a:custGeom>
            <a:avLst/>
            <a:gdLst/>
            <a:ahLst/>
            <a:cxnLst/>
            <a:rect l="0" t="0" r="1" b="3862451"/>
            <a:pathLst>
              <a:path w="1" h="3862451" fill="none">
                <a:moveTo>
                  <a:pt x="0" y="0"/>
                </a:moveTo>
                <a:lnTo>
                  <a:pt x="0" y="3862451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Shape 53"/>
          <p:cNvSpPr/>
          <p:nvPr/>
        </p:nvSpPr>
        <p:spPr>
          <a:xfrm>
            <a:off x="8299577" y="2620899"/>
            <a:ext cx="1" cy="3862451"/>
          </a:xfrm>
          <a:custGeom>
            <a:avLst/>
            <a:gdLst/>
            <a:ahLst/>
            <a:cxnLst/>
            <a:rect l="0" t="0" r="1" b="3862451"/>
            <a:pathLst>
              <a:path w="1" h="3862451" fill="none">
                <a:moveTo>
                  <a:pt x="0" y="0"/>
                </a:moveTo>
                <a:lnTo>
                  <a:pt x="0" y="3862451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Shape 54"/>
          <p:cNvSpPr/>
          <p:nvPr/>
        </p:nvSpPr>
        <p:spPr>
          <a:xfrm>
            <a:off x="838098" y="2627249"/>
            <a:ext cx="7467829" cy="1"/>
          </a:xfrm>
          <a:custGeom>
            <a:avLst/>
            <a:gdLst/>
            <a:ahLst/>
            <a:cxnLst/>
            <a:rect l="0" t="0" r="7467829" b="1"/>
            <a:pathLst>
              <a:path w="7467829" h="1" fill="none">
                <a:moveTo>
                  <a:pt x="0" y="0"/>
                </a:moveTo>
                <a:lnTo>
                  <a:pt x="7467829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Shape 55"/>
          <p:cNvSpPr/>
          <p:nvPr/>
        </p:nvSpPr>
        <p:spPr>
          <a:xfrm>
            <a:off x="838098" y="6477000"/>
            <a:ext cx="7467829" cy="1"/>
          </a:xfrm>
          <a:custGeom>
            <a:avLst/>
            <a:gdLst/>
            <a:ahLst/>
            <a:cxnLst/>
            <a:rect l="0" t="0" r="7467829" b="1"/>
            <a:pathLst>
              <a:path w="7467829" h="1" fill="none">
                <a:moveTo>
                  <a:pt x="0" y="0"/>
                </a:moveTo>
                <a:lnTo>
                  <a:pt x="7467829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TextBox 56"/>
          <p:cNvSpPr txBox="1"/>
          <p:nvPr/>
        </p:nvSpPr>
        <p:spPr>
          <a:xfrm>
            <a:off x="937565" y="26601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416050" y="26601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84630" y="2660183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종류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683510" y="266018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사고유형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065776" y="26601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위험한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783580" y="26601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852160" y="2660183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작업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30950" y="26601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475730" y="26601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장소의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193534" y="26601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262114" y="266018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예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210361" y="358042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91489" y="3884944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방법적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809242" y="388494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210361" y="419027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122043" y="3048060"/>
            <a:ext cx="463092" cy="337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8" b="1" dirty="0">
                <a:solidFill>
                  <a:srgbClr val="000000"/>
                </a:solidFill>
                <a:latin typeface="나눔고딕"/>
                <a:cs typeface="나눔고딕"/>
              </a:rPr>
              <a:t>전락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576449" y="3048060"/>
            <a:ext cx="144658" cy="337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8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663317" y="3048060"/>
            <a:ext cx="462781" cy="337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8" b="1" dirty="0">
                <a:solidFill>
                  <a:srgbClr val="000000"/>
                </a:solidFill>
                <a:latin typeface="나눔고딕"/>
                <a:cs typeface="나눔고딕"/>
              </a:rPr>
              <a:t>轉落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117469" y="3048060"/>
            <a:ext cx="320924" cy="337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8" b="1" spc="94" dirty="0">
                <a:solidFill>
                  <a:srgbClr val="000000"/>
                </a:solidFill>
                <a:latin typeface="나눔고딕 2"/>
                <a:cs typeface="나눔고딕 2"/>
              </a:rPr>
              <a:t>), (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431413" y="3048060"/>
            <a:ext cx="695212" cy="337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8" b="1" dirty="0">
                <a:solidFill>
                  <a:srgbClr val="000000"/>
                </a:solidFill>
                <a:latin typeface="나눔고딕"/>
                <a:cs typeface="나눔고딕"/>
              </a:rPr>
              <a:t>기계의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114546" y="3048060"/>
            <a:ext cx="157463" cy="337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8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480437" y="3338281"/>
            <a:ext cx="46248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전도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934589" y="3338281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3021457" y="3338281"/>
            <a:ext cx="694107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넘어짐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3702685" y="3338281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359275" y="3032393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건축작업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316601" y="303239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459857" y="3032393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토목작업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416929" y="303239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560566" y="3032393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운반작업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517638" y="303239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4359275" y="333785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기계의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077333" y="3337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145913" y="333785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설치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5624449" y="3337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5769229" y="333785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철거작업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6726682" y="333785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6793738" y="333785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2209546" y="3892991"/>
            <a:ext cx="462781" cy="337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8" b="1" dirty="0">
                <a:solidFill>
                  <a:srgbClr val="000000"/>
                </a:solidFill>
                <a:latin typeface="나눔고딕"/>
                <a:cs typeface="나눔고딕"/>
              </a:rPr>
              <a:t>비래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2663698" y="3892991"/>
            <a:ext cx="144658" cy="337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8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2750566" y="3892991"/>
            <a:ext cx="694398" cy="337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8" b="1" dirty="0">
                <a:solidFill>
                  <a:srgbClr val="000000"/>
                </a:solidFill>
                <a:latin typeface="나눔고딕"/>
                <a:cs typeface="나눔고딕"/>
              </a:rPr>
              <a:t>날아옴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3431794" y="3892991"/>
            <a:ext cx="232639" cy="337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8" b="1" spc="95" dirty="0">
                <a:solidFill>
                  <a:srgbClr val="000000"/>
                </a:solidFill>
                <a:latin typeface="나눔고딕 2"/>
                <a:cs typeface="나눔고딕 2"/>
              </a:rPr>
              <a:t>),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660394" y="3892991"/>
            <a:ext cx="462781" cy="337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8" b="1" dirty="0">
                <a:solidFill>
                  <a:srgbClr val="000000"/>
                </a:solidFill>
                <a:latin typeface="나눔고딕"/>
                <a:cs typeface="나눔고딕"/>
              </a:rPr>
              <a:t>낙하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4359275" y="3732544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건축작업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5316601" y="373254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459857" y="3732544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토목작업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416929" y="373254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560566" y="3732544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벌목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039102" y="373254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359275" y="403787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집재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838065" y="403787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931029" y="403787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集材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408041" y="403787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5501005" y="4037879"/>
            <a:ext cx="4865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5976493" y="403787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119749" y="4037879"/>
            <a:ext cx="146283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토목채취작업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7554214" y="403787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621270" y="403787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636266" y="4418416"/>
            <a:ext cx="46248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충돌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3090418" y="4418416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3232150" y="4418416"/>
            <a:ext cx="46248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격돌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359275" y="441037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운송작업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5316601" y="441037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459857" y="441037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하역작업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6416929" y="441037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6483985" y="441037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2321941" y="4768682"/>
            <a:ext cx="462800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협착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776474" y="4768682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2863342" y="4768682"/>
            <a:ext cx="46248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끼임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3317494" y="4768682"/>
            <a:ext cx="23234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spc="95" dirty="0">
                <a:solidFill>
                  <a:srgbClr val="000000"/>
                </a:solidFill>
                <a:latin typeface="나눔고딕 2"/>
                <a:cs typeface="나눔고딕 2"/>
              </a:rPr>
              <a:t>),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546094" y="4768682"/>
            <a:ext cx="46248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감김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359275" y="476063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제조작업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316601" y="47606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459857" y="476063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운반작업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6416929" y="47606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6560566" y="4760636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토목작업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7517638" y="47606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7584694" y="476063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210361" y="533086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091489" y="563569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장소적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809242" y="56356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210361" y="59404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2934970" y="5118567"/>
            <a:ext cx="46248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추락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4359275" y="511052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작업발판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5316601" y="511052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5459857" y="511052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비계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5938393" y="511052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6083173" y="511052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지붕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6562090" y="511052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6708394" y="5110521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각립비계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7665466" y="511052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7732522" y="511052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2473198" y="5468782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2560066" y="5468782"/>
            <a:ext cx="694107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사람의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3241294" y="5468782"/>
            <a:ext cx="1573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3396742" y="5468782"/>
            <a:ext cx="46248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전도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4359275" y="546073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옥외통로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5316601" y="54607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5459857" y="546073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작업발판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6416929" y="54607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6560566" y="5460736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작업장소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7517638" y="54607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7584694" y="546073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2209546" y="5818693"/>
            <a:ext cx="46248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붕괴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2663698" y="5818693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2805430" y="5818693"/>
            <a:ext cx="46248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비래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3259582" y="5818693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3346450" y="5818693"/>
            <a:ext cx="694107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날아옴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4027932" y="5818693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4359275" y="581064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재료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4838065" y="581064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4906645" y="581064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두는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5385181" y="581064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5455285" y="581064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곳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5694553" y="581064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5840857" y="5810647"/>
            <a:ext cx="14628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토목채취현장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7273798" y="581064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7417054" y="581064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갓길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7895590" y="581064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7965694" y="581064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2636266" y="6168908"/>
            <a:ext cx="46248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충돌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3090418" y="6168908"/>
            <a:ext cx="144475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3232150" y="6168908"/>
            <a:ext cx="462489" cy="3371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96" b="1" dirty="0">
                <a:solidFill>
                  <a:srgbClr val="000000"/>
                </a:solidFill>
                <a:latin typeface="나눔고딕"/>
                <a:cs typeface="나눔고딕"/>
              </a:rPr>
              <a:t>격돌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4359275" y="616086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하역현장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5316601" y="61608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5459857" y="616086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도로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5938393" y="61608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6006973" y="616086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6246241" y="61608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6316345" y="616086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3243326" y="2256323"/>
            <a:ext cx="97680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‹작업적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4200779" y="22563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4267835" y="22563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4746371" y="22563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4839335" y="2256323"/>
            <a:ext cx="58134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예)›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803148" y="1799844"/>
            <a:ext cx="439607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spc="137" dirty="0">
                <a:solidFill>
                  <a:srgbClr val="000000"/>
                </a:solidFill>
                <a:latin typeface="나눔고딕 2"/>
                <a:cs typeface="나눔고딕 2"/>
              </a:rPr>
              <a:t>(2) 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1232916" y="1799844"/>
            <a:ext cx="1281669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작업장소에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2490470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2562098" y="1799844"/>
            <a:ext cx="512201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의한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3065018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3138170" y="1799844"/>
            <a:ext cx="512201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안전의</a:t>
            </a:r>
          </a:p>
        </p:txBody>
      </p:sp>
      <p:sp>
        <p:nvSpPr>
          <p:cNvPr id="198" name="TextBox 198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9" name="TextBox 199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기초</a:t>
            </a:r>
          </a:p>
        </p:txBody>
      </p:sp>
      <p:sp>
        <p:nvSpPr>
          <p:cNvPr id="200" name="직사각형 199"/>
          <p:cNvSpPr/>
          <p:nvPr/>
        </p:nvSpPr>
        <p:spPr>
          <a:xfrm>
            <a:off x="7965693" y="5091363"/>
            <a:ext cx="46679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https://www.youtube.com/shorts/r2xhNRrGxCs</a:t>
            </a:r>
          </a:p>
        </p:txBody>
      </p:sp>
      <p:sp>
        <p:nvSpPr>
          <p:cNvPr id="201" name="직사각형 200"/>
          <p:cNvSpPr/>
          <p:nvPr/>
        </p:nvSpPr>
        <p:spPr>
          <a:xfrm>
            <a:off x="7959274" y="4722873"/>
            <a:ext cx="493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https://www.youtube.com/watch?v=fPgOuVOz0F8</a:t>
            </a:r>
          </a:p>
        </p:txBody>
      </p:sp>
      <p:sp>
        <p:nvSpPr>
          <p:cNvPr id="202" name="직사각형 201"/>
          <p:cNvSpPr/>
          <p:nvPr/>
        </p:nvSpPr>
        <p:spPr>
          <a:xfrm>
            <a:off x="8263971" y="5737745"/>
            <a:ext cx="47677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https://www.youtube.com/shorts/U33bm6tnZ2A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위험의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1370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5)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0366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행동적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37106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14830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4893" y="174539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1301" y="1740041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안전장치를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06066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73122" y="1740041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무효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52039" y="1740041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91307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159887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하는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38423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707003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85539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32097" y="1740041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안전장치를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26913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93969" y="1740041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작동하지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51422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18478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않는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097014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165594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94893" y="21285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11301" y="212322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위험한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829054" y="21232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97634" y="212322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상태를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615819" y="21232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682875" y="212322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만드는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400679" y="21232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69259" y="212322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947795" y="21232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092575" y="2123227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보호구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810633" y="21028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891405" y="2123227"/>
            <a:ext cx="730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복장이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606161" y="21232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73217" y="212322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부적절한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630670" y="21232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697726" y="212322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94893" y="25095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11301" y="250422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위험한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829054" y="25042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897634" y="250422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장소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376170" y="25042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445131" y="250422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등에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923667" y="25042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992247" y="250422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접근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470783" y="250422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하는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949319" y="25042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16375" y="250422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495165" y="25042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641469" y="250422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잘못된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359273" y="25042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426329" y="250422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자세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904865" y="24838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985637" y="25042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054217" y="2504227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동작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533134" y="25042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601714" y="250422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안전의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기초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위험의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1370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6)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0366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시스템적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9923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76958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8563" y="44221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4971" y="441684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시스템적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22348" y="441684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89404" y="441684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8563" y="4904246"/>
            <a:ext cx="3867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11" dirty="0">
                <a:solidFill>
                  <a:srgbClr val="000000"/>
                </a:solidFill>
                <a:latin typeface="나눔고딕 2"/>
                <a:cs typeface="나눔고딕 2"/>
              </a:rPr>
              <a:t>   -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6515" y="4904246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시스템은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83892" y="490424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50948" y="490424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점점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29484" y="490424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98064" y="4904246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고도화</a:t>
            </a:r>
          </a:p>
        </p:txBody>
      </p:sp>
      <p:sp>
        <p:nvSpPr>
          <p:cNvPr id="31" name="Shape 31"/>
          <p:cNvSpPr/>
          <p:nvPr/>
        </p:nvSpPr>
        <p:spPr>
          <a:xfrm>
            <a:off x="2797556" y="5163439"/>
            <a:ext cx="1580388" cy="12192"/>
          </a:xfrm>
          <a:custGeom>
            <a:avLst/>
            <a:gdLst/>
            <a:ahLst/>
            <a:cxnLst/>
            <a:rect l="0" t="0" r="1580388" b="12192"/>
            <a:pathLst>
              <a:path w="1580388" h="12192" stroke="0">
                <a:moveTo>
                  <a:pt x="0" y="12192"/>
                </a:moveTo>
                <a:lnTo>
                  <a:pt x="1580388" y="12192"/>
                </a:lnTo>
                <a:lnTo>
                  <a:pt x="158038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3515868" y="490424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60648" y="4904246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복잡화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8563" y="5285781"/>
            <a:ext cx="38669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2" dirty="0">
                <a:solidFill>
                  <a:srgbClr val="0070C0"/>
                </a:solidFill>
                <a:latin typeface="나눔고딕 2"/>
                <a:cs typeface="나눔고딕 2"/>
              </a:rPr>
              <a:t>   -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6515" y="528578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시스템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44624" y="528578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13204" y="528578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한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52472" y="528578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322576" y="528578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요소의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040380" y="528578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07436" y="528578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고장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585972" y="528578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732530" y="528578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조작의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450334" y="528578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17390" y="528578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잘못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995926" y="528578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066030" y="528578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등이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544566" y="528578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613527" y="528578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있으면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331331" y="528578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99911" y="528578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639179" y="528578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709283" y="5285781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결과가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27087" y="528578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566025" y="528578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증폭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044561" y="528578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되어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48563" y="5668305"/>
            <a:ext cx="3629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7" dirty="0">
                <a:solidFill>
                  <a:srgbClr val="000000"/>
                </a:solidFill>
                <a:latin typeface="나눔고딕 2"/>
                <a:cs typeface="나눔고딕 2"/>
              </a:rPr>
              <a:t>    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05179" y="566830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큰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444498" y="566830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514602" y="566830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993392" y="564794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074164" y="566830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재해로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790444" y="566830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857500" y="566830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발전할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575304" y="566830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642360" y="5668305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경우가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360418" y="566830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428998" y="566830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있음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20191" y="615446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229563" y="615446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이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468882" y="61544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538986" y="615446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위험은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257044" y="61544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325624" y="615446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기술이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043428" y="61544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110484" y="615446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발전됨에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067810" y="61544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134866" y="615446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따라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613402" y="61544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683506" y="615446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증가할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401310" y="61544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468366" y="6154461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것으로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186551" y="61544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255131" y="615446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예측됨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94893" y="174539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11301" y="1740041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시스템이란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306066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94893" y="2228383"/>
            <a:ext cx="38669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2" dirty="0">
                <a:solidFill>
                  <a:srgbClr val="000000"/>
                </a:solidFill>
                <a:latin typeface="나눔고딕 2"/>
                <a:cs typeface="나눔고딕 2"/>
              </a:rPr>
              <a:t>   -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272794" y="22283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어떤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751330" y="2228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819910" y="22283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과업의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538095" y="2228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606675" y="222838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수행이나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563747" y="2228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3630803" y="22283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목적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4109339" y="2228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4177919" y="2228383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달성을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895977" y="2228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4964557" y="22283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위해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5443093" y="2228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511673" y="2228383"/>
            <a:ext cx="146283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공동작업하는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946138" y="2228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013194" y="2228383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조직화된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894893" y="2609383"/>
            <a:ext cx="3629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7" dirty="0">
                <a:solidFill>
                  <a:srgbClr val="000000"/>
                </a:solidFill>
                <a:latin typeface="나눔고딕 2"/>
                <a:cs typeface="나눔고딕 2"/>
              </a:rPr>
              <a:t>    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251509" y="26093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구성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729994" y="2609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800098" y="26093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요소의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518283" y="2609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2585339" y="260938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집합으로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542411" y="2609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352042" y="3102133"/>
            <a:ext cx="20428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✓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638554" y="3096782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사람들로만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2833751" y="30967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352042" y="3485185"/>
            <a:ext cx="20404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✓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638554" y="347984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2117090" y="34594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2197862" y="3479841"/>
            <a:ext cx="97297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설비로만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3152267" y="347984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352042" y="3866185"/>
            <a:ext cx="20404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✓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638554" y="386084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사람의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2356358" y="386084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2424938" y="3860841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기능이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3143123" y="386084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3210179" y="386084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포함된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3927983" y="386084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996563" y="386084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475353" y="38404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4556125" y="386084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설비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033137" y="386084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5100193" y="386084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등으로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5817997" y="386084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5885053" y="3860841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구성된다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6842506" y="386084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안전의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기초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8258" y="679170"/>
            <a:ext cx="101671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44" dirty="0">
                <a:solidFill>
                  <a:srgbClr val="806B00"/>
                </a:solidFill>
                <a:latin typeface="나눔고딕 2"/>
                <a:cs typeface="나눔고딕 2"/>
              </a:rPr>
              <a:t>Hazard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24678" y="679170"/>
            <a:ext cx="292534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1119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980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57594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34378" y="679170"/>
            <a:ext cx="87764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위험과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9416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6464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4373" y="1213164"/>
            <a:ext cx="12874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39" dirty="0">
                <a:solidFill>
                  <a:srgbClr val="000000"/>
                </a:solidFill>
                <a:latin typeface="나눔고딕 2"/>
                <a:cs typeface="나눔고딕 2"/>
              </a:rPr>
              <a:t>1) Hazard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23758" y="1219855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85886" y="1219855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65134" y="1219855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6242" y="174539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605100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2650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5614" y="1740041"/>
            <a:ext cx="101624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17" dirty="0">
                <a:solidFill>
                  <a:srgbClr val="0070C0"/>
                </a:solidFill>
                <a:latin typeface="나눔고딕 2"/>
                <a:cs typeface="나눔고딕 2"/>
              </a:rPr>
              <a:t>Hazard)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66493" y="1740041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위험요인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23565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66821" y="1740041"/>
            <a:ext cx="14645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유해위험요인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01286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44542" y="174004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위험의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62346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9402" y="1740041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잠재적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47460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16040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근원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94576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39356" y="1740041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위험원으로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35950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01482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번역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09498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2566" y="21217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앞에서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90395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58975" y="2121703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설명한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677033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744089" y="21217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461893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530473" y="21217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009390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154170" y="21217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화학적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871974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940554" y="21217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19090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563870" y="2121703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전기적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81928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50508" y="21217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829044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897624" y="212170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09498" y="2502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72566" y="25027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재해의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890395" y="2502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958975" y="2502703"/>
            <a:ext cx="82876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‘씨앗’에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771521" y="2502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840101" y="25027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해당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67766" y="3064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605100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84174" y="305921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77138" y="305921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894967" y="3059217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053463" y="3059217"/>
            <a:ext cx="170685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위험성이라고도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725545" y="305921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792601" y="305921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함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11022" y="34399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74090" y="3439936"/>
            <a:ext cx="818454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12" dirty="0">
                <a:solidFill>
                  <a:srgbClr val="000000"/>
                </a:solidFill>
                <a:latin typeface="나눔고딕 2"/>
                <a:cs typeface="나눔고딕 2"/>
              </a:rPr>
              <a:t>hazard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088816" y="3451601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에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328084" y="345160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395140" y="345160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의해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873930" y="345160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944034" y="3451601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출현하는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901106" y="345160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966638" y="3451601"/>
            <a:ext cx="78060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‘위해의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731686" y="345160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800647" y="3451601"/>
            <a:ext cx="195113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발생확률’과, ‘위해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713521" y="345160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782101" y="345160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결과의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499905" y="345160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568485" y="345160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크기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52754" y="38214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245718" y="382147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중대성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963547" y="38214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2032127" y="38214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2510663" y="38214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2579243" y="3821471"/>
            <a:ext cx="111945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심각성)’의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3676777" y="38214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3742309" y="382147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조합으로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4699762" y="38214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4766818" y="38214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표현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011022" y="42024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174090" y="420247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재해의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891919" y="42024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960499" y="4202471"/>
            <a:ext cx="58445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‘싹’에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2533523" y="42024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2603627" y="4202471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해당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186891" y="4688092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화학물질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2144014" y="468809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211070" y="4688092"/>
            <a:ext cx="1707342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생애주기에서의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883152" y="4688092"/>
            <a:ext cx="886851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07" dirty="0">
                <a:solidFill>
                  <a:srgbClr val="0070C0"/>
                </a:solidFill>
                <a:latin typeface="나눔고딕 2"/>
                <a:cs typeface="나눔고딕 2"/>
              </a:rPr>
              <a:t> hazard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967594" y="4700184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와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206862" y="470018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273918" y="4700184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991722" y="470018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6058778" y="4700184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예시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020775" y="50696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183843" y="506962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276858" y="506962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생애주기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232406" y="5069627"/>
            <a:ext cx="124840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61" dirty="0">
                <a:solidFill>
                  <a:srgbClr val="000000"/>
                </a:solidFill>
                <a:latin typeface="나눔고딕 2"/>
                <a:cs typeface="나눔고딕 2"/>
              </a:rPr>
              <a:t>: lifecycle)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3565903" y="509589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제조부터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4522975" y="50958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4590285" y="50958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수송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5068821" y="50958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213601" y="50958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저장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5692137" y="50958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5836917" y="50958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소비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6315453" y="50958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6462138" y="5095891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폐기까지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020775" y="54522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183843" y="5452202"/>
            <a:ext cx="10794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0" dirty="0">
                <a:solidFill>
                  <a:srgbClr val="000000"/>
                </a:solidFill>
                <a:latin typeface="나눔고딕 2"/>
                <a:cs typeface="나눔고딕 2"/>
              </a:rPr>
              <a:t>(hazard) 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2238502" y="545220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폭발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2717292" y="543184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2798064" y="545220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화재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3275076" y="54522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3342132" y="545220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등이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3820668" y="54522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889248" y="545220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발생할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607306" y="54522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4675886" y="545220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4915154" y="54522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4985258" y="545220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5463794" y="54522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5532374" y="545220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화학적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6250178" y="5452202"/>
            <a:ext cx="103968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7" dirty="0">
                <a:solidFill>
                  <a:srgbClr val="000000"/>
                </a:solidFill>
                <a:latin typeface="나눔고딕 2"/>
                <a:cs typeface="나눔고딕 2"/>
              </a:rPr>
              <a:t> hazard, 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7265543" y="5452202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사람의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162507" y="583167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건강에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880362" y="583167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948942" y="583167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영향을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2667000" y="583167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2735580" y="583167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주는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3214116" y="583167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3282696" y="583167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건강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3761232" y="5831678"/>
            <a:ext cx="104032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8" dirty="0">
                <a:solidFill>
                  <a:srgbClr val="000000"/>
                </a:solidFill>
                <a:latin typeface="나눔고딕 2"/>
                <a:cs typeface="나눔고딕 2"/>
              </a:rPr>
              <a:t> hazard, 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4776470" y="583167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환경에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5494274" y="583167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5562854" y="583167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영향을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6280658" y="583167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6349619" y="583167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주는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6828155" y="583167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6896735" y="583167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환경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7375271" y="5831678"/>
            <a:ext cx="88742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8" dirty="0">
                <a:solidFill>
                  <a:srgbClr val="000000"/>
                </a:solidFill>
                <a:latin typeface="나눔고딕 2"/>
                <a:cs typeface="나눔고딕 2"/>
              </a:rPr>
              <a:t> hazard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1020775" y="621392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1183843" y="621392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1276858" y="621392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1994662" y="6213921"/>
            <a:ext cx="16759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2153158" y="621392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폭발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2631948" y="61935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2712720" y="621392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화재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3191256" y="621392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3256788" y="621392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3974592" y="621392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4119372" y="6213921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건강피해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5076698" y="621392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5143754" y="621392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5861558" y="621392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6006338" y="6213921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환경피해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6963791" y="621392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7029323" y="621392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안전을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둘러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2420747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2504567" y="103886"/>
            <a:ext cx="29224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싼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2791079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2876423" y="103886"/>
            <a:ext cx="58448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01671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44" dirty="0">
                <a:solidFill>
                  <a:srgbClr val="806B00"/>
                </a:solidFill>
                <a:latin typeface="나눔고딕 2"/>
                <a:cs typeface="나눔고딕 2"/>
              </a:rPr>
              <a:t>Hazard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31069" y="679170"/>
            <a:ext cx="292534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17581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04449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63985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40769" y="679170"/>
            <a:ext cx="87764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위험과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00559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82855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22" name="Shape 22"/>
          <p:cNvSpPr/>
          <p:nvPr/>
        </p:nvSpPr>
        <p:spPr>
          <a:xfrm>
            <a:off x="1960372" y="3271647"/>
            <a:ext cx="4261612" cy="2583866"/>
          </a:xfrm>
          <a:prstGeom prst="ellipse">
            <a:avLst/>
          </a:prstGeom>
          <a:solidFill>
            <a:srgbClr val="DEEBF7"/>
          </a:solidFill>
        </p:spPr>
        <p:txBody>
          <a:bodyPr/>
          <a:lstStyle/>
          <a:p>
            <a:endParaRPr/>
          </a:p>
        </p:txBody>
      </p:sp>
      <p:sp>
        <p:nvSpPr>
          <p:cNvPr id="23" name="Shape 23"/>
          <p:cNvSpPr/>
          <p:nvPr/>
        </p:nvSpPr>
        <p:spPr>
          <a:xfrm>
            <a:off x="1960372" y="3271647"/>
            <a:ext cx="4261612" cy="2583866"/>
          </a:xfrm>
          <a:prstGeom prst="ellipse">
            <a:avLst/>
          </a:prstGeom>
          <a:noFill/>
          <a:ln w="12700">
            <a:solidFill>
              <a:srgbClr val="44546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869290" y="174539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605100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5698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78662" y="1740041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57477" y="1740041"/>
            <a:ext cx="16759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17497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어떤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96033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66137" y="1740041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323590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89122" y="174004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대하여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06926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175506" y="1740041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14774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84878" y="174004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02936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71516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수준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750052" y="1740041"/>
            <a:ext cx="35035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08" dirty="0">
                <a:solidFill>
                  <a:srgbClr val="000000"/>
                </a:solidFill>
                <a:latin typeface="나눔고딕 2"/>
                <a:cs typeface="나눔고딕 2"/>
              </a:rPr>
              <a:t>(R)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094476" y="1740041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을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33744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99276" y="174004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허용할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117334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185914" y="1740041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425182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495286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없을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73822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043926" y="1740041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때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9290" y="212704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605100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85698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78662" y="2121703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657477" y="2121703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817497" y="212170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056765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126869" y="21217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844673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913253" y="2121703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수준을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631438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700018" y="21217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사회적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417822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484878" y="21217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963668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033772" y="21217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751576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818632" y="21217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수준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297168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367272" y="2121703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이하로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085330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152386" y="2121703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감소시킬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109458" y="2121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176514" y="21217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경우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69290" y="2502703"/>
            <a:ext cx="11875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0" dirty="0">
                <a:solidFill>
                  <a:srgbClr val="000000"/>
                </a:solidFill>
                <a:latin typeface="나눔고딕 2"/>
                <a:cs typeface="나눔고딕 2"/>
              </a:rPr>
              <a:t>              -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033905" y="25027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개인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512441" y="2502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657221" y="25027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조직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136138" y="2502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204718" y="25027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683254" y="2502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3753358" y="25027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사회가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471162" y="2502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538218" y="2502703"/>
            <a:ext cx="146428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노력함으로써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972556" y="2502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039612" y="25027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가능</a:t>
            </a:r>
          </a:p>
        </p:txBody>
      </p:sp>
      <p:sp>
        <p:nvSpPr>
          <p:cNvPr id="84" name="Shape 84"/>
          <p:cNvSpPr/>
          <p:nvPr/>
        </p:nvSpPr>
        <p:spPr>
          <a:xfrm>
            <a:off x="3109595" y="4295140"/>
            <a:ext cx="2030095" cy="1224788"/>
          </a:xfrm>
          <a:prstGeom prst="ellipse">
            <a:avLst/>
          </a:prstGeom>
          <a:solidFill>
            <a:srgbClr val="9DC3E6"/>
          </a:solidFill>
        </p:spPr>
        <p:txBody>
          <a:bodyPr/>
          <a:lstStyle/>
          <a:p>
            <a:endParaRPr/>
          </a:p>
        </p:txBody>
      </p:sp>
      <p:sp>
        <p:nvSpPr>
          <p:cNvPr id="85" name="Shape 85"/>
          <p:cNvSpPr/>
          <p:nvPr/>
        </p:nvSpPr>
        <p:spPr>
          <a:xfrm>
            <a:off x="3109595" y="4295140"/>
            <a:ext cx="2030095" cy="1224788"/>
          </a:xfrm>
          <a:prstGeom prst="ellipse">
            <a:avLst/>
          </a:prstGeom>
          <a:noFill/>
          <a:ln w="12700">
            <a:solidFill>
              <a:srgbClr val="44546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6" name="TextBox 86"/>
          <p:cNvSpPr txBox="1"/>
          <p:nvPr/>
        </p:nvSpPr>
        <p:spPr>
          <a:xfrm>
            <a:off x="3434461" y="4796323"/>
            <a:ext cx="13144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안전(R≤SR)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3415919" y="3832774"/>
            <a:ext cx="128871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위험(R›SR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4679569" y="3832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687568" y="5647883"/>
            <a:ext cx="3133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95" dirty="0">
                <a:solidFill>
                  <a:srgbClr val="000000"/>
                </a:solidFill>
                <a:latin typeface="나눔고딕 2"/>
                <a:cs typeface="나눔고딕 2"/>
              </a:rPr>
              <a:t>R: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5994146" y="56478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711950" y="5647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6780530" y="5647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수준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5687568" y="6028883"/>
            <a:ext cx="4548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7" dirty="0">
                <a:solidFill>
                  <a:srgbClr val="000000"/>
                </a:solidFill>
                <a:latin typeface="나눔고딕 2"/>
                <a:cs typeface="나눔고딕 2"/>
              </a:rPr>
              <a:t>SR: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6132830" y="60288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사회적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6850634" y="6028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917690" y="6028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7396226" y="6028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7466330" y="6028883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8184515" y="6028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251571" y="6028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수준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44373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2)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93369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위험과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679702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757426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안전을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둘러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420747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2504567" y="103886"/>
            <a:ext cx="29224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싼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2791079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2876423" y="103886"/>
            <a:ext cx="58448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01671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44" dirty="0">
                <a:solidFill>
                  <a:srgbClr val="806B00"/>
                </a:solidFill>
                <a:latin typeface="나눔고딕 2"/>
                <a:cs typeface="나눔고딕 2"/>
              </a:rPr>
              <a:t>Hazard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4496" y="679170"/>
            <a:ext cx="292534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0100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87876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4741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24196" y="679170"/>
            <a:ext cx="87764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위험과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83986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66282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4373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3)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3369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위험과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79702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57426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44191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21915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사이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6242" y="174539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605100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2650" y="174004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누구나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00479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69059" y="1740041"/>
            <a:ext cx="97740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인정하는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26385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93441" y="174004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위험과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611245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678301" y="1740041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57218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227322" y="1740041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사이에는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84394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249926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어느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28462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798820" y="1740041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쪽으로도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55892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822948" y="1740041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결정하기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780274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847330" y="174004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어려운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565134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82650" y="20455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영역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61211" y="2045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54175" y="2045503"/>
            <a:ext cx="730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불안한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370709" y="2045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437765" y="20455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영역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916301" y="2045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009265" y="204550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248533" y="2045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315589" y="20455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51230" y="2426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15847" y="2426503"/>
            <a:ext cx="18872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A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500251" y="242650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형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739519" y="2426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809623" y="2426503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보다는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527681" y="2426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594737" y="24265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신중한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312541" y="2426503"/>
            <a:ext cx="22726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B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535045" y="24265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형이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013962" y="2426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082542" y="2426503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사회적으로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278882" y="2426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345938" y="24265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널리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824728" y="2426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893308" y="2426503"/>
            <a:ext cx="14628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받아들여지고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325868" y="2426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392924" y="2426503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있음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871714" y="2426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731010" y="5895686"/>
            <a:ext cx="97680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‹불안한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688336" y="58956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755392" y="589568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영역을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473196" y="58956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541776" y="589568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생각하는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499102" y="58956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564634" y="589568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방법에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282438" y="58956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351018" y="589568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따른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829554" y="58956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898515" y="589568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위험과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616319" y="58956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684899" y="589568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안전›</a:t>
            </a:r>
          </a:p>
        </p:txBody>
      </p:sp>
      <p:sp>
        <p:nvSpPr>
          <p:cNvPr id="87" name="Shape 87"/>
          <p:cNvSpPr/>
          <p:nvPr/>
        </p:nvSpPr>
        <p:spPr>
          <a:xfrm>
            <a:off x="1088034" y="3139643"/>
            <a:ext cx="4840478" cy="830504"/>
          </a:xfrm>
          <a:prstGeom prst="rect">
            <a:avLst/>
          </a:prstGeom>
          <a:solidFill>
            <a:srgbClr val="BDD7EE"/>
          </a:solidFill>
        </p:spPr>
        <p:txBody>
          <a:bodyPr/>
          <a:lstStyle/>
          <a:p>
            <a:endParaRPr/>
          </a:p>
        </p:txBody>
      </p:sp>
      <p:sp>
        <p:nvSpPr>
          <p:cNvPr id="88" name="Shape 88"/>
          <p:cNvSpPr/>
          <p:nvPr/>
        </p:nvSpPr>
        <p:spPr>
          <a:xfrm>
            <a:off x="1089431" y="3963162"/>
            <a:ext cx="4840478" cy="1607185"/>
          </a:xfrm>
          <a:prstGeom prst="rect">
            <a:avLst/>
          </a:prstGeom>
          <a:solidFill>
            <a:srgbClr val="DEEBF7"/>
          </a:solidFill>
        </p:spPr>
        <p:txBody>
          <a:bodyPr/>
          <a:lstStyle/>
          <a:p>
            <a:endParaRPr/>
          </a:p>
        </p:txBody>
      </p:sp>
      <p:sp>
        <p:nvSpPr>
          <p:cNvPr id="89" name="Shape 89"/>
          <p:cNvSpPr/>
          <p:nvPr/>
        </p:nvSpPr>
        <p:spPr>
          <a:xfrm>
            <a:off x="1088034" y="3139567"/>
            <a:ext cx="4840453" cy="1"/>
          </a:xfrm>
          <a:custGeom>
            <a:avLst/>
            <a:gdLst/>
            <a:ahLst/>
            <a:cxnLst/>
            <a:rect l="0" t="0" r="4840453" b="1"/>
            <a:pathLst>
              <a:path w="4840453" h="1" fill="none">
                <a:moveTo>
                  <a:pt x="0" y="0"/>
                </a:moveTo>
                <a:lnTo>
                  <a:pt x="4840453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" name="Shape 90"/>
          <p:cNvSpPr/>
          <p:nvPr/>
        </p:nvSpPr>
        <p:spPr>
          <a:xfrm>
            <a:off x="1088034" y="3963162"/>
            <a:ext cx="4840453" cy="1"/>
          </a:xfrm>
          <a:custGeom>
            <a:avLst/>
            <a:gdLst/>
            <a:ahLst/>
            <a:cxnLst/>
            <a:rect l="0" t="0" r="4840453" b="1"/>
            <a:pathLst>
              <a:path w="4840453" h="1" fill="none">
                <a:moveTo>
                  <a:pt x="0" y="0"/>
                </a:moveTo>
                <a:lnTo>
                  <a:pt x="4840453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" name="Shape 91"/>
          <p:cNvSpPr/>
          <p:nvPr/>
        </p:nvSpPr>
        <p:spPr>
          <a:xfrm>
            <a:off x="2665222" y="3139567"/>
            <a:ext cx="1" cy="823595"/>
          </a:xfrm>
          <a:custGeom>
            <a:avLst/>
            <a:gdLst/>
            <a:ahLst/>
            <a:cxnLst/>
            <a:rect l="0" t="0" r="1" b="823595"/>
            <a:pathLst>
              <a:path w="1" h="823595" fill="none">
                <a:moveTo>
                  <a:pt x="0" y="0"/>
                </a:moveTo>
                <a:lnTo>
                  <a:pt x="0" y="823595"/>
                </a:lnTo>
              </a:path>
            </a:pathLst>
          </a:custGeom>
          <a:noFill/>
          <a:ln w="63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2" name="Shape 92"/>
          <p:cNvSpPr/>
          <p:nvPr/>
        </p:nvSpPr>
        <p:spPr>
          <a:xfrm>
            <a:off x="4277233" y="3146552"/>
            <a:ext cx="1" cy="1710690"/>
          </a:xfrm>
          <a:custGeom>
            <a:avLst/>
            <a:gdLst/>
            <a:ahLst/>
            <a:cxnLst/>
            <a:rect l="0" t="0" r="1" b="1710690"/>
            <a:pathLst>
              <a:path w="1" h="1710690" fill="none">
                <a:moveTo>
                  <a:pt x="0" y="0"/>
                </a:moveTo>
                <a:lnTo>
                  <a:pt x="0" y="1710690"/>
                </a:lnTo>
              </a:path>
            </a:pathLst>
          </a:custGeom>
          <a:noFill/>
          <a:ln w="63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3" name="Shape 93"/>
          <p:cNvSpPr/>
          <p:nvPr/>
        </p:nvSpPr>
        <p:spPr>
          <a:xfrm>
            <a:off x="2665222" y="5033010"/>
            <a:ext cx="1397" cy="419481"/>
          </a:xfrm>
          <a:custGeom>
            <a:avLst/>
            <a:gdLst/>
            <a:ahLst/>
            <a:cxnLst/>
            <a:rect l="0" t="0" r="1397" b="419481"/>
            <a:pathLst>
              <a:path w="1397" h="419481" fill="none">
                <a:moveTo>
                  <a:pt x="0" y="0"/>
                </a:moveTo>
                <a:lnTo>
                  <a:pt x="1397" y="419481"/>
                </a:lnTo>
              </a:path>
            </a:pathLst>
          </a:custGeom>
          <a:noFill/>
          <a:ln w="63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" name="Shape 94"/>
          <p:cNvSpPr/>
          <p:nvPr/>
        </p:nvSpPr>
        <p:spPr>
          <a:xfrm>
            <a:off x="5922899" y="3963162"/>
            <a:ext cx="1" cy="1607185"/>
          </a:xfrm>
          <a:custGeom>
            <a:avLst/>
            <a:gdLst/>
            <a:ahLst/>
            <a:cxnLst/>
            <a:rect l="0" t="0" r="1" b="1607185"/>
            <a:pathLst>
              <a:path w="1" h="1607185" fill="none">
                <a:moveTo>
                  <a:pt x="0" y="0"/>
                </a:moveTo>
                <a:lnTo>
                  <a:pt x="0" y="1607185"/>
                </a:lnTo>
              </a:path>
            </a:pathLst>
          </a:custGeom>
          <a:noFill/>
          <a:ln w="63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" name="Shape 95"/>
          <p:cNvSpPr/>
          <p:nvPr/>
        </p:nvSpPr>
        <p:spPr>
          <a:xfrm>
            <a:off x="1088034" y="3963162"/>
            <a:ext cx="1" cy="1607185"/>
          </a:xfrm>
          <a:custGeom>
            <a:avLst/>
            <a:gdLst/>
            <a:ahLst/>
            <a:cxnLst/>
            <a:rect l="0" t="0" r="1" b="1607185"/>
            <a:pathLst>
              <a:path w="1" h="1607185" fill="none">
                <a:moveTo>
                  <a:pt x="0" y="0"/>
                </a:moveTo>
                <a:lnTo>
                  <a:pt x="0" y="1607185"/>
                </a:lnTo>
              </a:path>
            </a:pathLst>
          </a:custGeom>
          <a:noFill/>
          <a:ln w="63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" name="TextBox 96"/>
          <p:cNvSpPr txBox="1"/>
          <p:nvPr/>
        </p:nvSpPr>
        <p:spPr>
          <a:xfrm>
            <a:off x="1536827" y="3297936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안전한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2181479" y="329793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643507" y="3572256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영역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130296" y="3294253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불안한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774948" y="3294253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3236976" y="3568573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영역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760087" y="3275076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위험한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404739" y="327507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866767" y="3549116"/>
            <a:ext cx="438655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영역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077712" y="4180332"/>
            <a:ext cx="37004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spc="114" dirty="0">
                <a:solidFill>
                  <a:srgbClr val="000000"/>
                </a:solidFill>
                <a:latin typeface="나눔고딕 2"/>
                <a:cs typeface="나눔고딕 2"/>
              </a:rPr>
              <a:t>A :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441948" y="4180332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위험이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7147560" y="4180332"/>
            <a:ext cx="876726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검출되지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8007350" y="418033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068310" y="4180332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않으면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6077712" y="4531106"/>
            <a:ext cx="38846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spc="93" dirty="0">
                <a:solidFill>
                  <a:srgbClr val="000000"/>
                </a:solidFill>
                <a:latin typeface="나눔고딕 2"/>
                <a:cs typeface="나눔고딕 2"/>
              </a:rPr>
              <a:t>     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458712" y="4531106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888480" y="4531106"/>
            <a:ext cx="14837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(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033260" y="4531106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7463028" y="453110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7525766" y="4531106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검출형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170418" y="453110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6087110" y="4944745"/>
            <a:ext cx="341131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spc="78" dirty="0">
                <a:solidFill>
                  <a:srgbClr val="000000"/>
                </a:solidFill>
                <a:latin typeface="나눔고딕 2"/>
                <a:cs typeface="나눔고딕 2"/>
              </a:rPr>
              <a:t>B :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6422390" y="4944745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안전을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7067042" y="4944745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7128002" y="4944745"/>
            <a:ext cx="876726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확인하지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7987919" y="4944745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8050403" y="4944745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않으면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6404102" y="5295265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6833870" y="5295265"/>
            <a:ext cx="148376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(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6978650" y="5295265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7408418" y="5295265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7470902" y="5295265"/>
            <a:ext cx="658166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확인형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8115935" y="5295265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29" name="Shape 129"/>
          <p:cNvSpPr/>
          <p:nvPr/>
        </p:nvSpPr>
        <p:spPr>
          <a:xfrm>
            <a:off x="1088022" y="4557522"/>
            <a:ext cx="3189211" cy="96139"/>
          </a:xfrm>
          <a:custGeom>
            <a:avLst/>
            <a:gdLst/>
            <a:ahLst/>
            <a:cxnLst/>
            <a:rect l="0" t="0" r="3189211" b="96139"/>
            <a:pathLst>
              <a:path w="3189211" h="96139" stroke="0">
                <a:moveTo>
                  <a:pt x="6490" y="44831"/>
                </a:moveTo>
                <a:lnTo>
                  <a:pt x="31890" y="44831"/>
                </a:lnTo>
                <a:lnTo>
                  <a:pt x="31890" y="51181"/>
                </a:lnTo>
                <a:lnTo>
                  <a:pt x="6490" y="51181"/>
                </a:lnTo>
                <a:close/>
                <a:moveTo>
                  <a:pt x="50940" y="44831"/>
                </a:moveTo>
                <a:lnTo>
                  <a:pt x="76340" y="44831"/>
                </a:lnTo>
                <a:lnTo>
                  <a:pt x="76340" y="51181"/>
                </a:lnTo>
                <a:lnTo>
                  <a:pt x="50940" y="51181"/>
                </a:lnTo>
                <a:close/>
                <a:moveTo>
                  <a:pt x="95390" y="44831"/>
                </a:moveTo>
                <a:lnTo>
                  <a:pt x="120790" y="44831"/>
                </a:lnTo>
                <a:lnTo>
                  <a:pt x="120790" y="51181"/>
                </a:lnTo>
                <a:lnTo>
                  <a:pt x="95390" y="51181"/>
                </a:lnTo>
                <a:close/>
                <a:moveTo>
                  <a:pt x="139840" y="44831"/>
                </a:moveTo>
                <a:lnTo>
                  <a:pt x="165240" y="44831"/>
                </a:lnTo>
                <a:lnTo>
                  <a:pt x="165240" y="51181"/>
                </a:lnTo>
                <a:lnTo>
                  <a:pt x="139840" y="51181"/>
                </a:lnTo>
                <a:close/>
                <a:moveTo>
                  <a:pt x="184264" y="44831"/>
                </a:moveTo>
                <a:lnTo>
                  <a:pt x="209664" y="44831"/>
                </a:lnTo>
                <a:lnTo>
                  <a:pt x="209664" y="51181"/>
                </a:lnTo>
                <a:lnTo>
                  <a:pt x="184264" y="51181"/>
                </a:lnTo>
                <a:close/>
                <a:moveTo>
                  <a:pt x="228714" y="44831"/>
                </a:moveTo>
                <a:lnTo>
                  <a:pt x="254114" y="44831"/>
                </a:lnTo>
                <a:lnTo>
                  <a:pt x="254114" y="51181"/>
                </a:lnTo>
                <a:lnTo>
                  <a:pt x="228714" y="51181"/>
                </a:lnTo>
                <a:close/>
                <a:moveTo>
                  <a:pt x="273164" y="44831"/>
                </a:moveTo>
                <a:lnTo>
                  <a:pt x="298564" y="44831"/>
                </a:lnTo>
                <a:lnTo>
                  <a:pt x="298564" y="51181"/>
                </a:lnTo>
                <a:lnTo>
                  <a:pt x="273164" y="51181"/>
                </a:lnTo>
                <a:close/>
                <a:moveTo>
                  <a:pt x="317614" y="44831"/>
                </a:moveTo>
                <a:lnTo>
                  <a:pt x="343014" y="44831"/>
                </a:lnTo>
                <a:lnTo>
                  <a:pt x="343014" y="51181"/>
                </a:lnTo>
                <a:lnTo>
                  <a:pt x="317614" y="51181"/>
                </a:lnTo>
                <a:close/>
                <a:moveTo>
                  <a:pt x="362064" y="44831"/>
                </a:moveTo>
                <a:lnTo>
                  <a:pt x="387464" y="44831"/>
                </a:lnTo>
                <a:lnTo>
                  <a:pt x="387464" y="51181"/>
                </a:lnTo>
                <a:lnTo>
                  <a:pt x="362064" y="51181"/>
                </a:lnTo>
                <a:close/>
                <a:moveTo>
                  <a:pt x="406514" y="44831"/>
                </a:moveTo>
                <a:lnTo>
                  <a:pt x="431914" y="44831"/>
                </a:lnTo>
                <a:lnTo>
                  <a:pt x="431914" y="51181"/>
                </a:lnTo>
                <a:lnTo>
                  <a:pt x="406514" y="51181"/>
                </a:lnTo>
                <a:close/>
                <a:moveTo>
                  <a:pt x="450964" y="44831"/>
                </a:moveTo>
                <a:lnTo>
                  <a:pt x="476364" y="44831"/>
                </a:lnTo>
                <a:lnTo>
                  <a:pt x="476364" y="51181"/>
                </a:lnTo>
                <a:lnTo>
                  <a:pt x="450964" y="51181"/>
                </a:lnTo>
                <a:close/>
                <a:moveTo>
                  <a:pt x="495414" y="44831"/>
                </a:moveTo>
                <a:lnTo>
                  <a:pt x="520814" y="44831"/>
                </a:lnTo>
                <a:lnTo>
                  <a:pt x="520814" y="51181"/>
                </a:lnTo>
                <a:lnTo>
                  <a:pt x="495414" y="51181"/>
                </a:lnTo>
                <a:close/>
                <a:moveTo>
                  <a:pt x="539864" y="44831"/>
                </a:moveTo>
                <a:lnTo>
                  <a:pt x="565264" y="44831"/>
                </a:lnTo>
                <a:lnTo>
                  <a:pt x="565264" y="51181"/>
                </a:lnTo>
                <a:lnTo>
                  <a:pt x="539864" y="51181"/>
                </a:lnTo>
                <a:close/>
                <a:moveTo>
                  <a:pt x="584314" y="44831"/>
                </a:moveTo>
                <a:lnTo>
                  <a:pt x="609714" y="44831"/>
                </a:lnTo>
                <a:lnTo>
                  <a:pt x="609714" y="51181"/>
                </a:lnTo>
                <a:lnTo>
                  <a:pt x="584314" y="51181"/>
                </a:lnTo>
                <a:close/>
                <a:moveTo>
                  <a:pt x="628764" y="44831"/>
                </a:moveTo>
                <a:lnTo>
                  <a:pt x="654164" y="44831"/>
                </a:lnTo>
                <a:lnTo>
                  <a:pt x="654164" y="51181"/>
                </a:lnTo>
                <a:lnTo>
                  <a:pt x="628764" y="51181"/>
                </a:lnTo>
                <a:close/>
                <a:moveTo>
                  <a:pt x="673214" y="44831"/>
                </a:moveTo>
                <a:lnTo>
                  <a:pt x="698614" y="44831"/>
                </a:lnTo>
                <a:lnTo>
                  <a:pt x="698614" y="51181"/>
                </a:lnTo>
                <a:lnTo>
                  <a:pt x="673214" y="51181"/>
                </a:lnTo>
                <a:close/>
                <a:moveTo>
                  <a:pt x="717664" y="44831"/>
                </a:moveTo>
                <a:lnTo>
                  <a:pt x="743064" y="44831"/>
                </a:lnTo>
                <a:lnTo>
                  <a:pt x="743064" y="51181"/>
                </a:lnTo>
                <a:lnTo>
                  <a:pt x="717664" y="51181"/>
                </a:lnTo>
                <a:close/>
                <a:moveTo>
                  <a:pt x="762114" y="44831"/>
                </a:moveTo>
                <a:lnTo>
                  <a:pt x="787514" y="44831"/>
                </a:lnTo>
                <a:lnTo>
                  <a:pt x="787514" y="51181"/>
                </a:lnTo>
                <a:lnTo>
                  <a:pt x="762114" y="51181"/>
                </a:lnTo>
                <a:close/>
                <a:moveTo>
                  <a:pt x="806564" y="44831"/>
                </a:moveTo>
                <a:lnTo>
                  <a:pt x="831964" y="44831"/>
                </a:lnTo>
                <a:lnTo>
                  <a:pt x="831964" y="51181"/>
                </a:lnTo>
                <a:lnTo>
                  <a:pt x="806564" y="51181"/>
                </a:lnTo>
                <a:close/>
                <a:moveTo>
                  <a:pt x="851014" y="44831"/>
                </a:moveTo>
                <a:lnTo>
                  <a:pt x="876414" y="44831"/>
                </a:lnTo>
                <a:lnTo>
                  <a:pt x="876414" y="51181"/>
                </a:lnTo>
                <a:lnTo>
                  <a:pt x="851014" y="51181"/>
                </a:lnTo>
                <a:close/>
                <a:moveTo>
                  <a:pt x="895464" y="44831"/>
                </a:moveTo>
                <a:lnTo>
                  <a:pt x="920864" y="44831"/>
                </a:lnTo>
                <a:lnTo>
                  <a:pt x="920864" y="51181"/>
                </a:lnTo>
                <a:lnTo>
                  <a:pt x="895464" y="51181"/>
                </a:lnTo>
                <a:close/>
                <a:moveTo>
                  <a:pt x="939914" y="44831"/>
                </a:moveTo>
                <a:lnTo>
                  <a:pt x="965314" y="44831"/>
                </a:lnTo>
                <a:lnTo>
                  <a:pt x="965314" y="51181"/>
                </a:lnTo>
                <a:lnTo>
                  <a:pt x="939914" y="51181"/>
                </a:lnTo>
                <a:close/>
                <a:moveTo>
                  <a:pt x="984364" y="44831"/>
                </a:moveTo>
                <a:lnTo>
                  <a:pt x="1009764" y="44831"/>
                </a:lnTo>
                <a:lnTo>
                  <a:pt x="1009764" y="51181"/>
                </a:lnTo>
                <a:lnTo>
                  <a:pt x="984364" y="51181"/>
                </a:lnTo>
                <a:close/>
                <a:moveTo>
                  <a:pt x="1028814" y="44831"/>
                </a:moveTo>
                <a:lnTo>
                  <a:pt x="1054214" y="44831"/>
                </a:lnTo>
                <a:lnTo>
                  <a:pt x="1054214" y="51181"/>
                </a:lnTo>
                <a:lnTo>
                  <a:pt x="1028814" y="51181"/>
                </a:lnTo>
                <a:close/>
                <a:moveTo>
                  <a:pt x="1073264" y="44831"/>
                </a:moveTo>
                <a:lnTo>
                  <a:pt x="1098664" y="44831"/>
                </a:lnTo>
                <a:lnTo>
                  <a:pt x="1098664" y="51181"/>
                </a:lnTo>
                <a:lnTo>
                  <a:pt x="1073264" y="51181"/>
                </a:lnTo>
                <a:close/>
                <a:moveTo>
                  <a:pt x="1117714" y="44831"/>
                </a:moveTo>
                <a:lnTo>
                  <a:pt x="1143114" y="44831"/>
                </a:lnTo>
                <a:lnTo>
                  <a:pt x="1143114" y="51181"/>
                </a:lnTo>
                <a:lnTo>
                  <a:pt x="1117714" y="51181"/>
                </a:lnTo>
                <a:close/>
                <a:moveTo>
                  <a:pt x="1162164" y="44831"/>
                </a:moveTo>
                <a:lnTo>
                  <a:pt x="1187564" y="44831"/>
                </a:lnTo>
                <a:lnTo>
                  <a:pt x="1187564" y="51181"/>
                </a:lnTo>
                <a:lnTo>
                  <a:pt x="1162164" y="51181"/>
                </a:lnTo>
                <a:close/>
                <a:moveTo>
                  <a:pt x="1206614" y="44831"/>
                </a:moveTo>
                <a:lnTo>
                  <a:pt x="1232014" y="44831"/>
                </a:lnTo>
                <a:lnTo>
                  <a:pt x="1232014" y="51181"/>
                </a:lnTo>
                <a:lnTo>
                  <a:pt x="1206614" y="51181"/>
                </a:lnTo>
                <a:close/>
                <a:moveTo>
                  <a:pt x="1251064" y="44831"/>
                </a:moveTo>
                <a:lnTo>
                  <a:pt x="1276464" y="44831"/>
                </a:lnTo>
                <a:lnTo>
                  <a:pt x="1276464" y="51181"/>
                </a:lnTo>
                <a:lnTo>
                  <a:pt x="1251064" y="51181"/>
                </a:lnTo>
                <a:close/>
                <a:moveTo>
                  <a:pt x="1295514" y="44831"/>
                </a:moveTo>
                <a:lnTo>
                  <a:pt x="1320914" y="44831"/>
                </a:lnTo>
                <a:lnTo>
                  <a:pt x="1320914" y="51181"/>
                </a:lnTo>
                <a:lnTo>
                  <a:pt x="1295514" y="51181"/>
                </a:lnTo>
                <a:close/>
                <a:moveTo>
                  <a:pt x="1339964" y="44831"/>
                </a:moveTo>
                <a:lnTo>
                  <a:pt x="1365364" y="44831"/>
                </a:lnTo>
                <a:lnTo>
                  <a:pt x="1365364" y="51181"/>
                </a:lnTo>
                <a:lnTo>
                  <a:pt x="1339964" y="51181"/>
                </a:lnTo>
                <a:close/>
                <a:moveTo>
                  <a:pt x="1384414" y="44831"/>
                </a:moveTo>
                <a:lnTo>
                  <a:pt x="1409814" y="44831"/>
                </a:lnTo>
                <a:lnTo>
                  <a:pt x="1409814" y="51181"/>
                </a:lnTo>
                <a:lnTo>
                  <a:pt x="1384414" y="51181"/>
                </a:lnTo>
                <a:close/>
                <a:moveTo>
                  <a:pt x="1428864" y="44831"/>
                </a:moveTo>
                <a:lnTo>
                  <a:pt x="1454264" y="44831"/>
                </a:lnTo>
                <a:lnTo>
                  <a:pt x="1454264" y="51181"/>
                </a:lnTo>
                <a:lnTo>
                  <a:pt x="1428864" y="51181"/>
                </a:lnTo>
                <a:close/>
                <a:moveTo>
                  <a:pt x="1473314" y="44831"/>
                </a:moveTo>
                <a:lnTo>
                  <a:pt x="1498714" y="44831"/>
                </a:lnTo>
                <a:lnTo>
                  <a:pt x="1498714" y="51181"/>
                </a:lnTo>
                <a:lnTo>
                  <a:pt x="1473314" y="51181"/>
                </a:lnTo>
                <a:close/>
                <a:moveTo>
                  <a:pt x="1517764" y="44831"/>
                </a:moveTo>
                <a:lnTo>
                  <a:pt x="1543164" y="44831"/>
                </a:lnTo>
                <a:lnTo>
                  <a:pt x="1543164" y="51181"/>
                </a:lnTo>
                <a:lnTo>
                  <a:pt x="1517764" y="51181"/>
                </a:lnTo>
                <a:close/>
                <a:moveTo>
                  <a:pt x="1562214" y="44831"/>
                </a:moveTo>
                <a:lnTo>
                  <a:pt x="1587614" y="44831"/>
                </a:lnTo>
                <a:lnTo>
                  <a:pt x="1587614" y="51181"/>
                </a:lnTo>
                <a:lnTo>
                  <a:pt x="1562214" y="51181"/>
                </a:lnTo>
                <a:close/>
                <a:moveTo>
                  <a:pt x="1606664" y="44831"/>
                </a:moveTo>
                <a:lnTo>
                  <a:pt x="1632064" y="44831"/>
                </a:lnTo>
                <a:lnTo>
                  <a:pt x="1632064" y="51181"/>
                </a:lnTo>
                <a:lnTo>
                  <a:pt x="1606664" y="51181"/>
                </a:lnTo>
                <a:close/>
                <a:moveTo>
                  <a:pt x="1651114" y="44831"/>
                </a:moveTo>
                <a:lnTo>
                  <a:pt x="1676514" y="44831"/>
                </a:lnTo>
                <a:lnTo>
                  <a:pt x="1676514" y="51181"/>
                </a:lnTo>
                <a:lnTo>
                  <a:pt x="1651114" y="51181"/>
                </a:lnTo>
                <a:close/>
                <a:moveTo>
                  <a:pt x="1695564" y="44831"/>
                </a:moveTo>
                <a:lnTo>
                  <a:pt x="1720964" y="44831"/>
                </a:lnTo>
                <a:lnTo>
                  <a:pt x="1720964" y="51181"/>
                </a:lnTo>
                <a:lnTo>
                  <a:pt x="1695564" y="51181"/>
                </a:lnTo>
                <a:close/>
                <a:moveTo>
                  <a:pt x="1740014" y="44831"/>
                </a:moveTo>
                <a:lnTo>
                  <a:pt x="1765414" y="44831"/>
                </a:lnTo>
                <a:lnTo>
                  <a:pt x="1765414" y="51181"/>
                </a:lnTo>
                <a:lnTo>
                  <a:pt x="1740014" y="51181"/>
                </a:lnTo>
                <a:close/>
                <a:moveTo>
                  <a:pt x="1784464" y="44831"/>
                </a:moveTo>
                <a:lnTo>
                  <a:pt x="1809864" y="44831"/>
                </a:lnTo>
                <a:lnTo>
                  <a:pt x="1809864" y="51181"/>
                </a:lnTo>
                <a:lnTo>
                  <a:pt x="1784464" y="51181"/>
                </a:lnTo>
                <a:close/>
                <a:moveTo>
                  <a:pt x="1828914" y="44831"/>
                </a:moveTo>
                <a:lnTo>
                  <a:pt x="1854314" y="44831"/>
                </a:lnTo>
                <a:lnTo>
                  <a:pt x="1854314" y="51181"/>
                </a:lnTo>
                <a:lnTo>
                  <a:pt x="1828914" y="51181"/>
                </a:lnTo>
                <a:close/>
                <a:moveTo>
                  <a:pt x="1873364" y="44831"/>
                </a:moveTo>
                <a:lnTo>
                  <a:pt x="1898764" y="44831"/>
                </a:lnTo>
                <a:lnTo>
                  <a:pt x="1898764" y="51181"/>
                </a:lnTo>
                <a:lnTo>
                  <a:pt x="1873364" y="51181"/>
                </a:lnTo>
                <a:close/>
                <a:moveTo>
                  <a:pt x="1917814" y="44831"/>
                </a:moveTo>
                <a:lnTo>
                  <a:pt x="1943214" y="44831"/>
                </a:lnTo>
                <a:lnTo>
                  <a:pt x="1943214" y="51181"/>
                </a:lnTo>
                <a:lnTo>
                  <a:pt x="1917814" y="51181"/>
                </a:lnTo>
                <a:close/>
                <a:moveTo>
                  <a:pt x="1962264" y="44831"/>
                </a:moveTo>
                <a:lnTo>
                  <a:pt x="1987664" y="44831"/>
                </a:lnTo>
                <a:lnTo>
                  <a:pt x="1987664" y="51181"/>
                </a:lnTo>
                <a:lnTo>
                  <a:pt x="1962264" y="51181"/>
                </a:lnTo>
                <a:close/>
                <a:moveTo>
                  <a:pt x="2006714" y="44831"/>
                </a:moveTo>
                <a:lnTo>
                  <a:pt x="2032114" y="44831"/>
                </a:lnTo>
                <a:lnTo>
                  <a:pt x="2032114" y="51181"/>
                </a:lnTo>
                <a:lnTo>
                  <a:pt x="2006714" y="51181"/>
                </a:lnTo>
                <a:close/>
                <a:moveTo>
                  <a:pt x="2051164" y="44831"/>
                </a:moveTo>
                <a:lnTo>
                  <a:pt x="2076564" y="44831"/>
                </a:lnTo>
                <a:lnTo>
                  <a:pt x="2076564" y="51181"/>
                </a:lnTo>
                <a:lnTo>
                  <a:pt x="2051164" y="51181"/>
                </a:lnTo>
                <a:close/>
                <a:moveTo>
                  <a:pt x="2095614" y="44831"/>
                </a:moveTo>
                <a:lnTo>
                  <a:pt x="2121014" y="44831"/>
                </a:lnTo>
                <a:lnTo>
                  <a:pt x="2121014" y="51181"/>
                </a:lnTo>
                <a:lnTo>
                  <a:pt x="2095614" y="51181"/>
                </a:lnTo>
                <a:close/>
                <a:moveTo>
                  <a:pt x="2140064" y="44831"/>
                </a:moveTo>
                <a:lnTo>
                  <a:pt x="2165464" y="44831"/>
                </a:lnTo>
                <a:lnTo>
                  <a:pt x="2165464" y="51181"/>
                </a:lnTo>
                <a:lnTo>
                  <a:pt x="2140064" y="51181"/>
                </a:lnTo>
                <a:close/>
                <a:moveTo>
                  <a:pt x="2184514" y="44831"/>
                </a:moveTo>
                <a:lnTo>
                  <a:pt x="2209914" y="44831"/>
                </a:lnTo>
                <a:lnTo>
                  <a:pt x="2209914" y="51181"/>
                </a:lnTo>
                <a:lnTo>
                  <a:pt x="2184514" y="51181"/>
                </a:lnTo>
                <a:close/>
                <a:moveTo>
                  <a:pt x="2228964" y="44831"/>
                </a:moveTo>
                <a:lnTo>
                  <a:pt x="2254364" y="44831"/>
                </a:lnTo>
                <a:lnTo>
                  <a:pt x="2254364" y="51181"/>
                </a:lnTo>
                <a:lnTo>
                  <a:pt x="2228964" y="51181"/>
                </a:lnTo>
                <a:close/>
                <a:moveTo>
                  <a:pt x="2273414" y="44831"/>
                </a:moveTo>
                <a:lnTo>
                  <a:pt x="2298814" y="44831"/>
                </a:lnTo>
                <a:lnTo>
                  <a:pt x="2298814" y="51181"/>
                </a:lnTo>
                <a:lnTo>
                  <a:pt x="2273414" y="51181"/>
                </a:lnTo>
                <a:close/>
                <a:moveTo>
                  <a:pt x="2317864" y="44831"/>
                </a:moveTo>
                <a:lnTo>
                  <a:pt x="2343264" y="44831"/>
                </a:lnTo>
                <a:lnTo>
                  <a:pt x="2343264" y="51181"/>
                </a:lnTo>
                <a:lnTo>
                  <a:pt x="2317864" y="51181"/>
                </a:lnTo>
                <a:close/>
                <a:moveTo>
                  <a:pt x="2362314" y="44831"/>
                </a:moveTo>
                <a:lnTo>
                  <a:pt x="2387714" y="44831"/>
                </a:lnTo>
                <a:lnTo>
                  <a:pt x="2387714" y="51181"/>
                </a:lnTo>
                <a:lnTo>
                  <a:pt x="2362314" y="51181"/>
                </a:lnTo>
                <a:close/>
                <a:moveTo>
                  <a:pt x="2406764" y="44831"/>
                </a:moveTo>
                <a:lnTo>
                  <a:pt x="2432164" y="44831"/>
                </a:lnTo>
                <a:lnTo>
                  <a:pt x="2432164" y="51181"/>
                </a:lnTo>
                <a:lnTo>
                  <a:pt x="2406764" y="51181"/>
                </a:lnTo>
                <a:close/>
                <a:moveTo>
                  <a:pt x="2451214" y="44831"/>
                </a:moveTo>
                <a:lnTo>
                  <a:pt x="2476614" y="44831"/>
                </a:lnTo>
                <a:lnTo>
                  <a:pt x="2476614" y="51181"/>
                </a:lnTo>
                <a:lnTo>
                  <a:pt x="2451214" y="51181"/>
                </a:lnTo>
                <a:close/>
                <a:moveTo>
                  <a:pt x="2495664" y="44831"/>
                </a:moveTo>
                <a:lnTo>
                  <a:pt x="2521064" y="44831"/>
                </a:lnTo>
                <a:lnTo>
                  <a:pt x="2521064" y="51181"/>
                </a:lnTo>
                <a:lnTo>
                  <a:pt x="2495664" y="51181"/>
                </a:lnTo>
                <a:close/>
                <a:moveTo>
                  <a:pt x="2540114" y="44831"/>
                </a:moveTo>
                <a:lnTo>
                  <a:pt x="2565514" y="44831"/>
                </a:lnTo>
                <a:lnTo>
                  <a:pt x="2565514" y="51181"/>
                </a:lnTo>
                <a:lnTo>
                  <a:pt x="2540114" y="51181"/>
                </a:lnTo>
                <a:close/>
                <a:moveTo>
                  <a:pt x="2584564" y="44831"/>
                </a:moveTo>
                <a:lnTo>
                  <a:pt x="2609964" y="44831"/>
                </a:lnTo>
                <a:lnTo>
                  <a:pt x="2609964" y="51181"/>
                </a:lnTo>
                <a:lnTo>
                  <a:pt x="2584564" y="51181"/>
                </a:lnTo>
                <a:close/>
                <a:moveTo>
                  <a:pt x="2629014" y="44831"/>
                </a:moveTo>
                <a:lnTo>
                  <a:pt x="2654414" y="44831"/>
                </a:lnTo>
                <a:lnTo>
                  <a:pt x="2654414" y="51181"/>
                </a:lnTo>
                <a:lnTo>
                  <a:pt x="2629014" y="51181"/>
                </a:lnTo>
                <a:close/>
                <a:moveTo>
                  <a:pt x="2673464" y="44831"/>
                </a:moveTo>
                <a:lnTo>
                  <a:pt x="2698864" y="44831"/>
                </a:lnTo>
                <a:lnTo>
                  <a:pt x="2698864" y="51181"/>
                </a:lnTo>
                <a:lnTo>
                  <a:pt x="2673464" y="51181"/>
                </a:lnTo>
                <a:close/>
                <a:moveTo>
                  <a:pt x="2717914" y="44831"/>
                </a:moveTo>
                <a:lnTo>
                  <a:pt x="2743314" y="44831"/>
                </a:lnTo>
                <a:lnTo>
                  <a:pt x="2743314" y="51181"/>
                </a:lnTo>
                <a:lnTo>
                  <a:pt x="2717914" y="51181"/>
                </a:lnTo>
                <a:close/>
                <a:moveTo>
                  <a:pt x="2762364" y="44831"/>
                </a:moveTo>
                <a:lnTo>
                  <a:pt x="2787764" y="44831"/>
                </a:lnTo>
                <a:lnTo>
                  <a:pt x="2787764" y="51181"/>
                </a:lnTo>
                <a:lnTo>
                  <a:pt x="2762364" y="51181"/>
                </a:lnTo>
                <a:close/>
                <a:moveTo>
                  <a:pt x="2806814" y="44831"/>
                </a:moveTo>
                <a:lnTo>
                  <a:pt x="2832214" y="44831"/>
                </a:lnTo>
                <a:lnTo>
                  <a:pt x="2832214" y="51181"/>
                </a:lnTo>
                <a:lnTo>
                  <a:pt x="2806814" y="51181"/>
                </a:lnTo>
                <a:close/>
                <a:moveTo>
                  <a:pt x="2851264" y="44831"/>
                </a:moveTo>
                <a:lnTo>
                  <a:pt x="2876664" y="44831"/>
                </a:lnTo>
                <a:lnTo>
                  <a:pt x="2876664" y="51181"/>
                </a:lnTo>
                <a:lnTo>
                  <a:pt x="2851264" y="51181"/>
                </a:lnTo>
                <a:close/>
                <a:moveTo>
                  <a:pt x="2895714" y="44831"/>
                </a:moveTo>
                <a:lnTo>
                  <a:pt x="2921114" y="44831"/>
                </a:lnTo>
                <a:lnTo>
                  <a:pt x="2921114" y="51181"/>
                </a:lnTo>
                <a:lnTo>
                  <a:pt x="2895714" y="51181"/>
                </a:lnTo>
                <a:close/>
                <a:moveTo>
                  <a:pt x="2940164" y="44831"/>
                </a:moveTo>
                <a:lnTo>
                  <a:pt x="2965564" y="44831"/>
                </a:lnTo>
                <a:lnTo>
                  <a:pt x="2965564" y="51181"/>
                </a:lnTo>
                <a:lnTo>
                  <a:pt x="2940164" y="51181"/>
                </a:lnTo>
                <a:close/>
                <a:moveTo>
                  <a:pt x="2984614" y="44831"/>
                </a:moveTo>
                <a:lnTo>
                  <a:pt x="3010014" y="44831"/>
                </a:lnTo>
                <a:lnTo>
                  <a:pt x="3010014" y="51181"/>
                </a:lnTo>
                <a:lnTo>
                  <a:pt x="2984614" y="51181"/>
                </a:lnTo>
                <a:close/>
                <a:moveTo>
                  <a:pt x="3029064" y="44831"/>
                </a:moveTo>
                <a:lnTo>
                  <a:pt x="3054464" y="44831"/>
                </a:lnTo>
                <a:lnTo>
                  <a:pt x="3054464" y="51181"/>
                </a:lnTo>
                <a:lnTo>
                  <a:pt x="3029064" y="51181"/>
                </a:lnTo>
                <a:close/>
                <a:moveTo>
                  <a:pt x="3073514" y="44831"/>
                </a:moveTo>
                <a:lnTo>
                  <a:pt x="3098914" y="44831"/>
                </a:lnTo>
                <a:lnTo>
                  <a:pt x="3098914" y="51181"/>
                </a:lnTo>
                <a:lnTo>
                  <a:pt x="3073514" y="51181"/>
                </a:lnTo>
                <a:close/>
                <a:moveTo>
                  <a:pt x="3117964" y="44831"/>
                </a:moveTo>
                <a:lnTo>
                  <a:pt x="3143364" y="44831"/>
                </a:lnTo>
                <a:lnTo>
                  <a:pt x="3143364" y="51181"/>
                </a:lnTo>
                <a:lnTo>
                  <a:pt x="3117964" y="51181"/>
                </a:lnTo>
                <a:close/>
                <a:moveTo>
                  <a:pt x="3162414" y="44831"/>
                </a:moveTo>
                <a:lnTo>
                  <a:pt x="3182988" y="44831"/>
                </a:lnTo>
                <a:lnTo>
                  <a:pt x="3182988" y="51181"/>
                </a:lnTo>
                <a:lnTo>
                  <a:pt x="3162414" y="51181"/>
                </a:lnTo>
                <a:close/>
                <a:moveTo>
                  <a:pt x="80899" y="95250"/>
                </a:moveTo>
                <a:lnTo>
                  <a:pt x="0" y="48006"/>
                </a:lnTo>
                <a:lnTo>
                  <a:pt x="80899" y="889"/>
                </a:lnTo>
                <a:cubicBezTo>
                  <a:pt x="82410" y="0"/>
                  <a:pt x="84353" y="508"/>
                  <a:pt x="85242" y="2032"/>
                </a:cubicBezTo>
                <a:cubicBezTo>
                  <a:pt x="86131" y="3556"/>
                  <a:pt x="85611" y="5461"/>
                  <a:pt x="84099" y="6350"/>
                </a:cubicBezTo>
                <a:lnTo>
                  <a:pt x="7899" y="50800"/>
                </a:lnTo>
                <a:lnTo>
                  <a:pt x="7899" y="45339"/>
                </a:lnTo>
                <a:lnTo>
                  <a:pt x="84099" y="89789"/>
                </a:lnTo>
                <a:cubicBezTo>
                  <a:pt x="85611" y="90678"/>
                  <a:pt x="86131" y="92583"/>
                  <a:pt x="85242" y="94107"/>
                </a:cubicBezTo>
                <a:cubicBezTo>
                  <a:pt x="84353" y="95631"/>
                  <a:pt x="82410" y="96139"/>
                  <a:pt x="80899" y="95250"/>
                </a:cubicBezTo>
                <a:close/>
                <a:moveTo>
                  <a:pt x="3108313" y="889"/>
                </a:moveTo>
                <a:lnTo>
                  <a:pt x="3189211" y="48006"/>
                </a:lnTo>
                <a:lnTo>
                  <a:pt x="3108313" y="95250"/>
                </a:lnTo>
                <a:cubicBezTo>
                  <a:pt x="3106788" y="96139"/>
                  <a:pt x="3104883" y="95631"/>
                  <a:pt x="3103994" y="94107"/>
                </a:cubicBezTo>
                <a:cubicBezTo>
                  <a:pt x="3103105" y="92583"/>
                  <a:pt x="3103613" y="90678"/>
                  <a:pt x="3105138" y="89789"/>
                </a:cubicBezTo>
                <a:lnTo>
                  <a:pt x="3181338" y="45339"/>
                </a:lnTo>
                <a:lnTo>
                  <a:pt x="3181338" y="50800"/>
                </a:lnTo>
                <a:lnTo>
                  <a:pt x="3105138" y="6350"/>
                </a:lnTo>
                <a:cubicBezTo>
                  <a:pt x="3103613" y="5461"/>
                  <a:pt x="3103105" y="3556"/>
                  <a:pt x="3103994" y="2032"/>
                </a:cubicBezTo>
                <a:cubicBezTo>
                  <a:pt x="3104883" y="508"/>
                  <a:pt x="3106788" y="0"/>
                  <a:pt x="3108313" y="889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130" name="Shape 130"/>
          <p:cNvSpPr/>
          <p:nvPr/>
        </p:nvSpPr>
        <p:spPr>
          <a:xfrm>
            <a:off x="4269232" y="4558919"/>
            <a:ext cx="1660652" cy="96139"/>
          </a:xfrm>
          <a:custGeom>
            <a:avLst/>
            <a:gdLst/>
            <a:ahLst/>
            <a:cxnLst/>
            <a:rect l="0" t="0" r="1660652" b="96139"/>
            <a:pathLst>
              <a:path w="1660652" h="96139" stroke="0">
                <a:moveTo>
                  <a:pt x="6223" y="44831"/>
                </a:moveTo>
                <a:lnTo>
                  <a:pt x="31623" y="44831"/>
                </a:lnTo>
                <a:lnTo>
                  <a:pt x="31623" y="51181"/>
                </a:lnTo>
                <a:lnTo>
                  <a:pt x="6223" y="51181"/>
                </a:lnTo>
                <a:close/>
                <a:moveTo>
                  <a:pt x="50673" y="44831"/>
                </a:moveTo>
                <a:lnTo>
                  <a:pt x="76073" y="44831"/>
                </a:lnTo>
                <a:lnTo>
                  <a:pt x="76073" y="51181"/>
                </a:lnTo>
                <a:lnTo>
                  <a:pt x="50673" y="51181"/>
                </a:lnTo>
                <a:close/>
                <a:moveTo>
                  <a:pt x="95123" y="44831"/>
                </a:moveTo>
                <a:lnTo>
                  <a:pt x="120523" y="44831"/>
                </a:lnTo>
                <a:lnTo>
                  <a:pt x="120523" y="51181"/>
                </a:lnTo>
                <a:lnTo>
                  <a:pt x="95123" y="51181"/>
                </a:lnTo>
                <a:close/>
                <a:moveTo>
                  <a:pt x="139573" y="44831"/>
                </a:moveTo>
                <a:lnTo>
                  <a:pt x="164973" y="44831"/>
                </a:lnTo>
                <a:lnTo>
                  <a:pt x="164973" y="51181"/>
                </a:lnTo>
                <a:lnTo>
                  <a:pt x="139573" y="51181"/>
                </a:lnTo>
                <a:close/>
                <a:moveTo>
                  <a:pt x="184023" y="44831"/>
                </a:moveTo>
                <a:lnTo>
                  <a:pt x="209423" y="44831"/>
                </a:lnTo>
                <a:lnTo>
                  <a:pt x="209423" y="51181"/>
                </a:lnTo>
                <a:lnTo>
                  <a:pt x="184023" y="51181"/>
                </a:lnTo>
                <a:close/>
                <a:moveTo>
                  <a:pt x="228473" y="44831"/>
                </a:moveTo>
                <a:lnTo>
                  <a:pt x="253873" y="44831"/>
                </a:lnTo>
                <a:lnTo>
                  <a:pt x="253873" y="51181"/>
                </a:lnTo>
                <a:lnTo>
                  <a:pt x="228473" y="51181"/>
                </a:lnTo>
                <a:close/>
                <a:moveTo>
                  <a:pt x="272923" y="44831"/>
                </a:moveTo>
                <a:lnTo>
                  <a:pt x="298323" y="44831"/>
                </a:lnTo>
                <a:lnTo>
                  <a:pt x="298323" y="51181"/>
                </a:lnTo>
                <a:lnTo>
                  <a:pt x="272923" y="51181"/>
                </a:lnTo>
                <a:close/>
                <a:moveTo>
                  <a:pt x="317373" y="44831"/>
                </a:moveTo>
                <a:lnTo>
                  <a:pt x="342773" y="44831"/>
                </a:lnTo>
                <a:lnTo>
                  <a:pt x="342773" y="51181"/>
                </a:lnTo>
                <a:lnTo>
                  <a:pt x="317373" y="51181"/>
                </a:lnTo>
                <a:close/>
                <a:moveTo>
                  <a:pt x="361823" y="44831"/>
                </a:moveTo>
                <a:lnTo>
                  <a:pt x="387223" y="44831"/>
                </a:lnTo>
                <a:lnTo>
                  <a:pt x="387223" y="51181"/>
                </a:lnTo>
                <a:lnTo>
                  <a:pt x="361823" y="51181"/>
                </a:lnTo>
                <a:close/>
                <a:moveTo>
                  <a:pt x="406273" y="44831"/>
                </a:moveTo>
                <a:lnTo>
                  <a:pt x="431673" y="44831"/>
                </a:lnTo>
                <a:lnTo>
                  <a:pt x="431673" y="51181"/>
                </a:lnTo>
                <a:lnTo>
                  <a:pt x="406273" y="51181"/>
                </a:lnTo>
                <a:close/>
                <a:moveTo>
                  <a:pt x="450723" y="44831"/>
                </a:moveTo>
                <a:lnTo>
                  <a:pt x="476123" y="44831"/>
                </a:lnTo>
                <a:lnTo>
                  <a:pt x="476123" y="51181"/>
                </a:lnTo>
                <a:lnTo>
                  <a:pt x="450723" y="51181"/>
                </a:lnTo>
                <a:close/>
                <a:moveTo>
                  <a:pt x="495173" y="44831"/>
                </a:moveTo>
                <a:lnTo>
                  <a:pt x="520573" y="44831"/>
                </a:lnTo>
                <a:lnTo>
                  <a:pt x="520573" y="51181"/>
                </a:lnTo>
                <a:lnTo>
                  <a:pt x="495173" y="51181"/>
                </a:lnTo>
                <a:close/>
                <a:moveTo>
                  <a:pt x="539623" y="44831"/>
                </a:moveTo>
                <a:lnTo>
                  <a:pt x="565023" y="44831"/>
                </a:lnTo>
                <a:lnTo>
                  <a:pt x="565023" y="51181"/>
                </a:lnTo>
                <a:lnTo>
                  <a:pt x="539623" y="51181"/>
                </a:lnTo>
                <a:close/>
                <a:moveTo>
                  <a:pt x="584073" y="44831"/>
                </a:moveTo>
                <a:lnTo>
                  <a:pt x="609473" y="44831"/>
                </a:lnTo>
                <a:lnTo>
                  <a:pt x="609473" y="51181"/>
                </a:lnTo>
                <a:lnTo>
                  <a:pt x="584073" y="51181"/>
                </a:lnTo>
                <a:close/>
                <a:moveTo>
                  <a:pt x="628523" y="44831"/>
                </a:moveTo>
                <a:lnTo>
                  <a:pt x="653923" y="44831"/>
                </a:lnTo>
                <a:lnTo>
                  <a:pt x="653923" y="51181"/>
                </a:lnTo>
                <a:lnTo>
                  <a:pt x="628523" y="51181"/>
                </a:lnTo>
                <a:close/>
                <a:moveTo>
                  <a:pt x="672973" y="44831"/>
                </a:moveTo>
                <a:lnTo>
                  <a:pt x="698373" y="44831"/>
                </a:lnTo>
                <a:lnTo>
                  <a:pt x="698373" y="51181"/>
                </a:lnTo>
                <a:lnTo>
                  <a:pt x="672973" y="51181"/>
                </a:lnTo>
                <a:close/>
                <a:moveTo>
                  <a:pt x="717423" y="44831"/>
                </a:moveTo>
                <a:lnTo>
                  <a:pt x="742823" y="44831"/>
                </a:lnTo>
                <a:lnTo>
                  <a:pt x="742823" y="51181"/>
                </a:lnTo>
                <a:lnTo>
                  <a:pt x="717423" y="51181"/>
                </a:lnTo>
                <a:close/>
                <a:moveTo>
                  <a:pt x="761873" y="44831"/>
                </a:moveTo>
                <a:lnTo>
                  <a:pt x="787273" y="44831"/>
                </a:lnTo>
                <a:lnTo>
                  <a:pt x="787273" y="51181"/>
                </a:lnTo>
                <a:lnTo>
                  <a:pt x="761873" y="51181"/>
                </a:lnTo>
                <a:close/>
                <a:moveTo>
                  <a:pt x="806323" y="44831"/>
                </a:moveTo>
                <a:lnTo>
                  <a:pt x="831723" y="44831"/>
                </a:lnTo>
                <a:lnTo>
                  <a:pt x="831723" y="51181"/>
                </a:lnTo>
                <a:lnTo>
                  <a:pt x="806323" y="51181"/>
                </a:lnTo>
                <a:close/>
                <a:moveTo>
                  <a:pt x="850773" y="44831"/>
                </a:moveTo>
                <a:lnTo>
                  <a:pt x="876173" y="44831"/>
                </a:lnTo>
                <a:lnTo>
                  <a:pt x="876173" y="51181"/>
                </a:lnTo>
                <a:lnTo>
                  <a:pt x="850773" y="51181"/>
                </a:lnTo>
                <a:close/>
                <a:moveTo>
                  <a:pt x="895223" y="44831"/>
                </a:moveTo>
                <a:lnTo>
                  <a:pt x="920623" y="44831"/>
                </a:lnTo>
                <a:lnTo>
                  <a:pt x="920623" y="51181"/>
                </a:lnTo>
                <a:lnTo>
                  <a:pt x="895223" y="51181"/>
                </a:lnTo>
                <a:close/>
                <a:moveTo>
                  <a:pt x="939673" y="44831"/>
                </a:moveTo>
                <a:lnTo>
                  <a:pt x="965073" y="44831"/>
                </a:lnTo>
                <a:lnTo>
                  <a:pt x="965073" y="51181"/>
                </a:lnTo>
                <a:lnTo>
                  <a:pt x="939673" y="51181"/>
                </a:lnTo>
                <a:close/>
                <a:moveTo>
                  <a:pt x="984123" y="44831"/>
                </a:moveTo>
                <a:lnTo>
                  <a:pt x="1009523" y="44831"/>
                </a:lnTo>
                <a:lnTo>
                  <a:pt x="1009523" y="51181"/>
                </a:lnTo>
                <a:lnTo>
                  <a:pt x="984123" y="51181"/>
                </a:lnTo>
                <a:close/>
                <a:moveTo>
                  <a:pt x="1028573" y="44831"/>
                </a:moveTo>
                <a:lnTo>
                  <a:pt x="1053973" y="44831"/>
                </a:lnTo>
                <a:lnTo>
                  <a:pt x="1053973" y="51181"/>
                </a:lnTo>
                <a:lnTo>
                  <a:pt x="1028573" y="51181"/>
                </a:lnTo>
                <a:close/>
                <a:moveTo>
                  <a:pt x="1073023" y="44831"/>
                </a:moveTo>
                <a:lnTo>
                  <a:pt x="1098423" y="44831"/>
                </a:lnTo>
                <a:lnTo>
                  <a:pt x="1098423" y="51181"/>
                </a:lnTo>
                <a:lnTo>
                  <a:pt x="1073023" y="51181"/>
                </a:lnTo>
                <a:close/>
                <a:moveTo>
                  <a:pt x="1117473" y="44831"/>
                </a:moveTo>
                <a:lnTo>
                  <a:pt x="1142873" y="44831"/>
                </a:lnTo>
                <a:lnTo>
                  <a:pt x="1142873" y="51181"/>
                </a:lnTo>
                <a:lnTo>
                  <a:pt x="1117473" y="51181"/>
                </a:lnTo>
                <a:close/>
                <a:moveTo>
                  <a:pt x="1161923" y="44831"/>
                </a:moveTo>
                <a:lnTo>
                  <a:pt x="1187323" y="44831"/>
                </a:lnTo>
                <a:lnTo>
                  <a:pt x="1187323" y="51181"/>
                </a:lnTo>
                <a:lnTo>
                  <a:pt x="1161923" y="51181"/>
                </a:lnTo>
                <a:close/>
                <a:moveTo>
                  <a:pt x="1206373" y="44831"/>
                </a:moveTo>
                <a:lnTo>
                  <a:pt x="1231773" y="44831"/>
                </a:lnTo>
                <a:lnTo>
                  <a:pt x="1231773" y="51181"/>
                </a:lnTo>
                <a:lnTo>
                  <a:pt x="1206373" y="51181"/>
                </a:lnTo>
                <a:close/>
                <a:moveTo>
                  <a:pt x="1250823" y="44831"/>
                </a:moveTo>
                <a:lnTo>
                  <a:pt x="1276223" y="44831"/>
                </a:lnTo>
                <a:lnTo>
                  <a:pt x="1276223" y="51181"/>
                </a:lnTo>
                <a:lnTo>
                  <a:pt x="1250823" y="51181"/>
                </a:lnTo>
                <a:close/>
                <a:moveTo>
                  <a:pt x="1295273" y="44831"/>
                </a:moveTo>
                <a:lnTo>
                  <a:pt x="1320673" y="44831"/>
                </a:lnTo>
                <a:lnTo>
                  <a:pt x="1320673" y="51181"/>
                </a:lnTo>
                <a:lnTo>
                  <a:pt x="1295273" y="51181"/>
                </a:lnTo>
                <a:close/>
                <a:moveTo>
                  <a:pt x="1339723" y="44831"/>
                </a:moveTo>
                <a:lnTo>
                  <a:pt x="1365123" y="44831"/>
                </a:lnTo>
                <a:lnTo>
                  <a:pt x="1365123" y="51181"/>
                </a:lnTo>
                <a:lnTo>
                  <a:pt x="1339723" y="51181"/>
                </a:lnTo>
                <a:close/>
                <a:moveTo>
                  <a:pt x="1384173" y="44831"/>
                </a:moveTo>
                <a:lnTo>
                  <a:pt x="1409573" y="44831"/>
                </a:lnTo>
                <a:lnTo>
                  <a:pt x="1409573" y="51181"/>
                </a:lnTo>
                <a:lnTo>
                  <a:pt x="1384173" y="51181"/>
                </a:lnTo>
                <a:close/>
                <a:moveTo>
                  <a:pt x="1428623" y="44831"/>
                </a:moveTo>
                <a:lnTo>
                  <a:pt x="1454023" y="44831"/>
                </a:lnTo>
                <a:lnTo>
                  <a:pt x="1454023" y="51181"/>
                </a:lnTo>
                <a:lnTo>
                  <a:pt x="1428623" y="51181"/>
                </a:lnTo>
                <a:close/>
                <a:moveTo>
                  <a:pt x="1473073" y="44831"/>
                </a:moveTo>
                <a:lnTo>
                  <a:pt x="1498473" y="44831"/>
                </a:lnTo>
                <a:lnTo>
                  <a:pt x="1498473" y="51181"/>
                </a:lnTo>
                <a:lnTo>
                  <a:pt x="1473073" y="51181"/>
                </a:lnTo>
                <a:close/>
                <a:moveTo>
                  <a:pt x="1517523" y="44831"/>
                </a:moveTo>
                <a:lnTo>
                  <a:pt x="1542923" y="44831"/>
                </a:lnTo>
                <a:lnTo>
                  <a:pt x="1542923" y="51181"/>
                </a:lnTo>
                <a:lnTo>
                  <a:pt x="1517523" y="51181"/>
                </a:lnTo>
                <a:close/>
                <a:moveTo>
                  <a:pt x="1561973" y="44831"/>
                </a:moveTo>
                <a:lnTo>
                  <a:pt x="1587373" y="44831"/>
                </a:lnTo>
                <a:lnTo>
                  <a:pt x="1587373" y="51181"/>
                </a:lnTo>
                <a:lnTo>
                  <a:pt x="1561973" y="51181"/>
                </a:lnTo>
                <a:close/>
                <a:moveTo>
                  <a:pt x="1606423" y="44831"/>
                </a:moveTo>
                <a:lnTo>
                  <a:pt x="1631823" y="44831"/>
                </a:lnTo>
                <a:lnTo>
                  <a:pt x="1631823" y="51181"/>
                </a:lnTo>
                <a:lnTo>
                  <a:pt x="1606423" y="51181"/>
                </a:lnTo>
                <a:close/>
                <a:moveTo>
                  <a:pt x="1650873" y="44831"/>
                </a:moveTo>
                <a:lnTo>
                  <a:pt x="1654429" y="44831"/>
                </a:lnTo>
                <a:lnTo>
                  <a:pt x="1654429" y="51181"/>
                </a:lnTo>
                <a:lnTo>
                  <a:pt x="1650873" y="51181"/>
                </a:lnTo>
                <a:close/>
                <a:moveTo>
                  <a:pt x="80899" y="95250"/>
                </a:moveTo>
                <a:lnTo>
                  <a:pt x="0" y="48006"/>
                </a:lnTo>
                <a:lnTo>
                  <a:pt x="80899" y="889"/>
                </a:lnTo>
                <a:cubicBezTo>
                  <a:pt x="82423" y="0"/>
                  <a:pt x="84328" y="508"/>
                  <a:pt x="85217" y="2032"/>
                </a:cubicBezTo>
                <a:cubicBezTo>
                  <a:pt x="86106" y="3556"/>
                  <a:pt x="85598" y="5461"/>
                  <a:pt x="84074" y="6350"/>
                </a:cubicBezTo>
                <a:lnTo>
                  <a:pt x="7874" y="50800"/>
                </a:lnTo>
                <a:lnTo>
                  <a:pt x="7874" y="45339"/>
                </a:lnTo>
                <a:lnTo>
                  <a:pt x="84074" y="89789"/>
                </a:lnTo>
                <a:cubicBezTo>
                  <a:pt x="85598" y="90678"/>
                  <a:pt x="86106" y="92583"/>
                  <a:pt x="85217" y="94107"/>
                </a:cubicBezTo>
                <a:cubicBezTo>
                  <a:pt x="84328" y="95631"/>
                  <a:pt x="82423" y="96139"/>
                  <a:pt x="80899" y="95250"/>
                </a:cubicBezTo>
                <a:close/>
                <a:moveTo>
                  <a:pt x="1579753" y="889"/>
                </a:moveTo>
                <a:lnTo>
                  <a:pt x="1660652" y="48006"/>
                </a:lnTo>
                <a:lnTo>
                  <a:pt x="1579753" y="95250"/>
                </a:lnTo>
                <a:cubicBezTo>
                  <a:pt x="1578229" y="96139"/>
                  <a:pt x="1576324" y="95631"/>
                  <a:pt x="1575435" y="94107"/>
                </a:cubicBezTo>
                <a:cubicBezTo>
                  <a:pt x="1574546" y="92583"/>
                  <a:pt x="1575054" y="90678"/>
                  <a:pt x="1576578" y="89789"/>
                </a:cubicBezTo>
                <a:lnTo>
                  <a:pt x="1652778" y="45339"/>
                </a:lnTo>
                <a:lnTo>
                  <a:pt x="1652778" y="50800"/>
                </a:lnTo>
                <a:lnTo>
                  <a:pt x="1576578" y="6350"/>
                </a:lnTo>
                <a:cubicBezTo>
                  <a:pt x="1575054" y="5461"/>
                  <a:pt x="1574546" y="3556"/>
                  <a:pt x="1575435" y="2032"/>
                </a:cubicBezTo>
                <a:cubicBezTo>
                  <a:pt x="1576324" y="508"/>
                  <a:pt x="1578229" y="0"/>
                  <a:pt x="1579753" y="889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131" name="Shape 131"/>
          <p:cNvSpPr/>
          <p:nvPr/>
        </p:nvSpPr>
        <p:spPr>
          <a:xfrm>
            <a:off x="1082421" y="5177536"/>
            <a:ext cx="1582801" cy="108712"/>
          </a:xfrm>
          <a:custGeom>
            <a:avLst/>
            <a:gdLst/>
            <a:ahLst/>
            <a:cxnLst/>
            <a:rect l="0" t="0" r="1582801" b="108712"/>
            <a:pathLst>
              <a:path w="1582801" h="108712" stroke="0">
                <a:moveTo>
                  <a:pt x="6363" y="44323"/>
                </a:moveTo>
                <a:lnTo>
                  <a:pt x="31763" y="44450"/>
                </a:lnTo>
                <a:lnTo>
                  <a:pt x="31712" y="50800"/>
                </a:lnTo>
                <a:lnTo>
                  <a:pt x="6312" y="50673"/>
                </a:lnTo>
                <a:close/>
                <a:moveTo>
                  <a:pt x="50813" y="44704"/>
                </a:moveTo>
                <a:lnTo>
                  <a:pt x="76213" y="44958"/>
                </a:lnTo>
                <a:lnTo>
                  <a:pt x="76149" y="51308"/>
                </a:lnTo>
                <a:lnTo>
                  <a:pt x="50762" y="51054"/>
                </a:lnTo>
                <a:close/>
                <a:moveTo>
                  <a:pt x="95263" y="45085"/>
                </a:moveTo>
                <a:lnTo>
                  <a:pt x="120663" y="45339"/>
                </a:lnTo>
                <a:lnTo>
                  <a:pt x="120599" y="51689"/>
                </a:lnTo>
                <a:lnTo>
                  <a:pt x="95199" y="51435"/>
                </a:lnTo>
                <a:close/>
                <a:moveTo>
                  <a:pt x="139713" y="45466"/>
                </a:moveTo>
                <a:lnTo>
                  <a:pt x="165113" y="45720"/>
                </a:lnTo>
                <a:lnTo>
                  <a:pt x="165049" y="52070"/>
                </a:lnTo>
                <a:lnTo>
                  <a:pt x="139649" y="51816"/>
                </a:lnTo>
                <a:close/>
                <a:moveTo>
                  <a:pt x="184163" y="45847"/>
                </a:moveTo>
                <a:lnTo>
                  <a:pt x="209550" y="46101"/>
                </a:lnTo>
                <a:lnTo>
                  <a:pt x="209550" y="52451"/>
                </a:lnTo>
                <a:lnTo>
                  <a:pt x="184099" y="52197"/>
                </a:lnTo>
                <a:close/>
                <a:moveTo>
                  <a:pt x="228600" y="46228"/>
                </a:moveTo>
                <a:lnTo>
                  <a:pt x="254000" y="46482"/>
                </a:lnTo>
                <a:lnTo>
                  <a:pt x="254000" y="52832"/>
                </a:lnTo>
                <a:lnTo>
                  <a:pt x="228600" y="52578"/>
                </a:lnTo>
                <a:close/>
                <a:moveTo>
                  <a:pt x="273050" y="46609"/>
                </a:moveTo>
                <a:lnTo>
                  <a:pt x="298450" y="46863"/>
                </a:lnTo>
                <a:lnTo>
                  <a:pt x="298450" y="53213"/>
                </a:lnTo>
                <a:lnTo>
                  <a:pt x="273050" y="52959"/>
                </a:lnTo>
                <a:close/>
                <a:moveTo>
                  <a:pt x="317500" y="46990"/>
                </a:moveTo>
                <a:lnTo>
                  <a:pt x="342900" y="47244"/>
                </a:lnTo>
                <a:lnTo>
                  <a:pt x="342900" y="53594"/>
                </a:lnTo>
                <a:lnTo>
                  <a:pt x="317500" y="53340"/>
                </a:lnTo>
                <a:close/>
                <a:moveTo>
                  <a:pt x="361950" y="47371"/>
                </a:moveTo>
                <a:lnTo>
                  <a:pt x="387350" y="47625"/>
                </a:lnTo>
                <a:lnTo>
                  <a:pt x="387350" y="53975"/>
                </a:lnTo>
                <a:lnTo>
                  <a:pt x="361950" y="53721"/>
                </a:lnTo>
                <a:close/>
                <a:moveTo>
                  <a:pt x="406400" y="47879"/>
                </a:moveTo>
                <a:lnTo>
                  <a:pt x="431800" y="48006"/>
                </a:lnTo>
                <a:lnTo>
                  <a:pt x="431800" y="54356"/>
                </a:lnTo>
                <a:lnTo>
                  <a:pt x="406400" y="54229"/>
                </a:lnTo>
                <a:close/>
                <a:moveTo>
                  <a:pt x="450850" y="48260"/>
                </a:moveTo>
                <a:lnTo>
                  <a:pt x="476250" y="48387"/>
                </a:lnTo>
                <a:lnTo>
                  <a:pt x="476250" y="54737"/>
                </a:lnTo>
                <a:lnTo>
                  <a:pt x="450850" y="54610"/>
                </a:lnTo>
                <a:close/>
                <a:moveTo>
                  <a:pt x="495300" y="48641"/>
                </a:moveTo>
                <a:lnTo>
                  <a:pt x="520700" y="48768"/>
                </a:lnTo>
                <a:lnTo>
                  <a:pt x="520700" y="55118"/>
                </a:lnTo>
                <a:lnTo>
                  <a:pt x="495300" y="54991"/>
                </a:lnTo>
                <a:close/>
                <a:moveTo>
                  <a:pt x="539750" y="49022"/>
                </a:moveTo>
                <a:lnTo>
                  <a:pt x="565150" y="49276"/>
                </a:lnTo>
                <a:lnTo>
                  <a:pt x="565023" y="55626"/>
                </a:lnTo>
                <a:lnTo>
                  <a:pt x="539750" y="55372"/>
                </a:lnTo>
                <a:close/>
                <a:moveTo>
                  <a:pt x="584200" y="49403"/>
                </a:moveTo>
                <a:lnTo>
                  <a:pt x="609600" y="49657"/>
                </a:lnTo>
                <a:lnTo>
                  <a:pt x="609473" y="56007"/>
                </a:lnTo>
                <a:lnTo>
                  <a:pt x="584073" y="55753"/>
                </a:lnTo>
                <a:close/>
                <a:moveTo>
                  <a:pt x="628650" y="49784"/>
                </a:moveTo>
                <a:lnTo>
                  <a:pt x="654050" y="50038"/>
                </a:lnTo>
                <a:lnTo>
                  <a:pt x="653923" y="56388"/>
                </a:lnTo>
                <a:lnTo>
                  <a:pt x="628523" y="56134"/>
                </a:lnTo>
                <a:close/>
                <a:moveTo>
                  <a:pt x="673100" y="50165"/>
                </a:moveTo>
                <a:lnTo>
                  <a:pt x="698500" y="50419"/>
                </a:lnTo>
                <a:lnTo>
                  <a:pt x="698373" y="56769"/>
                </a:lnTo>
                <a:lnTo>
                  <a:pt x="672973" y="56515"/>
                </a:lnTo>
                <a:close/>
                <a:moveTo>
                  <a:pt x="717550" y="50546"/>
                </a:moveTo>
                <a:lnTo>
                  <a:pt x="742950" y="50800"/>
                </a:lnTo>
                <a:lnTo>
                  <a:pt x="742823" y="57150"/>
                </a:lnTo>
                <a:lnTo>
                  <a:pt x="717423" y="56896"/>
                </a:lnTo>
                <a:close/>
                <a:moveTo>
                  <a:pt x="762000" y="50927"/>
                </a:moveTo>
                <a:lnTo>
                  <a:pt x="787400" y="51181"/>
                </a:lnTo>
                <a:lnTo>
                  <a:pt x="787273" y="57531"/>
                </a:lnTo>
                <a:lnTo>
                  <a:pt x="761873" y="57277"/>
                </a:lnTo>
                <a:close/>
                <a:moveTo>
                  <a:pt x="806450" y="51308"/>
                </a:moveTo>
                <a:lnTo>
                  <a:pt x="831850" y="51562"/>
                </a:lnTo>
                <a:lnTo>
                  <a:pt x="831723" y="57912"/>
                </a:lnTo>
                <a:lnTo>
                  <a:pt x="806323" y="57658"/>
                </a:lnTo>
                <a:close/>
                <a:moveTo>
                  <a:pt x="850900" y="51689"/>
                </a:moveTo>
                <a:lnTo>
                  <a:pt x="876300" y="51943"/>
                </a:lnTo>
                <a:lnTo>
                  <a:pt x="876173" y="58293"/>
                </a:lnTo>
                <a:lnTo>
                  <a:pt x="850773" y="58039"/>
                </a:lnTo>
                <a:close/>
                <a:moveTo>
                  <a:pt x="895350" y="52197"/>
                </a:moveTo>
                <a:lnTo>
                  <a:pt x="920750" y="52324"/>
                </a:lnTo>
                <a:lnTo>
                  <a:pt x="920623" y="58674"/>
                </a:lnTo>
                <a:lnTo>
                  <a:pt x="895223" y="58547"/>
                </a:lnTo>
                <a:close/>
                <a:moveTo>
                  <a:pt x="939800" y="52578"/>
                </a:moveTo>
                <a:lnTo>
                  <a:pt x="965200" y="52705"/>
                </a:lnTo>
                <a:lnTo>
                  <a:pt x="965073" y="59055"/>
                </a:lnTo>
                <a:lnTo>
                  <a:pt x="939673" y="58928"/>
                </a:lnTo>
                <a:close/>
                <a:moveTo>
                  <a:pt x="984250" y="52959"/>
                </a:moveTo>
                <a:lnTo>
                  <a:pt x="1009650" y="53086"/>
                </a:lnTo>
                <a:lnTo>
                  <a:pt x="1009523" y="59436"/>
                </a:lnTo>
                <a:lnTo>
                  <a:pt x="984123" y="59309"/>
                </a:lnTo>
                <a:close/>
                <a:moveTo>
                  <a:pt x="1028700" y="53340"/>
                </a:moveTo>
                <a:lnTo>
                  <a:pt x="1054100" y="53594"/>
                </a:lnTo>
                <a:lnTo>
                  <a:pt x="1053973" y="59944"/>
                </a:lnTo>
                <a:lnTo>
                  <a:pt x="1028573" y="59690"/>
                </a:lnTo>
                <a:close/>
                <a:moveTo>
                  <a:pt x="1073150" y="53721"/>
                </a:moveTo>
                <a:lnTo>
                  <a:pt x="1098550" y="53975"/>
                </a:lnTo>
                <a:lnTo>
                  <a:pt x="1098423" y="60325"/>
                </a:lnTo>
                <a:lnTo>
                  <a:pt x="1073023" y="60071"/>
                </a:lnTo>
                <a:close/>
                <a:moveTo>
                  <a:pt x="1117600" y="54102"/>
                </a:moveTo>
                <a:lnTo>
                  <a:pt x="1143000" y="54356"/>
                </a:lnTo>
                <a:lnTo>
                  <a:pt x="1142873" y="60706"/>
                </a:lnTo>
                <a:lnTo>
                  <a:pt x="1117473" y="60452"/>
                </a:lnTo>
                <a:close/>
                <a:moveTo>
                  <a:pt x="1162050" y="54483"/>
                </a:moveTo>
                <a:lnTo>
                  <a:pt x="1187450" y="54737"/>
                </a:lnTo>
                <a:lnTo>
                  <a:pt x="1187323" y="61087"/>
                </a:lnTo>
                <a:lnTo>
                  <a:pt x="1161923" y="60833"/>
                </a:lnTo>
                <a:close/>
                <a:moveTo>
                  <a:pt x="1206500" y="54864"/>
                </a:moveTo>
                <a:lnTo>
                  <a:pt x="1231900" y="55118"/>
                </a:lnTo>
                <a:lnTo>
                  <a:pt x="1231773" y="61468"/>
                </a:lnTo>
                <a:lnTo>
                  <a:pt x="1206373" y="61214"/>
                </a:lnTo>
                <a:close/>
                <a:moveTo>
                  <a:pt x="1250950" y="55245"/>
                </a:moveTo>
                <a:lnTo>
                  <a:pt x="1276350" y="55499"/>
                </a:lnTo>
                <a:lnTo>
                  <a:pt x="1276223" y="61849"/>
                </a:lnTo>
                <a:lnTo>
                  <a:pt x="1250823" y="61595"/>
                </a:lnTo>
                <a:close/>
                <a:moveTo>
                  <a:pt x="1295400" y="55626"/>
                </a:moveTo>
                <a:lnTo>
                  <a:pt x="1320800" y="55880"/>
                </a:lnTo>
                <a:lnTo>
                  <a:pt x="1320673" y="62230"/>
                </a:lnTo>
                <a:lnTo>
                  <a:pt x="1295273" y="61976"/>
                </a:lnTo>
                <a:close/>
                <a:moveTo>
                  <a:pt x="1339850" y="56007"/>
                </a:moveTo>
                <a:lnTo>
                  <a:pt x="1365250" y="56261"/>
                </a:lnTo>
                <a:lnTo>
                  <a:pt x="1365123" y="62611"/>
                </a:lnTo>
                <a:lnTo>
                  <a:pt x="1339723" y="62357"/>
                </a:lnTo>
                <a:close/>
                <a:moveTo>
                  <a:pt x="1384300" y="56515"/>
                </a:moveTo>
                <a:lnTo>
                  <a:pt x="1409700" y="56642"/>
                </a:lnTo>
                <a:lnTo>
                  <a:pt x="1409573" y="62992"/>
                </a:lnTo>
                <a:lnTo>
                  <a:pt x="1384173" y="62865"/>
                </a:lnTo>
                <a:close/>
                <a:moveTo>
                  <a:pt x="1428750" y="56896"/>
                </a:moveTo>
                <a:lnTo>
                  <a:pt x="1454150" y="57023"/>
                </a:lnTo>
                <a:lnTo>
                  <a:pt x="1454023" y="63373"/>
                </a:lnTo>
                <a:lnTo>
                  <a:pt x="1428623" y="63246"/>
                </a:lnTo>
                <a:close/>
                <a:moveTo>
                  <a:pt x="1473200" y="57277"/>
                </a:moveTo>
                <a:lnTo>
                  <a:pt x="1498600" y="57404"/>
                </a:lnTo>
                <a:lnTo>
                  <a:pt x="1498473" y="63754"/>
                </a:lnTo>
                <a:lnTo>
                  <a:pt x="1473073" y="63627"/>
                </a:lnTo>
                <a:close/>
                <a:moveTo>
                  <a:pt x="1517650" y="57658"/>
                </a:moveTo>
                <a:lnTo>
                  <a:pt x="1543050" y="57912"/>
                </a:lnTo>
                <a:lnTo>
                  <a:pt x="1542923" y="64262"/>
                </a:lnTo>
                <a:lnTo>
                  <a:pt x="1517523" y="64008"/>
                </a:lnTo>
                <a:close/>
                <a:moveTo>
                  <a:pt x="1562100" y="58039"/>
                </a:moveTo>
                <a:lnTo>
                  <a:pt x="1576451" y="58166"/>
                </a:lnTo>
                <a:lnTo>
                  <a:pt x="1576451" y="64516"/>
                </a:lnTo>
                <a:lnTo>
                  <a:pt x="1561973" y="64389"/>
                </a:lnTo>
                <a:close/>
                <a:moveTo>
                  <a:pt x="80493" y="95250"/>
                </a:moveTo>
                <a:lnTo>
                  <a:pt x="0" y="47371"/>
                </a:lnTo>
                <a:lnTo>
                  <a:pt x="81318" y="889"/>
                </a:lnTo>
                <a:cubicBezTo>
                  <a:pt x="82842" y="0"/>
                  <a:pt x="84785" y="635"/>
                  <a:pt x="85649" y="2159"/>
                </a:cubicBezTo>
                <a:cubicBezTo>
                  <a:pt x="86525" y="3683"/>
                  <a:pt x="85992" y="5588"/>
                  <a:pt x="84468" y="6477"/>
                </a:cubicBezTo>
                <a:lnTo>
                  <a:pt x="7887" y="50165"/>
                </a:lnTo>
                <a:lnTo>
                  <a:pt x="7925" y="44704"/>
                </a:lnTo>
                <a:lnTo>
                  <a:pt x="83731" y="89916"/>
                </a:lnTo>
                <a:cubicBezTo>
                  <a:pt x="85242" y="90805"/>
                  <a:pt x="85738" y="92710"/>
                  <a:pt x="84836" y="94234"/>
                </a:cubicBezTo>
                <a:cubicBezTo>
                  <a:pt x="83947" y="95758"/>
                  <a:pt x="81991" y="96266"/>
                  <a:pt x="80493" y="95250"/>
                </a:cubicBezTo>
                <a:close/>
                <a:moveTo>
                  <a:pt x="1502283" y="13462"/>
                </a:moveTo>
                <a:lnTo>
                  <a:pt x="1582801" y="61341"/>
                </a:lnTo>
                <a:lnTo>
                  <a:pt x="1501394" y="107823"/>
                </a:lnTo>
                <a:cubicBezTo>
                  <a:pt x="1499870" y="108712"/>
                  <a:pt x="1497965" y="108204"/>
                  <a:pt x="1497076" y="106680"/>
                </a:cubicBezTo>
                <a:cubicBezTo>
                  <a:pt x="1496187" y="105156"/>
                  <a:pt x="1496822" y="103251"/>
                  <a:pt x="1498346" y="102362"/>
                </a:cubicBezTo>
                <a:lnTo>
                  <a:pt x="1574927" y="58547"/>
                </a:lnTo>
                <a:lnTo>
                  <a:pt x="1574800" y="64008"/>
                </a:lnTo>
                <a:lnTo>
                  <a:pt x="1498981" y="18923"/>
                </a:lnTo>
                <a:cubicBezTo>
                  <a:pt x="1497584" y="18034"/>
                  <a:pt x="1497076" y="16129"/>
                  <a:pt x="1497965" y="14605"/>
                </a:cubicBezTo>
                <a:cubicBezTo>
                  <a:pt x="1498854" y="13081"/>
                  <a:pt x="1500759" y="12573"/>
                  <a:pt x="1502283" y="13462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132" name="Shape 132"/>
          <p:cNvSpPr/>
          <p:nvPr/>
        </p:nvSpPr>
        <p:spPr>
          <a:xfrm>
            <a:off x="2682621" y="5190871"/>
            <a:ext cx="3240278" cy="96139"/>
          </a:xfrm>
          <a:custGeom>
            <a:avLst/>
            <a:gdLst/>
            <a:ahLst/>
            <a:cxnLst/>
            <a:rect l="0" t="0" r="3240278" b="96139"/>
            <a:pathLst>
              <a:path w="3240278" h="96139" stroke="0">
                <a:moveTo>
                  <a:pt x="6350" y="44831"/>
                </a:moveTo>
                <a:lnTo>
                  <a:pt x="31750" y="44831"/>
                </a:lnTo>
                <a:lnTo>
                  <a:pt x="31750" y="51181"/>
                </a:lnTo>
                <a:lnTo>
                  <a:pt x="6350" y="51181"/>
                </a:lnTo>
                <a:close/>
                <a:moveTo>
                  <a:pt x="50800" y="44831"/>
                </a:moveTo>
                <a:lnTo>
                  <a:pt x="76200" y="44831"/>
                </a:lnTo>
                <a:lnTo>
                  <a:pt x="76200" y="51181"/>
                </a:lnTo>
                <a:lnTo>
                  <a:pt x="50800" y="51181"/>
                </a:lnTo>
                <a:close/>
                <a:moveTo>
                  <a:pt x="95250" y="44831"/>
                </a:moveTo>
                <a:lnTo>
                  <a:pt x="120650" y="44831"/>
                </a:lnTo>
                <a:lnTo>
                  <a:pt x="120650" y="51181"/>
                </a:lnTo>
                <a:lnTo>
                  <a:pt x="95250" y="51181"/>
                </a:lnTo>
                <a:close/>
                <a:moveTo>
                  <a:pt x="139700" y="44831"/>
                </a:moveTo>
                <a:lnTo>
                  <a:pt x="165100" y="44831"/>
                </a:lnTo>
                <a:lnTo>
                  <a:pt x="165100" y="51181"/>
                </a:lnTo>
                <a:lnTo>
                  <a:pt x="139700" y="51181"/>
                </a:lnTo>
                <a:close/>
                <a:moveTo>
                  <a:pt x="184150" y="44831"/>
                </a:moveTo>
                <a:lnTo>
                  <a:pt x="209550" y="44831"/>
                </a:lnTo>
                <a:lnTo>
                  <a:pt x="209550" y="51181"/>
                </a:lnTo>
                <a:lnTo>
                  <a:pt x="184150" y="51181"/>
                </a:lnTo>
                <a:close/>
                <a:moveTo>
                  <a:pt x="228600" y="44831"/>
                </a:moveTo>
                <a:lnTo>
                  <a:pt x="254000" y="44831"/>
                </a:lnTo>
                <a:lnTo>
                  <a:pt x="254000" y="51181"/>
                </a:lnTo>
                <a:lnTo>
                  <a:pt x="228600" y="51181"/>
                </a:lnTo>
                <a:close/>
                <a:moveTo>
                  <a:pt x="273050" y="44831"/>
                </a:moveTo>
                <a:lnTo>
                  <a:pt x="298450" y="44831"/>
                </a:lnTo>
                <a:lnTo>
                  <a:pt x="298450" y="51181"/>
                </a:lnTo>
                <a:lnTo>
                  <a:pt x="273050" y="51181"/>
                </a:lnTo>
                <a:close/>
                <a:moveTo>
                  <a:pt x="317500" y="44831"/>
                </a:moveTo>
                <a:lnTo>
                  <a:pt x="342900" y="44831"/>
                </a:lnTo>
                <a:lnTo>
                  <a:pt x="342900" y="51181"/>
                </a:lnTo>
                <a:lnTo>
                  <a:pt x="317500" y="51181"/>
                </a:lnTo>
                <a:close/>
                <a:moveTo>
                  <a:pt x="361950" y="44831"/>
                </a:moveTo>
                <a:lnTo>
                  <a:pt x="387350" y="44831"/>
                </a:lnTo>
                <a:lnTo>
                  <a:pt x="387350" y="51181"/>
                </a:lnTo>
                <a:lnTo>
                  <a:pt x="361950" y="51181"/>
                </a:lnTo>
                <a:close/>
                <a:moveTo>
                  <a:pt x="406400" y="44831"/>
                </a:moveTo>
                <a:lnTo>
                  <a:pt x="431800" y="44831"/>
                </a:lnTo>
                <a:lnTo>
                  <a:pt x="431800" y="51181"/>
                </a:lnTo>
                <a:lnTo>
                  <a:pt x="406400" y="51181"/>
                </a:lnTo>
                <a:close/>
                <a:moveTo>
                  <a:pt x="450850" y="44831"/>
                </a:moveTo>
                <a:lnTo>
                  <a:pt x="476250" y="44831"/>
                </a:lnTo>
                <a:lnTo>
                  <a:pt x="476250" y="51181"/>
                </a:lnTo>
                <a:lnTo>
                  <a:pt x="450850" y="51181"/>
                </a:lnTo>
                <a:close/>
                <a:moveTo>
                  <a:pt x="495300" y="44831"/>
                </a:moveTo>
                <a:lnTo>
                  <a:pt x="520700" y="44831"/>
                </a:lnTo>
                <a:lnTo>
                  <a:pt x="520700" y="51181"/>
                </a:lnTo>
                <a:lnTo>
                  <a:pt x="495300" y="51181"/>
                </a:lnTo>
                <a:close/>
                <a:moveTo>
                  <a:pt x="539750" y="44831"/>
                </a:moveTo>
                <a:lnTo>
                  <a:pt x="565150" y="44831"/>
                </a:lnTo>
                <a:lnTo>
                  <a:pt x="565150" y="51181"/>
                </a:lnTo>
                <a:lnTo>
                  <a:pt x="539750" y="51181"/>
                </a:lnTo>
                <a:close/>
                <a:moveTo>
                  <a:pt x="584200" y="44831"/>
                </a:moveTo>
                <a:lnTo>
                  <a:pt x="609600" y="44831"/>
                </a:lnTo>
                <a:lnTo>
                  <a:pt x="609600" y="51181"/>
                </a:lnTo>
                <a:lnTo>
                  <a:pt x="584200" y="51181"/>
                </a:lnTo>
                <a:close/>
                <a:moveTo>
                  <a:pt x="628650" y="44831"/>
                </a:moveTo>
                <a:lnTo>
                  <a:pt x="654050" y="44831"/>
                </a:lnTo>
                <a:lnTo>
                  <a:pt x="654050" y="51181"/>
                </a:lnTo>
                <a:lnTo>
                  <a:pt x="628650" y="51181"/>
                </a:lnTo>
                <a:close/>
                <a:moveTo>
                  <a:pt x="673100" y="44831"/>
                </a:moveTo>
                <a:lnTo>
                  <a:pt x="698500" y="44831"/>
                </a:lnTo>
                <a:lnTo>
                  <a:pt x="698500" y="51181"/>
                </a:lnTo>
                <a:lnTo>
                  <a:pt x="673100" y="51181"/>
                </a:lnTo>
                <a:close/>
                <a:moveTo>
                  <a:pt x="717550" y="44831"/>
                </a:moveTo>
                <a:lnTo>
                  <a:pt x="742950" y="44831"/>
                </a:lnTo>
                <a:lnTo>
                  <a:pt x="742950" y="51181"/>
                </a:lnTo>
                <a:lnTo>
                  <a:pt x="717550" y="51181"/>
                </a:lnTo>
                <a:close/>
                <a:moveTo>
                  <a:pt x="762000" y="44831"/>
                </a:moveTo>
                <a:lnTo>
                  <a:pt x="787400" y="44831"/>
                </a:lnTo>
                <a:lnTo>
                  <a:pt x="787400" y="51181"/>
                </a:lnTo>
                <a:lnTo>
                  <a:pt x="762000" y="51181"/>
                </a:lnTo>
                <a:close/>
                <a:moveTo>
                  <a:pt x="806450" y="44831"/>
                </a:moveTo>
                <a:lnTo>
                  <a:pt x="831850" y="44831"/>
                </a:lnTo>
                <a:lnTo>
                  <a:pt x="831850" y="51181"/>
                </a:lnTo>
                <a:lnTo>
                  <a:pt x="806450" y="51181"/>
                </a:lnTo>
                <a:close/>
                <a:moveTo>
                  <a:pt x="850900" y="44831"/>
                </a:moveTo>
                <a:lnTo>
                  <a:pt x="876300" y="44831"/>
                </a:lnTo>
                <a:lnTo>
                  <a:pt x="876300" y="51181"/>
                </a:lnTo>
                <a:lnTo>
                  <a:pt x="850900" y="51181"/>
                </a:lnTo>
                <a:close/>
                <a:moveTo>
                  <a:pt x="895350" y="44831"/>
                </a:moveTo>
                <a:lnTo>
                  <a:pt x="920750" y="44831"/>
                </a:lnTo>
                <a:lnTo>
                  <a:pt x="920750" y="51181"/>
                </a:lnTo>
                <a:lnTo>
                  <a:pt x="895350" y="51181"/>
                </a:lnTo>
                <a:close/>
                <a:moveTo>
                  <a:pt x="939800" y="44831"/>
                </a:moveTo>
                <a:lnTo>
                  <a:pt x="965200" y="44831"/>
                </a:lnTo>
                <a:lnTo>
                  <a:pt x="965200" y="51181"/>
                </a:lnTo>
                <a:lnTo>
                  <a:pt x="939800" y="51181"/>
                </a:lnTo>
                <a:close/>
                <a:moveTo>
                  <a:pt x="984250" y="44831"/>
                </a:moveTo>
                <a:lnTo>
                  <a:pt x="1009650" y="44831"/>
                </a:lnTo>
                <a:lnTo>
                  <a:pt x="1009650" y="51181"/>
                </a:lnTo>
                <a:lnTo>
                  <a:pt x="984250" y="51181"/>
                </a:lnTo>
                <a:close/>
                <a:moveTo>
                  <a:pt x="1028700" y="44831"/>
                </a:moveTo>
                <a:lnTo>
                  <a:pt x="1054100" y="44831"/>
                </a:lnTo>
                <a:lnTo>
                  <a:pt x="1054100" y="51181"/>
                </a:lnTo>
                <a:lnTo>
                  <a:pt x="1028700" y="51181"/>
                </a:lnTo>
                <a:close/>
                <a:moveTo>
                  <a:pt x="1073150" y="44831"/>
                </a:moveTo>
                <a:lnTo>
                  <a:pt x="1098550" y="44831"/>
                </a:lnTo>
                <a:lnTo>
                  <a:pt x="1098550" y="51181"/>
                </a:lnTo>
                <a:lnTo>
                  <a:pt x="1073150" y="51181"/>
                </a:lnTo>
                <a:close/>
                <a:moveTo>
                  <a:pt x="1117600" y="44831"/>
                </a:moveTo>
                <a:lnTo>
                  <a:pt x="1143000" y="44831"/>
                </a:lnTo>
                <a:lnTo>
                  <a:pt x="1143000" y="51181"/>
                </a:lnTo>
                <a:lnTo>
                  <a:pt x="1117600" y="51181"/>
                </a:lnTo>
                <a:close/>
                <a:moveTo>
                  <a:pt x="1162050" y="44831"/>
                </a:moveTo>
                <a:lnTo>
                  <a:pt x="1187450" y="44831"/>
                </a:lnTo>
                <a:lnTo>
                  <a:pt x="1187450" y="51181"/>
                </a:lnTo>
                <a:lnTo>
                  <a:pt x="1162050" y="51181"/>
                </a:lnTo>
                <a:close/>
                <a:moveTo>
                  <a:pt x="1206500" y="44831"/>
                </a:moveTo>
                <a:lnTo>
                  <a:pt x="1231900" y="44831"/>
                </a:lnTo>
                <a:lnTo>
                  <a:pt x="1231900" y="51181"/>
                </a:lnTo>
                <a:lnTo>
                  <a:pt x="1206500" y="51181"/>
                </a:lnTo>
                <a:close/>
                <a:moveTo>
                  <a:pt x="1250950" y="44831"/>
                </a:moveTo>
                <a:lnTo>
                  <a:pt x="1276350" y="44831"/>
                </a:lnTo>
                <a:lnTo>
                  <a:pt x="1276350" y="51181"/>
                </a:lnTo>
                <a:lnTo>
                  <a:pt x="1250950" y="51181"/>
                </a:lnTo>
                <a:close/>
                <a:moveTo>
                  <a:pt x="1295400" y="44831"/>
                </a:moveTo>
                <a:lnTo>
                  <a:pt x="1320800" y="44831"/>
                </a:lnTo>
                <a:lnTo>
                  <a:pt x="1320800" y="51181"/>
                </a:lnTo>
                <a:lnTo>
                  <a:pt x="1295400" y="51181"/>
                </a:lnTo>
                <a:close/>
                <a:moveTo>
                  <a:pt x="1339850" y="44831"/>
                </a:moveTo>
                <a:lnTo>
                  <a:pt x="1365250" y="44831"/>
                </a:lnTo>
                <a:lnTo>
                  <a:pt x="1365250" y="51181"/>
                </a:lnTo>
                <a:lnTo>
                  <a:pt x="1339850" y="51181"/>
                </a:lnTo>
                <a:close/>
                <a:moveTo>
                  <a:pt x="1384300" y="44831"/>
                </a:moveTo>
                <a:lnTo>
                  <a:pt x="1409700" y="44831"/>
                </a:lnTo>
                <a:lnTo>
                  <a:pt x="1409700" y="51181"/>
                </a:lnTo>
                <a:lnTo>
                  <a:pt x="1384300" y="51181"/>
                </a:lnTo>
                <a:close/>
                <a:moveTo>
                  <a:pt x="1428750" y="44831"/>
                </a:moveTo>
                <a:lnTo>
                  <a:pt x="1454150" y="44831"/>
                </a:lnTo>
                <a:lnTo>
                  <a:pt x="1454150" y="51181"/>
                </a:lnTo>
                <a:lnTo>
                  <a:pt x="1428750" y="51181"/>
                </a:lnTo>
                <a:close/>
                <a:moveTo>
                  <a:pt x="1473200" y="44831"/>
                </a:moveTo>
                <a:lnTo>
                  <a:pt x="1498600" y="44831"/>
                </a:lnTo>
                <a:lnTo>
                  <a:pt x="1498600" y="51181"/>
                </a:lnTo>
                <a:lnTo>
                  <a:pt x="1473200" y="51181"/>
                </a:lnTo>
                <a:close/>
                <a:moveTo>
                  <a:pt x="1517650" y="44831"/>
                </a:moveTo>
                <a:lnTo>
                  <a:pt x="1543050" y="44831"/>
                </a:lnTo>
                <a:lnTo>
                  <a:pt x="1543050" y="51181"/>
                </a:lnTo>
                <a:lnTo>
                  <a:pt x="1517650" y="51181"/>
                </a:lnTo>
                <a:close/>
                <a:moveTo>
                  <a:pt x="1562100" y="44831"/>
                </a:moveTo>
                <a:lnTo>
                  <a:pt x="1587500" y="44831"/>
                </a:lnTo>
                <a:lnTo>
                  <a:pt x="1587500" y="51181"/>
                </a:lnTo>
                <a:lnTo>
                  <a:pt x="1562100" y="51181"/>
                </a:lnTo>
                <a:close/>
                <a:moveTo>
                  <a:pt x="1606550" y="44831"/>
                </a:moveTo>
                <a:lnTo>
                  <a:pt x="1631950" y="44831"/>
                </a:lnTo>
                <a:lnTo>
                  <a:pt x="1631950" y="51181"/>
                </a:lnTo>
                <a:lnTo>
                  <a:pt x="1606550" y="51181"/>
                </a:lnTo>
                <a:close/>
                <a:moveTo>
                  <a:pt x="1651000" y="44831"/>
                </a:moveTo>
                <a:lnTo>
                  <a:pt x="1676400" y="44831"/>
                </a:lnTo>
                <a:lnTo>
                  <a:pt x="1676400" y="51181"/>
                </a:lnTo>
                <a:lnTo>
                  <a:pt x="1651000" y="51181"/>
                </a:lnTo>
                <a:close/>
                <a:moveTo>
                  <a:pt x="1695450" y="44831"/>
                </a:moveTo>
                <a:lnTo>
                  <a:pt x="1720850" y="44831"/>
                </a:lnTo>
                <a:lnTo>
                  <a:pt x="1720850" y="51181"/>
                </a:lnTo>
                <a:lnTo>
                  <a:pt x="1695450" y="51181"/>
                </a:lnTo>
                <a:close/>
                <a:moveTo>
                  <a:pt x="1739900" y="44831"/>
                </a:moveTo>
                <a:lnTo>
                  <a:pt x="1765300" y="44831"/>
                </a:lnTo>
                <a:lnTo>
                  <a:pt x="1765300" y="51181"/>
                </a:lnTo>
                <a:lnTo>
                  <a:pt x="1739900" y="51181"/>
                </a:lnTo>
                <a:close/>
                <a:moveTo>
                  <a:pt x="1784350" y="44831"/>
                </a:moveTo>
                <a:lnTo>
                  <a:pt x="1809750" y="44831"/>
                </a:lnTo>
                <a:lnTo>
                  <a:pt x="1809750" y="51181"/>
                </a:lnTo>
                <a:lnTo>
                  <a:pt x="1784350" y="51181"/>
                </a:lnTo>
                <a:close/>
                <a:moveTo>
                  <a:pt x="1828800" y="44831"/>
                </a:moveTo>
                <a:lnTo>
                  <a:pt x="1854200" y="44831"/>
                </a:lnTo>
                <a:lnTo>
                  <a:pt x="1854200" y="51181"/>
                </a:lnTo>
                <a:lnTo>
                  <a:pt x="1828800" y="51181"/>
                </a:lnTo>
                <a:close/>
                <a:moveTo>
                  <a:pt x="1873250" y="44831"/>
                </a:moveTo>
                <a:lnTo>
                  <a:pt x="1898650" y="44831"/>
                </a:lnTo>
                <a:lnTo>
                  <a:pt x="1898650" y="51181"/>
                </a:lnTo>
                <a:lnTo>
                  <a:pt x="1873250" y="51181"/>
                </a:lnTo>
                <a:close/>
                <a:moveTo>
                  <a:pt x="1917700" y="44831"/>
                </a:moveTo>
                <a:lnTo>
                  <a:pt x="1943100" y="44831"/>
                </a:lnTo>
                <a:lnTo>
                  <a:pt x="1943100" y="51181"/>
                </a:lnTo>
                <a:lnTo>
                  <a:pt x="1917700" y="51181"/>
                </a:lnTo>
                <a:close/>
                <a:moveTo>
                  <a:pt x="1962150" y="44831"/>
                </a:moveTo>
                <a:lnTo>
                  <a:pt x="1987550" y="44831"/>
                </a:lnTo>
                <a:lnTo>
                  <a:pt x="1987550" y="51181"/>
                </a:lnTo>
                <a:lnTo>
                  <a:pt x="1962150" y="51181"/>
                </a:lnTo>
                <a:close/>
                <a:moveTo>
                  <a:pt x="2006600" y="44831"/>
                </a:moveTo>
                <a:lnTo>
                  <a:pt x="2032000" y="44831"/>
                </a:lnTo>
                <a:lnTo>
                  <a:pt x="2032000" y="51181"/>
                </a:lnTo>
                <a:lnTo>
                  <a:pt x="2006600" y="51181"/>
                </a:lnTo>
                <a:close/>
                <a:moveTo>
                  <a:pt x="2051050" y="44831"/>
                </a:moveTo>
                <a:lnTo>
                  <a:pt x="2076450" y="44831"/>
                </a:lnTo>
                <a:lnTo>
                  <a:pt x="2076450" y="51181"/>
                </a:lnTo>
                <a:lnTo>
                  <a:pt x="2051050" y="51181"/>
                </a:lnTo>
                <a:close/>
                <a:moveTo>
                  <a:pt x="2095500" y="44831"/>
                </a:moveTo>
                <a:lnTo>
                  <a:pt x="2120900" y="44831"/>
                </a:lnTo>
                <a:lnTo>
                  <a:pt x="2120900" y="51181"/>
                </a:lnTo>
                <a:lnTo>
                  <a:pt x="2095500" y="51181"/>
                </a:lnTo>
                <a:close/>
                <a:moveTo>
                  <a:pt x="2139950" y="44831"/>
                </a:moveTo>
                <a:lnTo>
                  <a:pt x="2165350" y="44831"/>
                </a:lnTo>
                <a:lnTo>
                  <a:pt x="2165350" y="51181"/>
                </a:lnTo>
                <a:lnTo>
                  <a:pt x="2139950" y="51181"/>
                </a:lnTo>
                <a:close/>
                <a:moveTo>
                  <a:pt x="2184400" y="44831"/>
                </a:moveTo>
                <a:lnTo>
                  <a:pt x="2209800" y="44831"/>
                </a:lnTo>
                <a:lnTo>
                  <a:pt x="2209800" y="51181"/>
                </a:lnTo>
                <a:lnTo>
                  <a:pt x="2184400" y="51181"/>
                </a:lnTo>
                <a:close/>
                <a:moveTo>
                  <a:pt x="2228850" y="44831"/>
                </a:moveTo>
                <a:lnTo>
                  <a:pt x="2254250" y="44831"/>
                </a:lnTo>
                <a:lnTo>
                  <a:pt x="2254250" y="51181"/>
                </a:lnTo>
                <a:lnTo>
                  <a:pt x="2228850" y="51181"/>
                </a:lnTo>
                <a:close/>
                <a:moveTo>
                  <a:pt x="2273300" y="44831"/>
                </a:moveTo>
                <a:lnTo>
                  <a:pt x="2298700" y="44831"/>
                </a:lnTo>
                <a:lnTo>
                  <a:pt x="2298700" y="51181"/>
                </a:lnTo>
                <a:lnTo>
                  <a:pt x="2273300" y="51181"/>
                </a:lnTo>
                <a:close/>
                <a:moveTo>
                  <a:pt x="2317750" y="44831"/>
                </a:moveTo>
                <a:lnTo>
                  <a:pt x="2343150" y="44831"/>
                </a:lnTo>
                <a:lnTo>
                  <a:pt x="2343150" y="51181"/>
                </a:lnTo>
                <a:lnTo>
                  <a:pt x="2317750" y="51181"/>
                </a:lnTo>
                <a:close/>
                <a:moveTo>
                  <a:pt x="2362200" y="44831"/>
                </a:moveTo>
                <a:lnTo>
                  <a:pt x="2387600" y="44831"/>
                </a:lnTo>
                <a:lnTo>
                  <a:pt x="2387600" y="51181"/>
                </a:lnTo>
                <a:lnTo>
                  <a:pt x="2362200" y="51181"/>
                </a:lnTo>
                <a:close/>
                <a:moveTo>
                  <a:pt x="2406650" y="44831"/>
                </a:moveTo>
                <a:lnTo>
                  <a:pt x="2432050" y="44831"/>
                </a:lnTo>
                <a:lnTo>
                  <a:pt x="2432050" y="51181"/>
                </a:lnTo>
                <a:lnTo>
                  <a:pt x="2406650" y="51181"/>
                </a:lnTo>
                <a:close/>
                <a:moveTo>
                  <a:pt x="2451100" y="44831"/>
                </a:moveTo>
                <a:lnTo>
                  <a:pt x="2476500" y="44831"/>
                </a:lnTo>
                <a:lnTo>
                  <a:pt x="2476500" y="51181"/>
                </a:lnTo>
                <a:lnTo>
                  <a:pt x="2451100" y="51181"/>
                </a:lnTo>
                <a:close/>
                <a:moveTo>
                  <a:pt x="2495550" y="44831"/>
                </a:moveTo>
                <a:lnTo>
                  <a:pt x="2520950" y="44831"/>
                </a:lnTo>
                <a:lnTo>
                  <a:pt x="2520950" y="51181"/>
                </a:lnTo>
                <a:lnTo>
                  <a:pt x="2495550" y="51181"/>
                </a:lnTo>
                <a:close/>
                <a:moveTo>
                  <a:pt x="2540000" y="44831"/>
                </a:moveTo>
                <a:lnTo>
                  <a:pt x="2565400" y="44831"/>
                </a:lnTo>
                <a:lnTo>
                  <a:pt x="2565400" y="51181"/>
                </a:lnTo>
                <a:lnTo>
                  <a:pt x="2540000" y="51181"/>
                </a:lnTo>
                <a:close/>
                <a:moveTo>
                  <a:pt x="2584450" y="44831"/>
                </a:moveTo>
                <a:lnTo>
                  <a:pt x="2609850" y="44831"/>
                </a:lnTo>
                <a:lnTo>
                  <a:pt x="2609850" y="51181"/>
                </a:lnTo>
                <a:lnTo>
                  <a:pt x="2584450" y="51181"/>
                </a:lnTo>
                <a:close/>
                <a:moveTo>
                  <a:pt x="2628900" y="44831"/>
                </a:moveTo>
                <a:lnTo>
                  <a:pt x="2654300" y="44831"/>
                </a:lnTo>
                <a:lnTo>
                  <a:pt x="2654300" y="51181"/>
                </a:lnTo>
                <a:lnTo>
                  <a:pt x="2628900" y="51181"/>
                </a:lnTo>
                <a:close/>
                <a:moveTo>
                  <a:pt x="2673350" y="44831"/>
                </a:moveTo>
                <a:lnTo>
                  <a:pt x="2698750" y="44831"/>
                </a:lnTo>
                <a:lnTo>
                  <a:pt x="2698750" y="51181"/>
                </a:lnTo>
                <a:lnTo>
                  <a:pt x="2673350" y="51181"/>
                </a:lnTo>
                <a:close/>
                <a:moveTo>
                  <a:pt x="2717800" y="44831"/>
                </a:moveTo>
                <a:lnTo>
                  <a:pt x="2743200" y="44831"/>
                </a:lnTo>
                <a:lnTo>
                  <a:pt x="2743200" y="51181"/>
                </a:lnTo>
                <a:lnTo>
                  <a:pt x="2717800" y="51181"/>
                </a:lnTo>
                <a:close/>
                <a:moveTo>
                  <a:pt x="2762250" y="44831"/>
                </a:moveTo>
                <a:lnTo>
                  <a:pt x="2787650" y="44831"/>
                </a:lnTo>
                <a:lnTo>
                  <a:pt x="2787650" y="51181"/>
                </a:lnTo>
                <a:lnTo>
                  <a:pt x="2762250" y="51181"/>
                </a:lnTo>
                <a:close/>
                <a:moveTo>
                  <a:pt x="2806700" y="44831"/>
                </a:moveTo>
                <a:lnTo>
                  <a:pt x="2832100" y="44831"/>
                </a:lnTo>
                <a:lnTo>
                  <a:pt x="2832100" y="51181"/>
                </a:lnTo>
                <a:lnTo>
                  <a:pt x="2806700" y="51181"/>
                </a:lnTo>
                <a:close/>
                <a:moveTo>
                  <a:pt x="2851150" y="44831"/>
                </a:moveTo>
                <a:lnTo>
                  <a:pt x="2876550" y="44831"/>
                </a:lnTo>
                <a:lnTo>
                  <a:pt x="2876550" y="51181"/>
                </a:lnTo>
                <a:lnTo>
                  <a:pt x="2851150" y="51181"/>
                </a:lnTo>
                <a:close/>
                <a:moveTo>
                  <a:pt x="2895600" y="44831"/>
                </a:moveTo>
                <a:lnTo>
                  <a:pt x="2921000" y="44831"/>
                </a:lnTo>
                <a:lnTo>
                  <a:pt x="2921000" y="51181"/>
                </a:lnTo>
                <a:lnTo>
                  <a:pt x="2895600" y="51181"/>
                </a:lnTo>
                <a:close/>
                <a:moveTo>
                  <a:pt x="2940050" y="44831"/>
                </a:moveTo>
                <a:lnTo>
                  <a:pt x="2965450" y="44831"/>
                </a:lnTo>
                <a:lnTo>
                  <a:pt x="2965450" y="51181"/>
                </a:lnTo>
                <a:lnTo>
                  <a:pt x="2940050" y="51181"/>
                </a:lnTo>
                <a:close/>
                <a:moveTo>
                  <a:pt x="2984500" y="44831"/>
                </a:moveTo>
                <a:lnTo>
                  <a:pt x="3009900" y="44831"/>
                </a:lnTo>
                <a:lnTo>
                  <a:pt x="3009900" y="51181"/>
                </a:lnTo>
                <a:lnTo>
                  <a:pt x="2984500" y="51181"/>
                </a:lnTo>
                <a:close/>
                <a:moveTo>
                  <a:pt x="3028950" y="44831"/>
                </a:moveTo>
                <a:lnTo>
                  <a:pt x="3054350" y="44831"/>
                </a:lnTo>
                <a:lnTo>
                  <a:pt x="3054350" y="51181"/>
                </a:lnTo>
                <a:lnTo>
                  <a:pt x="3028950" y="51181"/>
                </a:lnTo>
                <a:close/>
                <a:moveTo>
                  <a:pt x="3073400" y="44831"/>
                </a:moveTo>
                <a:lnTo>
                  <a:pt x="3098800" y="44831"/>
                </a:lnTo>
                <a:lnTo>
                  <a:pt x="3098800" y="51181"/>
                </a:lnTo>
                <a:lnTo>
                  <a:pt x="3073400" y="51181"/>
                </a:lnTo>
                <a:close/>
                <a:moveTo>
                  <a:pt x="3117850" y="44831"/>
                </a:moveTo>
                <a:lnTo>
                  <a:pt x="3143250" y="44831"/>
                </a:lnTo>
                <a:lnTo>
                  <a:pt x="3143250" y="51181"/>
                </a:lnTo>
                <a:lnTo>
                  <a:pt x="3117850" y="51181"/>
                </a:lnTo>
                <a:close/>
                <a:moveTo>
                  <a:pt x="3162300" y="44831"/>
                </a:moveTo>
                <a:lnTo>
                  <a:pt x="3187700" y="44831"/>
                </a:lnTo>
                <a:lnTo>
                  <a:pt x="3187700" y="51181"/>
                </a:lnTo>
                <a:lnTo>
                  <a:pt x="3162300" y="51181"/>
                </a:lnTo>
                <a:close/>
                <a:moveTo>
                  <a:pt x="3206750" y="44831"/>
                </a:moveTo>
                <a:lnTo>
                  <a:pt x="3232150" y="44831"/>
                </a:lnTo>
                <a:lnTo>
                  <a:pt x="3232150" y="51181"/>
                </a:lnTo>
                <a:lnTo>
                  <a:pt x="3206750" y="51181"/>
                </a:lnTo>
                <a:close/>
                <a:moveTo>
                  <a:pt x="80899" y="95250"/>
                </a:moveTo>
                <a:lnTo>
                  <a:pt x="0" y="48006"/>
                </a:lnTo>
                <a:lnTo>
                  <a:pt x="80899" y="889"/>
                </a:lnTo>
                <a:cubicBezTo>
                  <a:pt x="82423" y="0"/>
                  <a:pt x="84328" y="508"/>
                  <a:pt x="85217" y="2032"/>
                </a:cubicBezTo>
                <a:cubicBezTo>
                  <a:pt x="86106" y="3556"/>
                  <a:pt x="85598" y="5461"/>
                  <a:pt x="84074" y="6350"/>
                </a:cubicBezTo>
                <a:lnTo>
                  <a:pt x="7874" y="50800"/>
                </a:lnTo>
                <a:lnTo>
                  <a:pt x="7874" y="45339"/>
                </a:lnTo>
                <a:lnTo>
                  <a:pt x="84074" y="89789"/>
                </a:lnTo>
                <a:cubicBezTo>
                  <a:pt x="85598" y="90678"/>
                  <a:pt x="86106" y="92583"/>
                  <a:pt x="85217" y="94107"/>
                </a:cubicBezTo>
                <a:cubicBezTo>
                  <a:pt x="84328" y="95631"/>
                  <a:pt x="82423" y="96139"/>
                  <a:pt x="80899" y="95250"/>
                </a:cubicBezTo>
                <a:close/>
                <a:moveTo>
                  <a:pt x="3159379" y="889"/>
                </a:moveTo>
                <a:lnTo>
                  <a:pt x="3240278" y="48006"/>
                </a:lnTo>
                <a:lnTo>
                  <a:pt x="3159379" y="95250"/>
                </a:lnTo>
                <a:cubicBezTo>
                  <a:pt x="3157855" y="96139"/>
                  <a:pt x="3155950" y="95631"/>
                  <a:pt x="3155061" y="94107"/>
                </a:cubicBezTo>
                <a:cubicBezTo>
                  <a:pt x="3154172" y="92583"/>
                  <a:pt x="3154680" y="90678"/>
                  <a:pt x="3156204" y="89789"/>
                </a:cubicBezTo>
                <a:lnTo>
                  <a:pt x="3232404" y="45339"/>
                </a:lnTo>
                <a:lnTo>
                  <a:pt x="3232404" y="50800"/>
                </a:lnTo>
                <a:lnTo>
                  <a:pt x="3156204" y="6350"/>
                </a:lnTo>
                <a:cubicBezTo>
                  <a:pt x="3154680" y="5461"/>
                  <a:pt x="3154172" y="3556"/>
                  <a:pt x="3155061" y="2032"/>
                </a:cubicBezTo>
                <a:cubicBezTo>
                  <a:pt x="3155950" y="508"/>
                  <a:pt x="3157855" y="0"/>
                  <a:pt x="3159379" y="889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133" name="TextBox 133"/>
          <p:cNvSpPr txBox="1"/>
          <p:nvPr/>
        </p:nvSpPr>
        <p:spPr>
          <a:xfrm>
            <a:off x="1798066" y="4293362"/>
            <a:ext cx="1095908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안전하다고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2872740" y="429336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2933700" y="4293362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간주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3483610" y="4918837"/>
            <a:ext cx="1095909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위험하다고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4558284" y="4918837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4619244" y="4918837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간주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4861814" y="4296130"/>
            <a:ext cx="438655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1622425" y="4918583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안전을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둘러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2420747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2504567" y="103886"/>
            <a:ext cx="29224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싼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2791079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2876423" y="103886"/>
            <a:ext cx="58448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01671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44" dirty="0">
                <a:solidFill>
                  <a:srgbClr val="806B00"/>
                </a:solidFill>
                <a:latin typeface="나눔고딕 2"/>
                <a:cs typeface="나눔고딕 2"/>
              </a:rPr>
              <a:t>Hazard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03828" y="671971"/>
            <a:ext cx="292534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90340" y="671971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77208" y="671971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36744" y="671971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13528" y="671971"/>
            <a:ext cx="87764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위험과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73318" y="671971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55614" y="671971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4373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3)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3369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위험과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79702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57426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44191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21915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사이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9841" y="174539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605100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76249" y="174004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불안한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94383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62963" y="174004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영역에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80767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47823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26359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219323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수용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98113" y="1740041"/>
            <a:ext cx="166044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56609" y="174004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가능한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74413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642993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영역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121529" y="1740041"/>
            <a:ext cx="198336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37" dirty="0">
                <a:solidFill>
                  <a:srgbClr val="000000"/>
                </a:solidFill>
                <a:latin typeface="나눔고딕 2"/>
                <a:cs typeface="나눔고딕 2"/>
              </a:rPr>
              <a:t>, ALARP/ALARA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61962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40752" y="17400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609332" y="17400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도입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74725" y="2121703"/>
            <a:ext cx="12516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4" dirty="0">
                <a:solidFill>
                  <a:srgbClr val="000000"/>
                </a:solidFill>
                <a:latin typeface="나눔고딕 2"/>
                <a:cs typeface="나눔고딕 2"/>
              </a:rPr>
              <a:t>(IEC, ICRP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390176" y="2139638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647823" y="21217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03097" y="2502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32479" y="2502505"/>
            <a:ext cx="499544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4" dirty="0">
                <a:solidFill>
                  <a:srgbClr val="000000"/>
                </a:solidFill>
                <a:latin typeface="나눔고딕 2"/>
                <a:cs typeface="나눔고딕 2"/>
              </a:rPr>
              <a:t>ALARP: As Low As Reasonably Practicable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03097" y="28837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66165" y="2883703"/>
            <a:ext cx="504165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3" dirty="0">
                <a:solidFill>
                  <a:srgbClr val="000000"/>
                </a:solidFill>
                <a:latin typeface="나눔고딕 2"/>
                <a:cs typeface="나눔고딕 2"/>
              </a:rPr>
              <a:t>ALARA: As Low As Reasonably Achievable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03097" y="32649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66165" y="3264957"/>
            <a:ext cx="47999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7" dirty="0">
                <a:solidFill>
                  <a:srgbClr val="000000"/>
                </a:solidFill>
                <a:latin typeface="나눔고딕 2"/>
                <a:cs typeface="나눔고딕 2"/>
              </a:rPr>
              <a:t>IEC(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674544" y="3289429"/>
            <a:ext cx="219386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국제전기기술위원회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786505" y="3264957"/>
            <a:ext cx="8808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99" dirty="0">
                <a:solidFill>
                  <a:srgbClr val="000000"/>
                </a:solidFill>
                <a:latin typeface="나눔고딕 2"/>
                <a:cs typeface="나눔고딕 2"/>
              </a:rPr>
              <a:t>), ICRP(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12343" y="3289429"/>
            <a:ext cx="243580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국제방사선방호위원회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99308" y="32894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733167" y="6071860"/>
            <a:ext cx="9764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‹위험과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757549" y="607186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543933" y="6071860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사이와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262118" y="607186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329174" y="6071860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리스크›</a:t>
            </a:r>
          </a:p>
        </p:txBody>
      </p:sp>
      <p:sp>
        <p:nvSpPr>
          <p:cNvPr id="62" name="Shape 62"/>
          <p:cNvSpPr/>
          <p:nvPr/>
        </p:nvSpPr>
        <p:spPr>
          <a:xfrm>
            <a:off x="925411" y="5791556"/>
            <a:ext cx="6784124" cy="13"/>
          </a:xfrm>
          <a:custGeom>
            <a:avLst/>
            <a:gdLst/>
            <a:ahLst/>
            <a:cxnLst/>
            <a:rect l="0" t="0" r="6784124" b="13"/>
            <a:pathLst>
              <a:path w="6784124" h="13" fill="none">
                <a:moveTo>
                  <a:pt x="0" y="0"/>
                </a:moveTo>
                <a:lnTo>
                  <a:pt x="6784124" y="13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Shape 63"/>
          <p:cNvSpPr/>
          <p:nvPr/>
        </p:nvSpPr>
        <p:spPr>
          <a:xfrm>
            <a:off x="925411" y="4967986"/>
            <a:ext cx="1" cy="823570"/>
          </a:xfrm>
          <a:custGeom>
            <a:avLst/>
            <a:gdLst/>
            <a:ahLst/>
            <a:cxnLst/>
            <a:rect l="0" t="0" r="1" b="823570"/>
            <a:pathLst>
              <a:path w="1" h="823570" fill="none">
                <a:moveTo>
                  <a:pt x="0" y="0"/>
                </a:moveTo>
                <a:lnTo>
                  <a:pt x="0" y="823570"/>
                </a:lnTo>
              </a:path>
            </a:pathLst>
          </a:custGeom>
          <a:noFill/>
          <a:ln w="63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Shape 64"/>
          <p:cNvSpPr/>
          <p:nvPr/>
        </p:nvSpPr>
        <p:spPr>
          <a:xfrm>
            <a:off x="7709535" y="4080891"/>
            <a:ext cx="1" cy="1710665"/>
          </a:xfrm>
          <a:custGeom>
            <a:avLst/>
            <a:gdLst/>
            <a:ahLst/>
            <a:cxnLst/>
            <a:rect l="0" t="0" r="1" b="1710665"/>
            <a:pathLst>
              <a:path w="1" h="1710665" fill="none">
                <a:moveTo>
                  <a:pt x="0" y="0"/>
                </a:moveTo>
                <a:lnTo>
                  <a:pt x="0" y="1710665"/>
                </a:lnTo>
              </a:path>
            </a:pathLst>
          </a:custGeom>
          <a:noFill/>
          <a:ln w="63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Shape 65"/>
          <p:cNvSpPr/>
          <p:nvPr/>
        </p:nvSpPr>
        <p:spPr>
          <a:xfrm>
            <a:off x="3583686" y="4337050"/>
            <a:ext cx="1" cy="1454506"/>
          </a:xfrm>
          <a:custGeom>
            <a:avLst/>
            <a:gdLst/>
            <a:ahLst/>
            <a:cxnLst/>
            <a:rect l="0" t="0" r="1" b="1454506"/>
            <a:pathLst>
              <a:path w="1" h="1454506" fill="none">
                <a:moveTo>
                  <a:pt x="0" y="0"/>
                </a:moveTo>
                <a:lnTo>
                  <a:pt x="0" y="1454506"/>
                </a:lnTo>
              </a:path>
            </a:pathLst>
          </a:custGeom>
          <a:noFill/>
          <a:ln w="63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Shape 66"/>
          <p:cNvSpPr/>
          <p:nvPr/>
        </p:nvSpPr>
        <p:spPr>
          <a:xfrm>
            <a:off x="3583686" y="4839081"/>
            <a:ext cx="2113788" cy="101346"/>
          </a:xfrm>
          <a:custGeom>
            <a:avLst/>
            <a:gdLst/>
            <a:ahLst/>
            <a:cxnLst/>
            <a:rect l="0" t="0" r="2113788" b="101346"/>
            <a:pathLst>
              <a:path w="2113788" h="101346" stroke="0">
                <a:moveTo>
                  <a:pt x="6350" y="44704"/>
                </a:moveTo>
                <a:lnTo>
                  <a:pt x="31750" y="44831"/>
                </a:lnTo>
                <a:lnTo>
                  <a:pt x="31623" y="51181"/>
                </a:lnTo>
                <a:lnTo>
                  <a:pt x="6223" y="51054"/>
                </a:lnTo>
                <a:close/>
                <a:moveTo>
                  <a:pt x="50800" y="44831"/>
                </a:moveTo>
                <a:lnTo>
                  <a:pt x="76200" y="44958"/>
                </a:lnTo>
                <a:lnTo>
                  <a:pt x="76073" y="51308"/>
                </a:lnTo>
                <a:lnTo>
                  <a:pt x="50673" y="51181"/>
                </a:lnTo>
                <a:close/>
                <a:moveTo>
                  <a:pt x="95250" y="44958"/>
                </a:moveTo>
                <a:lnTo>
                  <a:pt x="120650" y="44958"/>
                </a:lnTo>
                <a:lnTo>
                  <a:pt x="120523" y="51308"/>
                </a:lnTo>
                <a:lnTo>
                  <a:pt x="95123" y="51308"/>
                </a:lnTo>
                <a:close/>
                <a:moveTo>
                  <a:pt x="139700" y="45085"/>
                </a:moveTo>
                <a:lnTo>
                  <a:pt x="165100" y="45085"/>
                </a:lnTo>
                <a:lnTo>
                  <a:pt x="164973" y="51435"/>
                </a:lnTo>
                <a:lnTo>
                  <a:pt x="139573" y="51435"/>
                </a:lnTo>
                <a:close/>
                <a:moveTo>
                  <a:pt x="184150" y="45212"/>
                </a:moveTo>
                <a:lnTo>
                  <a:pt x="209550" y="45212"/>
                </a:lnTo>
                <a:lnTo>
                  <a:pt x="209423" y="51562"/>
                </a:lnTo>
                <a:lnTo>
                  <a:pt x="184023" y="51562"/>
                </a:lnTo>
                <a:close/>
                <a:moveTo>
                  <a:pt x="228600" y="45339"/>
                </a:moveTo>
                <a:lnTo>
                  <a:pt x="254000" y="45339"/>
                </a:lnTo>
                <a:lnTo>
                  <a:pt x="253873" y="51689"/>
                </a:lnTo>
                <a:lnTo>
                  <a:pt x="228473" y="51689"/>
                </a:lnTo>
                <a:close/>
                <a:moveTo>
                  <a:pt x="273050" y="45466"/>
                </a:moveTo>
                <a:lnTo>
                  <a:pt x="298450" y="45466"/>
                </a:lnTo>
                <a:lnTo>
                  <a:pt x="298323" y="51816"/>
                </a:lnTo>
                <a:lnTo>
                  <a:pt x="272923" y="51816"/>
                </a:lnTo>
                <a:close/>
                <a:moveTo>
                  <a:pt x="317500" y="45593"/>
                </a:moveTo>
                <a:lnTo>
                  <a:pt x="342900" y="45593"/>
                </a:lnTo>
                <a:lnTo>
                  <a:pt x="342773" y="51943"/>
                </a:lnTo>
                <a:lnTo>
                  <a:pt x="317373" y="51943"/>
                </a:lnTo>
                <a:close/>
                <a:moveTo>
                  <a:pt x="361950" y="45593"/>
                </a:moveTo>
                <a:lnTo>
                  <a:pt x="387350" y="45720"/>
                </a:lnTo>
                <a:lnTo>
                  <a:pt x="387223" y="52070"/>
                </a:lnTo>
                <a:lnTo>
                  <a:pt x="361823" y="52070"/>
                </a:lnTo>
                <a:close/>
                <a:moveTo>
                  <a:pt x="406400" y="45720"/>
                </a:moveTo>
                <a:lnTo>
                  <a:pt x="431800" y="45847"/>
                </a:lnTo>
                <a:lnTo>
                  <a:pt x="431673" y="52197"/>
                </a:lnTo>
                <a:lnTo>
                  <a:pt x="406273" y="52070"/>
                </a:lnTo>
                <a:close/>
                <a:moveTo>
                  <a:pt x="450850" y="45847"/>
                </a:moveTo>
                <a:lnTo>
                  <a:pt x="476250" y="45974"/>
                </a:lnTo>
                <a:lnTo>
                  <a:pt x="476123" y="52324"/>
                </a:lnTo>
                <a:lnTo>
                  <a:pt x="450723" y="52197"/>
                </a:lnTo>
                <a:close/>
                <a:moveTo>
                  <a:pt x="495300" y="45974"/>
                </a:moveTo>
                <a:lnTo>
                  <a:pt x="520700" y="46101"/>
                </a:lnTo>
                <a:lnTo>
                  <a:pt x="520573" y="52451"/>
                </a:lnTo>
                <a:lnTo>
                  <a:pt x="495173" y="52324"/>
                </a:lnTo>
                <a:close/>
                <a:moveTo>
                  <a:pt x="539750" y="46101"/>
                </a:moveTo>
                <a:lnTo>
                  <a:pt x="565150" y="46228"/>
                </a:lnTo>
                <a:lnTo>
                  <a:pt x="565023" y="52578"/>
                </a:lnTo>
                <a:lnTo>
                  <a:pt x="539623" y="52451"/>
                </a:lnTo>
                <a:close/>
                <a:moveTo>
                  <a:pt x="584200" y="46228"/>
                </a:moveTo>
                <a:lnTo>
                  <a:pt x="609600" y="46355"/>
                </a:lnTo>
                <a:lnTo>
                  <a:pt x="609473" y="52705"/>
                </a:lnTo>
                <a:lnTo>
                  <a:pt x="584073" y="52578"/>
                </a:lnTo>
                <a:close/>
                <a:moveTo>
                  <a:pt x="628650" y="46355"/>
                </a:moveTo>
                <a:lnTo>
                  <a:pt x="654050" y="46482"/>
                </a:lnTo>
                <a:lnTo>
                  <a:pt x="653923" y="52832"/>
                </a:lnTo>
                <a:lnTo>
                  <a:pt x="628523" y="52705"/>
                </a:lnTo>
                <a:close/>
                <a:moveTo>
                  <a:pt x="673100" y="46482"/>
                </a:moveTo>
                <a:lnTo>
                  <a:pt x="698500" y="46609"/>
                </a:lnTo>
                <a:lnTo>
                  <a:pt x="698373" y="52832"/>
                </a:lnTo>
                <a:lnTo>
                  <a:pt x="672973" y="52832"/>
                </a:lnTo>
                <a:close/>
                <a:moveTo>
                  <a:pt x="717550" y="46609"/>
                </a:moveTo>
                <a:lnTo>
                  <a:pt x="742950" y="46609"/>
                </a:lnTo>
                <a:lnTo>
                  <a:pt x="742823" y="52959"/>
                </a:lnTo>
                <a:lnTo>
                  <a:pt x="717423" y="52959"/>
                </a:lnTo>
                <a:close/>
                <a:moveTo>
                  <a:pt x="762000" y="46736"/>
                </a:moveTo>
                <a:lnTo>
                  <a:pt x="787400" y="46736"/>
                </a:lnTo>
                <a:lnTo>
                  <a:pt x="787273" y="53086"/>
                </a:lnTo>
                <a:lnTo>
                  <a:pt x="761873" y="53086"/>
                </a:lnTo>
                <a:close/>
                <a:moveTo>
                  <a:pt x="806450" y="46863"/>
                </a:moveTo>
                <a:lnTo>
                  <a:pt x="831850" y="46863"/>
                </a:lnTo>
                <a:lnTo>
                  <a:pt x="831723" y="53213"/>
                </a:lnTo>
                <a:lnTo>
                  <a:pt x="806323" y="53213"/>
                </a:lnTo>
                <a:close/>
                <a:moveTo>
                  <a:pt x="850900" y="46990"/>
                </a:moveTo>
                <a:lnTo>
                  <a:pt x="876300" y="46990"/>
                </a:lnTo>
                <a:lnTo>
                  <a:pt x="876173" y="53340"/>
                </a:lnTo>
                <a:lnTo>
                  <a:pt x="850773" y="53340"/>
                </a:lnTo>
                <a:close/>
                <a:moveTo>
                  <a:pt x="895350" y="47117"/>
                </a:moveTo>
                <a:lnTo>
                  <a:pt x="920750" y="47117"/>
                </a:lnTo>
                <a:lnTo>
                  <a:pt x="920623" y="53467"/>
                </a:lnTo>
                <a:lnTo>
                  <a:pt x="895223" y="53467"/>
                </a:lnTo>
                <a:close/>
                <a:moveTo>
                  <a:pt x="939800" y="47244"/>
                </a:moveTo>
                <a:lnTo>
                  <a:pt x="965200" y="47244"/>
                </a:lnTo>
                <a:lnTo>
                  <a:pt x="965073" y="53594"/>
                </a:lnTo>
                <a:lnTo>
                  <a:pt x="939673" y="53594"/>
                </a:lnTo>
                <a:close/>
                <a:moveTo>
                  <a:pt x="984250" y="47244"/>
                </a:moveTo>
                <a:lnTo>
                  <a:pt x="1009650" y="47371"/>
                </a:lnTo>
                <a:lnTo>
                  <a:pt x="1009523" y="53721"/>
                </a:lnTo>
                <a:lnTo>
                  <a:pt x="984123" y="53594"/>
                </a:lnTo>
                <a:close/>
                <a:moveTo>
                  <a:pt x="1028700" y="47371"/>
                </a:moveTo>
                <a:lnTo>
                  <a:pt x="1054100" y="47498"/>
                </a:lnTo>
                <a:lnTo>
                  <a:pt x="1053973" y="53848"/>
                </a:lnTo>
                <a:lnTo>
                  <a:pt x="1028573" y="53721"/>
                </a:lnTo>
                <a:close/>
                <a:moveTo>
                  <a:pt x="1073150" y="47498"/>
                </a:moveTo>
                <a:lnTo>
                  <a:pt x="1098550" y="47625"/>
                </a:lnTo>
                <a:lnTo>
                  <a:pt x="1098423" y="53975"/>
                </a:lnTo>
                <a:lnTo>
                  <a:pt x="1073023" y="53848"/>
                </a:lnTo>
                <a:close/>
                <a:moveTo>
                  <a:pt x="1117600" y="47625"/>
                </a:moveTo>
                <a:lnTo>
                  <a:pt x="1143000" y="47752"/>
                </a:lnTo>
                <a:lnTo>
                  <a:pt x="1142873" y="54102"/>
                </a:lnTo>
                <a:lnTo>
                  <a:pt x="1117473" y="53975"/>
                </a:lnTo>
                <a:close/>
                <a:moveTo>
                  <a:pt x="1162050" y="47752"/>
                </a:moveTo>
                <a:lnTo>
                  <a:pt x="1187450" y="47879"/>
                </a:lnTo>
                <a:lnTo>
                  <a:pt x="1187323" y="54229"/>
                </a:lnTo>
                <a:lnTo>
                  <a:pt x="1161923" y="54102"/>
                </a:lnTo>
                <a:close/>
                <a:moveTo>
                  <a:pt x="1206500" y="47879"/>
                </a:moveTo>
                <a:lnTo>
                  <a:pt x="1231900" y="48006"/>
                </a:lnTo>
                <a:lnTo>
                  <a:pt x="1231773" y="54356"/>
                </a:lnTo>
                <a:lnTo>
                  <a:pt x="1206373" y="54229"/>
                </a:lnTo>
                <a:close/>
                <a:moveTo>
                  <a:pt x="1250950" y="48006"/>
                </a:moveTo>
                <a:lnTo>
                  <a:pt x="1276350" y="48133"/>
                </a:lnTo>
                <a:lnTo>
                  <a:pt x="1276223" y="54483"/>
                </a:lnTo>
                <a:lnTo>
                  <a:pt x="1250823" y="54356"/>
                </a:lnTo>
                <a:close/>
                <a:moveTo>
                  <a:pt x="1295400" y="48133"/>
                </a:moveTo>
                <a:lnTo>
                  <a:pt x="1320800" y="48133"/>
                </a:lnTo>
                <a:lnTo>
                  <a:pt x="1320673" y="54483"/>
                </a:lnTo>
                <a:lnTo>
                  <a:pt x="1295273" y="54483"/>
                </a:lnTo>
                <a:close/>
                <a:moveTo>
                  <a:pt x="1339850" y="48260"/>
                </a:moveTo>
                <a:lnTo>
                  <a:pt x="1365250" y="48260"/>
                </a:lnTo>
                <a:lnTo>
                  <a:pt x="1365123" y="54610"/>
                </a:lnTo>
                <a:lnTo>
                  <a:pt x="1339723" y="54610"/>
                </a:lnTo>
                <a:close/>
                <a:moveTo>
                  <a:pt x="1384300" y="48387"/>
                </a:moveTo>
                <a:lnTo>
                  <a:pt x="1409700" y="48387"/>
                </a:lnTo>
                <a:lnTo>
                  <a:pt x="1409573" y="54737"/>
                </a:lnTo>
                <a:lnTo>
                  <a:pt x="1384173" y="54737"/>
                </a:lnTo>
                <a:close/>
                <a:moveTo>
                  <a:pt x="1428750" y="48514"/>
                </a:moveTo>
                <a:lnTo>
                  <a:pt x="1454150" y="48514"/>
                </a:lnTo>
                <a:lnTo>
                  <a:pt x="1454023" y="54864"/>
                </a:lnTo>
                <a:lnTo>
                  <a:pt x="1428623" y="54864"/>
                </a:lnTo>
                <a:close/>
                <a:moveTo>
                  <a:pt x="1473200" y="48641"/>
                </a:moveTo>
                <a:lnTo>
                  <a:pt x="1498600" y="48641"/>
                </a:lnTo>
                <a:lnTo>
                  <a:pt x="1498473" y="54991"/>
                </a:lnTo>
                <a:lnTo>
                  <a:pt x="1473073" y="54991"/>
                </a:lnTo>
                <a:close/>
                <a:moveTo>
                  <a:pt x="1517650" y="48768"/>
                </a:moveTo>
                <a:lnTo>
                  <a:pt x="1543050" y="48768"/>
                </a:lnTo>
                <a:lnTo>
                  <a:pt x="1542923" y="55118"/>
                </a:lnTo>
                <a:lnTo>
                  <a:pt x="1517523" y="55118"/>
                </a:lnTo>
                <a:close/>
                <a:moveTo>
                  <a:pt x="1562100" y="48768"/>
                </a:moveTo>
                <a:lnTo>
                  <a:pt x="1587500" y="48895"/>
                </a:lnTo>
                <a:lnTo>
                  <a:pt x="1587373" y="55245"/>
                </a:lnTo>
                <a:lnTo>
                  <a:pt x="1561973" y="55118"/>
                </a:lnTo>
                <a:close/>
                <a:moveTo>
                  <a:pt x="1606550" y="48895"/>
                </a:moveTo>
                <a:lnTo>
                  <a:pt x="1631950" y="49022"/>
                </a:lnTo>
                <a:lnTo>
                  <a:pt x="1631823" y="55372"/>
                </a:lnTo>
                <a:lnTo>
                  <a:pt x="1606423" y="55245"/>
                </a:lnTo>
                <a:close/>
                <a:moveTo>
                  <a:pt x="1651000" y="49022"/>
                </a:moveTo>
                <a:lnTo>
                  <a:pt x="1676400" y="49149"/>
                </a:lnTo>
                <a:lnTo>
                  <a:pt x="1676273" y="55499"/>
                </a:lnTo>
                <a:lnTo>
                  <a:pt x="1650873" y="55372"/>
                </a:lnTo>
                <a:close/>
                <a:moveTo>
                  <a:pt x="1695450" y="49149"/>
                </a:moveTo>
                <a:lnTo>
                  <a:pt x="1720850" y="49276"/>
                </a:lnTo>
                <a:lnTo>
                  <a:pt x="1720723" y="55626"/>
                </a:lnTo>
                <a:lnTo>
                  <a:pt x="1695323" y="55499"/>
                </a:lnTo>
                <a:close/>
                <a:moveTo>
                  <a:pt x="1739900" y="49276"/>
                </a:moveTo>
                <a:lnTo>
                  <a:pt x="1765300" y="49403"/>
                </a:lnTo>
                <a:lnTo>
                  <a:pt x="1765173" y="55753"/>
                </a:lnTo>
                <a:lnTo>
                  <a:pt x="1739773" y="55626"/>
                </a:lnTo>
                <a:close/>
                <a:moveTo>
                  <a:pt x="1784350" y="49403"/>
                </a:moveTo>
                <a:lnTo>
                  <a:pt x="1809750" y="49530"/>
                </a:lnTo>
                <a:lnTo>
                  <a:pt x="1809623" y="55880"/>
                </a:lnTo>
                <a:lnTo>
                  <a:pt x="1784223" y="55753"/>
                </a:lnTo>
                <a:close/>
                <a:moveTo>
                  <a:pt x="1828800" y="49530"/>
                </a:moveTo>
                <a:lnTo>
                  <a:pt x="1854200" y="49657"/>
                </a:lnTo>
                <a:lnTo>
                  <a:pt x="1854073" y="56007"/>
                </a:lnTo>
                <a:lnTo>
                  <a:pt x="1828673" y="55880"/>
                </a:lnTo>
                <a:close/>
                <a:moveTo>
                  <a:pt x="1873250" y="49657"/>
                </a:moveTo>
                <a:lnTo>
                  <a:pt x="1898650" y="49657"/>
                </a:lnTo>
                <a:lnTo>
                  <a:pt x="1898523" y="56007"/>
                </a:lnTo>
                <a:lnTo>
                  <a:pt x="1873123" y="56007"/>
                </a:lnTo>
                <a:close/>
                <a:moveTo>
                  <a:pt x="1917700" y="49784"/>
                </a:moveTo>
                <a:lnTo>
                  <a:pt x="1943100" y="49784"/>
                </a:lnTo>
                <a:lnTo>
                  <a:pt x="1942973" y="56134"/>
                </a:lnTo>
                <a:lnTo>
                  <a:pt x="1917573" y="56134"/>
                </a:lnTo>
                <a:close/>
                <a:moveTo>
                  <a:pt x="1962150" y="49911"/>
                </a:moveTo>
                <a:lnTo>
                  <a:pt x="1987550" y="49911"/>
                </a:lnTo>
                <a:lnTo>
                  <a:pt x="1987423" y="56261"/>
                </a:lnTo>
                <a:lnTo>
                  <a:pt x="1962023" y="56261"/>
                </a:lnTo>
                <a:close/>
                <a:moveTo>
                  <a:pt x="2006600" y="50038"/>
                </a:moveTo>
                <a:lnTo>
                  <a:pt x="2032000" y="50038"/>
                </a:lnTo>
                <a:lnTo>
                  <a:pt x="2031873" y="56388"/>
                </a:lnTo>
                <a:lnTo>
                  <a:pt x="2006473" y="56388"/>
                </a:lnTo>
                <a:close/>
                <a:moveTo>
                  <a:pt x="2051050" y="50165"/>
                </a:moveTo>
                <a:lnTo>
                  <a:pt x="2076450" y="50165"/>
                </a:lnTo>
                <a:lnTo>
                  <a:pt x="2076323" y="56515"/>
                </a:lnTo>
                <a:lnTo>
                  <a:pt x="2050923" y="56515"/>
                </a:lnTo>
                <a:close/>
                <a:moveTo>
                  <a:pt x="2095500" y="50292"/>
                </a:moveTo>
                <a:lnTo>
                  <a:pt x="2107692" y="50292"/>
                </a:lnTo>
                <a:lnTo>
                  <a:pt x="2107692" y="56642"/>
                </a:lnTo>
                <a:lnTo>
                  <a:pt x="2095373" y="56642"/>
                </a:lnTo>
                <a:close/>
                <a:moveTo>
                  <a:pt x="80772" y="95250"/>
                </a:moveTo>
                <a:lnTo>
                  <a:pt x="0" y="47879"/>
                </a:lnTo>
                <a:lnTo>
                  <a:pt x="81026" y="889"/>
                </a:lnTo>
                <a:cubicBezTo>
                  <a:pt x="82550" y="0"/>
                  <a:pt x="84455" y="508"/>
                  <a:pt x="85344" y="2032"/>
                </a:cubicBezTo>
                <a:cubicBezTo>
                  <a:pt x="86233" y="3556"/>
                  <a:pt x="85725" y="5461"/>
                  <a:pt x="84201" y="6350"/>
                </a:cubicBezTo>
                <a:lnTo>
                  <a:pt x="7874" y="50673"/>
                </a:lnTo>
                <a:lnTo>
                  <a:pt x="7874" y="45212"/>
                </a:lnTo>
                <a:lnTo>
                  <a:pt x="83947" y="89789"/>
                </a:lnTo>
                <a:cubicBezTo>
                  <a:pt x="85471" y="90678"/>
                  <a:pt x="85979" y="92583"/>
                  <a:pt x="85090" y="94107"/>
                </a:cubicBezTo>
                <a:cubicBezTo>
                  <a:pt x="84201" y="95631"/>
                  <a:pt x="82296" y="96139"/>
                  <a:pt x="80772" y="95250"/>
                </a:cubicBezTo>
                <a:close/>
                <a:moveTo>
                  <a:pt x="2033016" y="6096"/>
                </a:moveTo>
                <a:lnTo>
                  <a:pt x="2113788" y="53467"/>
                </a:lnTo>
                <a:lnTo>
                  <a:pt x="2032762" y="100457"/>
                </a:lnTo>
                <a:cubicBezTo>
                  <a:pt x="2031365" y="101346"/>
                  <a:pt x="2029333" y="100838"/>
                  <a:pt x="2028444" y="99314"/>
                </a:cubicBezTo>
                <a:cubicBezTo>
                  <a:pt x="2027555" y="97790"/>
                  <a:pt x="2028063" y="95885"/>
                  <a:pt x="2029587" y="94996"/>
                </a:cubicBezTo>
                <a:lnTo>
                  <a:pt x="2105914" y="50673"/>
                </a:lnTo>
                <a:lnTo>
                  <a:pt x="2105914" y="56134"/>
                </a:lnTo>
                <a:lnTo>
                  <a:pt x="2029841" y="11557"/>
                </a:lnTo>
                <a:cubicBezTo>
                  <a:pt x="2028317" y="10668"/>
                  <a:pt x="2027809" y="8636"/>
                  <a:pt x="2028698" y="7239"/>
                </a:cubicBezTo>
                <a:cubicBezTo>
                  <a:pt x="2029587" y="5715"/>
                  <a:pt x="2031619" y="5207"/>
                  <a:pt x="2033016" y="6096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67" name="Shape 67"/>
          <p:cNvSpPr/>
          <p:nvPr/>
        </p:nvSpPr>
        <p:spPr>
          <a:xfrm>
            <a:off x="2034159" y="5197221"/>
            <a:ext cx="1549527" cy="96139"/>
          </a:xfrm>
          <a:custGeom>
            <a:avLst/>
            <a:gdLst/>
            <a:ahLst/>
            <a:cxnLst/>
            <a:rect l="0" t="0" r="1549527" b="96139"/>
            <a:pathLst>
              <a:path w="1549527" h="96139" stroke="0">
                <a:moveTo>
                  <a:pt x="6350" y="44958"/>
                </a:moveTo>
                <a:lnTo>
                  <a:pt x="31750" y="44958"/>
                </a:lnTo>
                <a:lnTo>
                  <a:pt x="31750" y="51308"/>
                </a:lnTo>
                <a:lnTo>
                  <a:pt x="6350" y="51308"/>
                </a:lnTo>
                <a:close/>
                <a:moveTo>
                  <a:pt x="50800" y="44958"/>
                </a:moveTo>
                <a:lnTo>
                  <a:pt x="76200" y="44958"/>
                </a:lnTo>
                <a:lnTo>
                  <a:pt x="76200" y="51308"/>
                </a:lnTo>
                <a:lnTo>
                  <a:pt x="50800" y="51308"/>
                </a:lnTo>
                <a:close/>
                <a:moveTo>
                  <a:pt x="95250" y="44958"/>
                </a:moveTo>
                <a:lnTo>
                  <a:pt x="120650" y="44958"/>
                </a:lnTo>
                <a:lnTo>
                  <a:pt x="120650" y="51308"/>
                </a:lnTo>
                <a:lnTo>
                  <a:pt x="95250" y="51308"/>
                </a:lnTo>
                <a:close/>
                <a:moveTo>
                  <a:pt x="139700" y="44958"/>
                </a:moveTo>
                <a:lnTo>
                  <a:pt x="165100" y="44958"/>
                </a:lnTo>
                <a:lnTo>
                  <a:pt x="165100" y="51308"/>
                </a:lnTo>
                <a:lnTo>
                  <a:pt x="139700" y="51308"/>
                </a:lnTo>
                <a:close/>
                <a:moveTo>
                  <a:pt x="184150" y="44958"/>
                </a:moveTo>
                <a:lnTo>
                  <a:pt x="209550" y="44958"/>
                </a:lnTo>
                <a:lnTo>
                  <a:pt x="209550" y="51308"/>
                </a:lnTo>
                <a:lnTo>
                  <a:pt x="184150" y="51308"/>
                </a:lnTo>
                <a:close/>
                <a:moveTo>
                  <a:pt x="228600" y="44958"/>
                </a:moveTo>
                <a:lnTo>
                  <a:pt x="254000" y="44958"/>
                </a:lnTo>
                <a:lnTo>
                  <a:pt x="254000" y="51308"/>
                </a:lnTo>
                <a:lnTo>
                  <a:pt x="228600" y="51308"/>
                </a:lnTo>
                <a:close/>
                <a:moveTo>
                  <a:pt x="273050" y="44958"/>
                </a:moveTo>
                <a:lnTo>
                  <a:pt x="298450" y="44958"/>
                </a:lnTo>
                <a:lnTo>
                  <a:pt x="298450" y="51308"/>
                </a:lnTo>
                <a:lnTo>
                  <a:pt x="273050" y="51308"/>
                </a:lnTo>
                <a:close/>
                <a:moveTo>
                  <a:pt x="317500" y="44958"/>
                </a:moveTo>
                <a:lnTo>
                  <a:pt x="342900" y="44958"/>
                </a:lnTo>
                <a:lnTo>
                  <a:pt x="342900" y="51308"/>
                </a:lnTo>
                <a:lnTo>
                  <a:pt x="317500" y="51308"/>
                </a:lnTo>
                <a:close/>
                <a:moveTo>
                  <a:pt x="361950" y="44958"/>
                </a:moveTo>
                <a:lnTo>
                  <a:pt x="387350" y="44958"/>
                </a:lnTo>
                <a:lnTo>
                  <a:pt x="387350" y="51308"/>
                </a:lnTo>
                <a:lnTo>
                  <a:pt x="361950" y="51308"/>
                </a:lnTo>
                <a:close/>
                <a:moveTo>
                  <a:pt x="406400" y="44958"/>
                </a:moveTo>
                <a:lnTo>
                  <a:pt x="431800" y="44958"/>
                </a:lnTo>
                <a:lnTo>
                  <a:pt x="431800" y="51308"/>
                </a:lnTo>
                <a:lnTo>
                  <a:pt x="406400" y="51308"/>
                </a:lnTo>
                <a:close/>
                <a:moveTo>
                  <a:pt x="450850" y="44958"/>
                </a:moveTo>
                <a:lnTo>
                  <a:pt x="476250" y="44958"/>
                </a:lnTo>
                <a:lnTo>
                  <a:pt x="476250" y="51308"/>
                </a:lnTo>
                <a:lnTo>
                  <a:pt x="450850" y="51308"/>
                </a:lnTo>
                <a:close/>
                <a:moveTo>
                  <a:pt x="495300" y="44958"/>
                </a:moveTo>
                <a:lnTo>
                  <a:pt x="520700" y="44958"/>
                </a:lnTo>
                <a:lnTo>
                  <a:pt x="520700" y="51308"/>
                </a:lnTo>
                <a:lnTo>
                  <a:pt x="495300" y="51308"/>
                </a:lnTo>
                <a:close/>
                <a:moveTo>
                  <a:pt x="539750" y="44958"/>
                </a:moveTo>
                <a:lnTo>
                  <a:pt x="565150" y="44958"/>
                </a:lnTo>
                <a:lnTo>
                  <a:pt x="565150" y="51308"/>
                </a:lnTo>
                <a:lnTo>
                  <a:pt x="539750" y="51308"/>
                </a:lnTo>
                <a:close/>
                <a:moveTo>
                  <a:pt x="584200" y="44958"/>
                </a:moveTo>
                <a:lnTo>
                  <a:pt x="609600" y="44958"/>
                </a:lnTo>
                <a:lnTo>
                  <a:pt x="609600" y="51308"/>
                </a:lnTo>
                <a:lnTo>
                  <a:pt x="584200" y="51308"/>
                </a:lnTo>
                <a:close/>
                <a:moveTo>
                  <a:pt x="628650" y="44958"/>
                </a:moveTo>
                <a:lnTo>
                  <a:pt x="654050" y="44958"/>
                </a:lnTo>
                <a:lnTo>
                  <a:pt x="654050" y="51308"/>
                </a:lnTo>
                <a:lnTo>
                  <a:pt x="628650" y="51308"/>
                </a:lnTo>
                <a:close/>
                <a:moveTo>
                  <a:pt x="673100" y="44958"/>
                </a:moveTo>
                <a:lnTo>
                  <a:pt x="698500" y="44958"/>
                </a:lnTo>
                <a:lnTo>
                  <a:pt x="698500" y="51308"/>
                </a:lnTo>
                <a:lnTo>
                  <a:pt x="673100" y="51308"/>
                </a:lnTo>
                <a:close/>
                <a:moveTo>
                  <a:pt x="717550" y="44958"/>
                </a:moveTo>
                <a:lnTo>
                  <a:pt x="742950" y="44958"/>
                </a:lnTo>
                <a:lnTo>
                  <a:pt x="742950" y="51308"/>
                </a:lnTo>
                <a:lnTo>
                  <a:pt x="717550" y="51308"/>
                </a:lnTo>
                <a:close/>
                <a:moveTo>
                  <a:pt x="762000" y="44958"/>
                </a:moveTo>
                <a:lnTo>
                  <a:pt x="787400" y="44958"/>
                </a:lnTo>
                <a:lnTo>
                  <a:pt x="787400" y="51308"/>
                </a:lnTo>
                <a:lnTo>
                  <a:pt x="762000" y="51308"/>
                </a:lnTo>
                <a:close/>
                <a:moveTo>
                  <a:pt x="806450" y="44958"/>
                </a:moveTo>
                <a:lnTo>
                  <a:pt x="831850" y="44958"/>
                </a:lnTo>
                <a:lnTo>
                  <a:pt x="831850" y="51308"/>
                </a:lnTo>
                <a:lnTo>
                  <a:pt x="806450" y="51308"/>
                </a:lnTo>
                <a:close/>
                <a:moveTo>
                  <a:pt x="850900" y="44958"/>
                </a:moveTo>
                <a:lnTo>
                  <a:pt x="876300" y="44958"/>
                </a:lnTo>
                <a:lnTo>
                  <a:pt x="876300" y="51308"/>
                </a:lnTo>
                <a:lnTo>
                  <a:pt x="850900" y="51308"/>
                </a:lnTo>
                <a:close/>
                <a:moveTo>
                  <a:pt x="895350" y="44958"/>
                </a:moveTo>
                <a:lnTo>
                  <a:pt x="920750" y="44958"/>
                </a:lnTo>
                <a:lnTo>
                  <a:pt x="920750" y="51308"/>
                </a:lnTo>
                <a:lnTo>
                  <a:pt x="895350" y="51308"/>
                </a:lnTo>
                <a:close/>
                <a:moveTo>
                  <a:pt x="939800" y="44958"/>
                </a:moveTo>
                <a:lnTo>
                  <a:pt x="965200" y="44958"/>
                </a:lnTo>
                <a:lnTo>
                  <a:pt x="965200" y="51308"/>
                </a:lnTo>
                <a:lnTo>
                  <a:pt x="939800" y="51308"/>
                </a:lnTo>
                <a:close/>
                <a:moveTo>
                  <a:pt x="984250" y="44958"/>
                </a:moveTo>
                <a:lnTo>
                  <a:pt x="1009650" y="44958"/>
                </a:lnTo>
                <a:lnTo>
                  <a:pt x="1009650" y="51308"/>
                </a:lnTo>
                <a:lnTo>
                  <a:pt x="984250" y="51308"/>
                </a:lnTo>
                <a:close/>
                <a:moveTo>
                  <a:pt x="1028700" y="44958"/>
                </a:moveTo>
                <a:lnTo>
                  <a:pt x="1054100" y="44958"/>
                </a:lnTo>
                <a:lnTo>
                  <a:pt x="1054100" y="51308"/>
                </a:lnTo>
                <a:lnTo>
                  <a:pt x="1028700" y="51308"/>
                </a:lnTo>
                <a:close/>
                <a:moveTo>
                  <a:pt x="1073150" y="44958"/>
                </a:moveTo>
                <a:lnTo>
                  <a:pt x="1098550" y="44958"/>
                </a:lnTo>
                <a:lnTo>
                  <a:pt x="1098550" y="51308"/>
                </a:lnTo>
                <a:lnTo>
                  <a:pt x="1073150" y="51308"/>
                </a:lnTo>
                <a:close/>
                <a:moveTo>
                  <a:pt x="1117600" y="44958"/>
                </a:moveTo>
                <a:lnTo>
                  <a:pt x="1143000" y="44958"/>
                </a:lnTo>
                <a:lnTo>
                  <a:pt x="1143000" y="51308"/>
                </a:lnTo>
                <a:lnTo>
                  <a:pt x="1117600" y="51308"/>
                </a:lnTo>
                <a:close/>
                <a:moveTo>
                  <a:pt x="1162050" y="44958"/>
                </a:moveTo>
                <a:lnTo>
                  <a:pt x="1187450" y="44958"/>
                </a:lnTo>
                <a:lnTo>
                  <a:pt x="1187450" y="51308"/>
                </a:lnTo>
                <a:lnTo>
                  <a:pt x="1162050" y="51308"/>
                </a:lnTo>
                <a:close/>
                <a:moveTo>
                  <a:pt x="1206500" y="44958"/>
                </a:moveTo>
                <a:lnTo>
                  <a:pt x="1231900" y="44958"/>
                </a:lnTo>
                <a:lnTo>
                  <a:pt x="1231900" y="51308"/>
                </a:lnTo>
                <a:lnTo>
                  <a:pt x="1206500" y="51308"/>
                </a:lnTo>
                <a:close/>
                <a:moveTo>
                  <a:pt x="1250950" y="44958"/>
                </a:moveTo>
                <a:lnTo>
                  <a:pt x="1276350" y="44958"/>
                </a:lnTo>
                <a:lnTo>
                  <a:pt x="1276350" y="51308"/>
                </a:lnTo>
                <a:lnTo>
                  <a:pt x="1250950" y="51308"/>
                </a:lnTo>
                <a:close/>
                <a:moveTo>
                  <a:pt x="1295400" y="44958"/>
                </a:moveTo>
                <a:lnTo>
                  <a:pt x="1320800" y="44958"/>
                </a:lnTo>
                <a:lnTo>
                  <a:pt x="1320800" y="51308"/>
                </a:lnTo>
                <a:lnTo>
                  <a:pt x="1295400" y="51308"/>
                </a:lnTo>
                <a:close/>
                <a:moveTo>
                  <a:pt x="1339850" y="44958"/>
                </a:moveTo>
                <a:lnTo>
                  <a:pt x="1365250" y="44958"/>
                </a:lnTo>
                <a:lnTo>
                  <a:pt x="1365250" y="51308"/>
                </a:lnTo>
                <a:lnTo>
                  <a:pt x="1339850" y="51308"/>
                </a:lnTo>
                <a:close/>
                <a:moveTo>
                  <a:pt x="1384300" y="44958"/>
                </a:moveTo>
                <a:lnTo>
                  <a:pt x="1409700" y="44958"/>
                </a:lnTo>
                <a:lnTo>
                  <a:pt x="1409700" y="51308"/>
                </a:lnTo>
                <a:lnTo>
                  <a:pt x="1384300" y="51308"/>
                </a:lnTo>
                <a:close/>
                <a:moveTo>
                  <a:pt x="1428750" y="44958"/>
                </a:moveTo>
                <a:lnTo>
                  <a:pt x="1454150" y="44958"/>
                </a:lnTo>
                <a:lnTo>
                  <a:pt x="1454150" y="51308"/>
                </a:lnTo>
                <a:lnTo>
                  <a:pt x="1428750" y="51308"/>
                </a:lnTo>
                <a:close/>
                <a:moveTo>
                  <a:pt x="1473200" y="44958"/>
                </a:moveTo>
                <a:lnTo>
                  <a:pt x="1498600" y="44958"/>
                </a:lnTo>
                <a:lnTo>
                  <a:pt x="1498600" y="51308"/>
                </a:lnTo>
                <a:lnTo>
                  <a:pt x="1473200" y="51308"/>
                </a:lnTo>
                <a:close/>
                <a:moveTo>
                  <a:pt x="1517650" y="44958"/>
                </a:moveTo>
                <a:lnTo>
                  <a:pt x="1543050" y="44958"/>
                </a:lnTo>
                <a:lnTo>
                  <a:pt x="1543050" y="51308"/>
                </a:lnTo>
                <a:lnTo>
                  <a:pt x="1517650" y="51308"/>
                </a:lnTo>
                <a:close/>
                <a:moveTo>
                  <a:pt x="80899" y="95250"/>
                </a:moveTo>
                <a:lnTo>
                  <a:pt x="0" y="48133"/>
                </a:lnTo>
                <a:lnTo>
                  <a:pt x="80899" y="889"/>
                </a:lnTo>
                <a:cubicBezTo>
                  <a:pt x="82423" y="0"/>
                  <a:pt x="84328" y="508"/>
                  <a:pt x="85217" y="2032"/>
                </a:cubicBezTo>
                <a:cubicBezTo>
                  <a:pt x="86106" y="3556"/>
                  <a:pt x="85598" y="5461"/>
                  <a:pt x="84074" y="6350"/>
                </a:cubicBezTo>
                <a:lnTo>
                  <a:pt x="7874" y="50800"/>
                </a:lnTo>
                <a:lnTo>
                  <a:pt x="7874" y="45339"/>
                </a:lnTo>
                <a:lnTo>
                  <a:pt x="84074" y="89789"/>
                </a:lnTo>
                <a:cubicBezTo>
                  <a:pt x="85598" y="90678"/>
                  <a:pt x="86106" y="92583"/>
                  <a:pt x="85217" y="94107"/>
                </a:cubicBezTo>
                <a:cubicBezTo>
                  <a:pt x="84328" y="95631"/>
                  <a:pt x="82423" y="96139"/>
                  <a:pt x="80899" y="95250"/>
                </a:cubicBezTo>
                <a:close/>
                <a:moveTo>
                  <a:pt x="1468628" y="889"/>
                </a:moveTo>
                <a:lnTo>
                  <a:pt x="1549527" y="48133"/>
                </a:lnTo>
                <a:lnTo>
                  <a:pt x="1468628" y="95250"/>
                </a:lnTo>
                <a:cubicBezTo>
                  <a:pt x="1467104" y="96139"/>
                  <a:pt x="1465199" y="95631"/>
                  <a:pt x="1464310" y="94107"/>
                </a:cubicBezTo>
                <a:cubicBezTo>
                  <a:pt x="1463421" y="92583"/>
                  <a:pt x="1463929" y="90678"/>
                  <a:pt x="1465453" y="89789"/>
                </a:cubicBezTo>
                <a:lnTo>
                  <a:pt x="1541653" y="45339"/>
                </a:lnTo>
                <a:lnTo>
                  <a:pt x="1541653" y="50800"/>
                </a:lnTo>
                <a:lnTo>
                  <a:pt x="1465453" y="6350"/>
                </a:lnTo>
                <a:cubicBezTo>
                  <a:pt x="1463929" y="5461"/>
                  <a:pt x="1463421" y="3556"/>
                  <a:pt x="1464310" y="2032"/>
                </a:cubicBezTo>
                <a:cubicBezTo>
                  <a:pt x="1465199" y="508"/>
                  <a:pt x="1467104" y="0"/>
                  <a:pt x="1468628" y="889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68" name="Shape 68"/>
          <p:cNvSpPr/>
          <p:nvPr/>
        </p:nvSpPr>
        <p:spPr>
          <a:xfrm>
            <a:off x="5680075" y="4519422"/>
            <a:ext cx="2016125" cy="96139"/>
          </a:xfrm>
          <a:custGeom>
            <a:avLst/>
            <a:gdLst/>
            <a:ahLst/>
            <a:cxnLst/>
            <a:rect l="0" t="0" r="2016125" b="96139"/>
            <a:pathLst>
              <a:path w="2016125" h="96139" stroke="0">
                <a:moveTo>
                  <a:pt x="6223" y="44831"/>
                </a:moveTo>
                <a:lnTo>
                  <a:pt x="31623" y="44831"/>
                </a:lnTo>
                <a:lnTo>
                  <a:pt x="31623" y="51181"/>
                </a:lnTo>
                <a:lnTo>
                  <a:pt x="6223" y="51181"/>
                </a:lnTo>
                <a:close/>
                <a:moveTo>
                  <a:pt x="50673" y="44831"/>
                </a:moveTo>
                <a:lnTo>
                  <a:pt x="76073" y="44831"/>
                </a:lnTo>
                <a:lnTo>
                  <a:pt x="76073" y="51181"/>
                </a:lnTo>
                <a:lnTo>
                  <a:pt x="50673" y="51181"/>
                </a:lnTo>
                <a:close/>
                <a:moveTo>
                  <a:pt x="95123" y="44831"/>
                </a:moveTo>
                <a:lnTo>
                  <a:pt x="120523" y="44831"/>
                </a:lnTo>
                <a:lnTo>
                  <a:pt x="120523" y="51181"/>
                </a:lnTo>
                <a:lnTo>
                  <a:pt x="95123" y="51181"/>
                </a:lnTo>
                <a:close/>
                <a:moveTo>
                  <a:pt x="139573" y="44831"/>
                </a:moveTo>
                <a:lnTo>
                  <a:pt x="164973" y="44831"/>
                </a:lnTo>
                <a:lnTo>
                  <a:pt x="164973" y="51181"/>
                </a:lnTo>
                <a:lnTo>
                  <a:pt x="139573" y="51181"/>
                </a:lnTo>
                <a:close/>
                <a:moveTo>
                  <a:pt x="184023" y="44831"/>
                </a:moveTo>
                <a:lnTo>
                  <a:pt x="209423" y="44831"/>
                </a:lnTo>
                <a:lnTo>
                  <a:pt x="209423" y="51181"/>
                </a:lnTo>
                <a:lnTo>
                  <a:pt x="184023" y="51181"/>
                </a:lnTo>
                <a:close/>
                <a:moveTo>
                  <a:pt x="228473" y="44831"/>
                </a:moveTo>
                <a:lnTo>
                  <a:pt x="253873" y="44831"/>
                </a:lnTo>
                <a:lnTo>
                  <a:pt x="253873" y="51181"/>
                </a:lnTo>
                <a:lnTo>
                  <a:pt x="228473" y="51181"/>
                </a:lnTo>
                <a:close/>
                <a:moveTo>
                  <a:pt x="272923" y="44831"/>
                </a:moveTo>
                <a:lnTo>
                  <a:pt x="298323" y="44831"/>
                </a:lnTo>
                <a:lnTo>
                  <a:pt x="298323" y="51181"/>
                </a:lnTo>
                <a:lnTo>
                  <a:pt x="272923" y="51181"/>
                </a:lnTo>
                <a:close/>
                <a:moveTo>
                  <a:pt x="317373" y="44831"/>
                </a:moveTo>
                <a:lnTo>
                  <a:pt x="342773" y="44831"/>
                </a:lnTo>
                <a:lnTo>
                  <a:pt x="342773" y="51181"/>
                </a:lnTo>
                <a:lnTo>
                  <a:pt x="317373" y="51181"/>
                </a:lnTo>
                <a:close/>
                <a:moveTo>
                  <a:pt x="361823" y="44831"/>
                </a:moveTo>
                <a:lnTo>
                  <a:pt x="387223" y="44831"/>
                </a:lnTo>
                <a:lnTo>
                  <a:pt x="387223" y="51181"/>
                </a:lnTo>
                <a:lnTo>
                  <a:pt x="361823" y="51181"/>
                </a:lnTo>
                <a:close/>
                <a:moveTo>
                  <a:pt x="406273" y="44831"/>
                </a:moveTo>
                <a:lnTo>
                  <a:pt x="431673" y="44831"/>
                </a:lnTo>
                <a:lnTo>
                  <a:pt x="431673" y="51181"/>
                </a:lnTo>
                <a:lnTo>
                  <a:pt x="406273" y="51181"/>
                </a:lnTo>
                <a:close/>
                <a:moveTo>
                  <a:pt x="450723" y="44831"/>
                </a:moveTo>
                <a:lnTo>
                  <a:pt x="476123" y="44831"/>
                </a:lnTo>
                <a:lnTo>
                  <a:pt x="476123" y="51181"/>
                </a:lnTo>
                <a:lnTo>
                  <a:pt x="450723" y="51181"/>
                </a:lnTo>
                <a:close/>
                <a:moveTo>
                  <a:pt x="495173" y="44831"/>
                </a:moveTo>
                <a:lnTo>
                  <a:pt x="520573" y="44831"/>
                </a:lnTo>
                <a:lnTo>
                  <a:pt x="520573" y="51181"/>
                </a:lnTo>
                <a:lnTo>
                  <a:pt x="495173" y="51181"/>
                </a:lnTo>
                <a:close/>
                <a:moveTo>
                  <a:pt x="539623" y="44831"/>
                </a:moveTo>
                <a:lnTo>
                  <a:pt x="565023" y="44831"/>
                </a:lnTo>
                <a:lnTo>
                  <a:pt x="565023" y="51181"/>
                </a:lnTo>
                <a:lnTo>
                  <a:pt x="539623" y="51181"/>
                </a:lnTo>
                <a:close/>
                <a:moveTo>
                  <a:pt x="584073" y="44831"/>
                </a:moveTo>
                <a:lnTo>
                  <a:pt x="609473" y="44831"/>
                </a:lnTo>
                <a:lnTo>
                  <a:pt x="609473" y="51181"/>
                </a:lnTo>
                <a:lnTo>
                  <a:pt x="584073" y="51181"/>
                </a:lnTo>
                <a:close/>
                <a:moveTo>
                  <a:pt x="628523" y="44831"/>
                </a:moveTo>
                <a:lnTo>
                  <a:pt x="653923" y="44831"/>
                </a:lnTo>
                <a:lnTo>
                  <a:pt x="653923" y="51181"/>
                </a:lnTo>
                <a:lnTo>
                  <a:pt x="628523" y="51181"/>
                </a:lnTo>
                <a:close/>
                <a:moveTo>
                  <a:pt x="672973" y="44831"/>
                </a:moveTo>
                <a:lnTo>
                  <a:pt x="698373" y="44831"/>
                </a:lnTo>
                <a:lnTo>
                  <a:pt x="698373" y="51181"/>
                </a:lnTo>
                <a:lnTo>
                  <a:pt x="672973" y="51181"/>
                </a:lnTo>
                <a:close/>
                <a:moveTo>
                  <a:pt x="717423" y="44831"/>
                </a:moveTo>
                <a:lnTo>
                  <a:pt x="742823" y="44831"/>
                </a:lnTo>
                <a:lnTo>
                  <a:pt x="742823" y="51181"/>
                </a:lnTo>
                <a:lnTo>
                  <a:pt x="717423" y="51181"/>
                </a:lnTo>
                <a:close/>
                <a:moveTo>
                  <a:pt x="761873" y="44831"/>
                </a:moveTo>
                <a:lnTo>
                  <a:pt x="787273" y="44831"/>
                </a:lnTo>
                <a:lnTo>
                  <a:pt x="787273" y="51181"/>
                </a:lnTo>
                <a:lnTo>
                  <a:pt x="761873" y="51181"/>
                </a:lnTo>
                <a:close/>
                <a:moveTo>
                  <a:pt x="806323" y="44831"/>
                </a:moveTo>
                <a:lnTo>
                  <a:pt x="831723" y="44831"/>
                </a:lnTo>
                <a:lnTo>
                  <a:pt x="831723" y="51181"/>
                </a:lnTo>
                <a:lnTo>
                  <a:pt x="806323" y="51181"/>
                </a:lnTo>
                <a:close/>
                <a:moveTo>
                  <a:pt x="850773" y="44831"/>
                </a:moveTo>
                <a:lnTo>
                  <a:pt x="876173" y="44831"/>
                </a:lnTo>
                <a:lnTo>
                  <a:pt x="876173" y="51181"/>
                </a:lnTo>
                <a:lnTo>
                  <a:pt x="850773" y="51181"/>
                </a:lnTo>
                <a:close/>
                <a:moveTo>
                  <a:pt x="895223" y="44831"/>
                </a:moveTo>
                <a:lnTo>
                  <a:pt x="920623" y="44831"/>
                </a:lnTo>
                <a:lnTo>
                  <a:pt x="920623" y="51181"/>
                </a:lnTo>
                <a:lnTo>
                  <a:pt x="895223" y="51181"/>
                </a:lnTo>
                <a:close/>
                <a:moveTo>
                  <a:pt x="939673" y="44831"/>
                </a:moveTo>
                <a:lnTo>
                  <a:pt x="965073" y="44831"/>
                </a:lnTo>
                <a:lnTo>
                  <a:pt x="965073" y="51181"/>
                </a:lnTo>
                <a:lnTo>
                  <a:pt x="939673" y="51181"/>
                </a:lnTo>
                <a:close/>
                <a:moveTo>
                  <a:pt x="984123" y="44831"/>
                </a:moveTo>
                <a:lnTo>
                  <a:pt x="1009523" y="44831"/>
                </a:lnTo>
                <a:lnTo>
                  <a:pt x="1009523" y="51181"/>
                </a:lnTo>
                <a:lnTo>
                  <a:pt x="984123" y="51181"/>
                </a:lnTo>
                <a:close/>
                <a:moveTo>
                  <a:pt x="1028573" y="44831"/>
                </a:moveTo>
                <a:lnTo>
                  <a:pt x="1053973" y="44831"/>
                </a:lnTo>
                <a:lnTo>
                  <a:pt x="1053973" y="51181"/>
                </a:lnTo>
                <a:lnTo>
                  <a:pt x="1028573" y="51181"/>
                </a:lnTo>
                <a:close/>
                <a:moveTo>
                  <a:pt x="1073023" y="44831"/>
                </a:moveTo>
                <a:lnTo>
                  <a:pt x="1098423" y="44831"/>
                </a:lnTo>
                <a:lnTo>
                  <a:pt x="1098423" y="51181"/>
                </a:lnTo>
                <a:lnTo>
                  <a:pt x="1073023" y="51181"/>
                </a:lnTo>
                <a:close/>
                <a:moveTo>
                  <a:pt x="1117473" y="44831"/>
                </a:moveTo>
                <a:lnTo>
                  <a:pt x="1142873" y="44831"/>
                </a:lnTo>
                <a:lnTo>
                  <a:pt x="1142873" y="51181"/>
                </a:lnTo>
                <a:lnTo>
                  <a:pt x="1117473" y="51181"/>
                </a:lnTo>
                <a:close/>
                <a:moveTo>
                  <a:pt x="1161923" y="44831"/>
                </a:moveTo>
                <a:lnTo>
                  <a:pt x="1187323" y="44831"/>
                </a:lnTo>
                <a:lnTo>
                  <a:pt x="1187323" y="51181"/>
                </a:lnTo>
                <a:lnTo>
                  <a:pt x="1161923" y="51181"/>
                </a:lnTo>
                <a:close/>
                <a:moveTo>
                  <a:pt x="1206373" y="44831"/>
                </a:moveTo>
                <a:lnTo>
                  <a:pt x="1231773" y="44831"/>
                </a:lnTo>
                <a:lnTo>
                  <a:pt x="1231773" y="51181"/>
                </a:lnTo>
                <a:lnTo>
                  <a:pt x="1206373" y="51181"/>
                </a:lnTo>
                <a:close/>
                <a:moveTo>
                  <a:pt x="1250823" y="44831"/>
                </a:moveTo>
                <a:lnTo>
                  <a:pt x="1276223" y="44831"/>
                </a:lnTo>
                <a:lnTo>
                  <a:pt x="1276223" y="51181"/>
                </a:lnTo>
                <a:lnTo>
                  <a:pt x="1250823" y="51181"/>
                </a:lnTo>
                <a:close/>
                <a:moveTo>
                  <a:pt x="1295273" y="44831"/>
                </a:moveTo>
                <a:lnTo>
                  <a:pt x="1320673" y="44831"/>
                </a:lnTo>
                <a:lnTo>
                  <a:pt x="1320673" y="51181"/>
                </a:lnTo>
                <a:lnTo>
                  <a:pt x="1295273" y="51181"/>
                </a:lnTo>
                <a:close/>
                <a:moveTo>
                  <a:pt x="1339723" y="44831"/>
                </a:moveTo>
                <a:lnTo>
                  <a:pt x="1365123" y="44831"/>
                </a:lnTo>
                <a:lnTo>
                  <a:pt x="1365123" y="51181"/>
                </a:lnTo>
                <a:lnTo>
                  <a:pt x="1339723" y="51181"/>
                </a:lnTo>
                <a:close/>
                <a:moveTo>
                  <a:pt x="1384173" y="44831"/>
                </a:moveTo>
                <a:lnTo>
                  <a:pt x="1409573" y="44831"/>
                </a:lnTo>
                <a:lnTo>
                  <a:pt x="1409573" y="51181"/>
                </a:lnTo>
                <a:lnTo>
                  <a:pt x="1384173" y="51181"/>
                </a:lnTo>
                <a:close/>
                <a:moveTo>
                  <a:pt x="1428623" y="44831"/>
                </a:moveTo>
                <a:lnTo>
                  <a:pt x="1454023" y="44831"/>
                </a:lnTo>
                <a:lnTo>
                  <a:pt x="1454023" y="51181"/>
                </a:lnTo>
                <a:lnTo>
                  <a:pt x="1428623" y="51181"/>
                </a:lnTo>
                <a:close/>
                <a:moveTo>
                  <a:pt x="1473073" y="44831"/>
                </a:moveTo>
                <a:lnTo>
                  <a:pt x="1498473" y="44831"/>
                </a:lnTo>
                <a:lnTo>
                  <a:pt x="1498473" y="51181"/>
                </a:lnTo>
                <a:lnTo>
                  <a:pt x="1473073" y="51181"/>
                </a:lnTo>
                <a:close/>
                <a:moveTo>
                  <a:pt x="1517523" y="44831"/>
                </a:moveTo>
                <a:lnTo>
                  <a:pt x="1542923" y="44831"/>
                </a:lnTo>
                <a:lnTo>
                  <a:pt x="1542923" y="51181"/>
                </a:lnTo>
                <a:lnTo>
                  <a:pt x="1517523" y="51181"/>
                </a:lnTo>
                <a:close/>
                <a:moveTo>
                  <a:pt x="1561973" y="44831"/>
                </a:moveTo>
                <a:lnTo>
                  <a:pt x="1587373" y="44831"/>
                </a:lnTo>
                <a:lnTo>
                  <a:pt x="1587373" y="51181"/>
                </a:lnTo>
                <a:lnTo>
                  <a:pt x="1561973" y="51181"/>
                </a:lnTo>
                <a:close/>
                <a:moveTo>
                  <a:pt x="1606423" y="44831"/>
                </a:moveTo>
                <a:lnTo>
                  <a:pt x="1631823" y="44831"/>
                </a:lnTo>
                <a:lnTo>
                  <a:pt x="1631823" y="51181"/>
                </a:lnTo>
                <a:lnTo>
                  <a:pt x="1606423" y="51181"/>
                </a:lnTo>
                <a:close/>
                <a:moveTo>
                  <a:pt x="1650873" y="44831"/>
                </a:moveTo>
                <a:lnTo>
                  <a:pt x="1676273" y="44831"/>
                </a:lnTo>
                <a:lnTo>
                  <a:pt x="1676273" y="51181"/>
                </a:lnTo>
                <a:lnTo>
                  <a:pt x="1650873" y="51181"/>
                </a:lnTo>
                <a:close/>
                <a:moveTo>
                  <a:pt x="1695323" y="44831"/>
                </a:moveTo>
                <a:lnTo>
                  <a:pt x="1720723" y="44831"/>
                </a:lnTo>
                <a:lnTo>
                  <a:pt x="1720723" y="51181"/>
                </a:lnTo>
                <a:lnTo>
                  <a:pt x="1695323" y="51181"/>
                </a:lnTo>
                <a:close/>
                <a:moveTo>
                  <a:pt x="1739773" y="44831"/>
                </a:moveTo>
                <a:lnTo>
                  <a:pt x="1765173" y="44831"/>
                </a:lnTo>
                <a:lnTo>
                  <a:pt x="1765173" y="51181"/>
                </a:lnTo>
                <a:lnTo>
                  <a:pt x="1739773" y="51181"/>
                </a:lnTo>
                <a:close/>
                <a:moveTo>
                  <a:pt x="1784223" y="44831"/>
                </a:moveTo>
                <a:lnTo>
                  <a:pt x="1809623" y="44831"/>
                </a:lnTo>
                <a:lnTo>
                  <a:pt x="1809623" y="51181"/>
                </a:lnTo>
                <a:lnTo>
                  <a:pt x="1784223" y="51181"/>
                </a:lnTo>
                <a:close/>
                <a:moveTo>
                  <a:pt x="1828673" y="44831"/>
                </a:moveTo>
                <a:lnTo>
                  <a:pt x="1854073" y="44831"/>
                </a:lnTo>
                <a:lnTo>
                  <a:pt x="1854073" y="51181"/>
                </a:lnTo>
                <a:lnTo>
                  <a:pt x="1828673" y="51181"/>
                </a:lnTo>
                <a:close/>
                <a:moveTo>
                  <a:pt x="1873123" y="44831"/>
                </a:moveTo>
                <a:lnTo>
                  <a:pt x="1898523" y="44831"/>
                </a:lnTo>
                <a:lnTo>
                  <a:pt x="1898523" y="51181"/>
                </a:lnTo>
                <a:lnTo>
                  <a:pt x="1873123" y="51181"/>
                </a:lnTo>
                <a:close/>
                <a:moveTo>
                  <a:pt x="1917573" y="44831"/>
                </a:moveTo>
                <a:lnTo>
                  <a:pt x="1942973" y="44831"/>
                </a:lnTo>
                <a:lnTo>
                  <a:pt x="1942973" y="51181"/>
                </a:lnTo>
                <a:lnTo>
                  <a:pt x="1917573" y="51181"/>
                </a:lnTo>
                <a:close/>
                <a:moveTo>
                  <a:pt x="1962023" y="44831"/>
                </a:moveTo>
                <a:lnTo>
                  <a:pt x="1987423" y="44831"/>
                </a:lnTo>
                <a:lnTo>
                  <a:pt x="1987423" y="51181"/>
                </a:lnTo>
                <a:lnTo>
                  <a:pt x="1962023" y="51181"/>
                </a:lnTo>
                <a:close/>
                <a:moveTo>
                  <a:pt x="2006473" y="44831"/>
                </a:moveTo>
                <a:lnTo>
                  <a:pt x="2009902" y="44831"/>
                </a:lnTo>
                <a:lnTo>
                  <a:pt x="2009902" y="51181"/>
                </a:lnTo>
                <a:lnTo>
                  <a:pt x="2006473" y="51181"/>
                </a:lnTo>
                <a:close/>
                <a:moveTo>
                  <a:pt x="80899" y="95250"/>
                </a:moveTo>
                <a:lnTo>
                  <a:pt x="0" y="48006"/>
                </a:lnTo>
                <a:lnTo>
                  <a:pt x="80899" y="889"/>
                </a:lnTo>
                <a:cubicBezTo>
                  <a:pt x="82423" y="0"/>
                  <a:pt x="84328" y="508"/>
                  <a:pt x="85217" y="2032"/>
                </a:cubicBezTo>
                <a:cubicBezTo>
                  <a:pt x="86106" y="3556"/>
                  <a:pt x="85598" y="5461"/>
                  <a:pt x="84074" y="6350"/>
                </a:cubicBezTo>
                <a:lnTo>
                  <a:pt x="7874" y="50800"/>
                </a:lnTo>
                <a:lnTo>
                  <a:pt x="7874" y="45339"/>
                </a:lnTo>
                <a:lnTo>
                  <a:pt x="84074" y="89789"/>
                </a:lnTo>
                <a:cubicBezTo>
                  <a:pt x="85598" y="90678"/>
                  <a:pt x="86106" y="92583"/>
                  <a:pt x="85217" y="94107"/>
                </a:cubicBezTo>
                <a:cubicBezTo>
                  <a:pt x="84328" y="95631"/>
                  <a:pt x="82423" y="96139"/>
                  <a:pt x="80899" y="95250"/>
                </a:cubicBezTo>
                <a:close/>
                <a:moveTo>
                  <a:pt x="1935226" y="889"/>
                </a:moveTo>
                <a:lnTo>
                  <a:pt x="2016125" y="48006"/>
                </a:lnTo>
                <a:lnTo>
                  <a:pt x="1935226" y="95250"/>
                </a:lnTo>
                <a:cubicBezTo>
                  <a:pt x="1933702" y="96139"/>
                  <a:pt x="1931797" y="95631"/>
                  <a:pt x="1930908" y="94107"/>
                </a:cubicBezTo>
                <a:cubicBezTo>
                  <a:pt x="1930019" y="92583"/>
                  <a:pt x="1930527" y="90678"/>
                  <a:pt x="1932051" y="89789"/>
                </a:cubicBezTo>
                <a:lnTo>
                  <a:pt x="2008251" y="45339"/>
                </a:lnTo>
                <a:lnTo>
                  <a:pt x="2008251" y="50800"/>
                </a:lnTo>
                <a:lnTo>
                  <a:pt x="1932051" y="6350"/>
                </a:lnTo>
                <a:cubicBezTo>
                  <a:pt x="1930527" y="5461"/>
                  <a:pt x="1930019" y="3556"/>
                  <a:pt x="1930908" y="2032"/>
                </a:cubicBezTo>
                <a:cubicBezTo>
                  <a:pt x="1931797" y="508"/>
                  <a:pt x="1933702" y="0"/>
                  <a:pt x="1935226" y="889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69" name="TextBox 69"/>
          <p:cNvSpPr txBox="1"/>
          <p:nvPr/>
        </p:nvSpPr>
        <p:spPr>
          <a:xfrm>
            <a:off x="1245413" y="4582668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무시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675130" y="458266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38733" y="4856988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가능한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783334" y="485698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138733" y="5131308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807198" y="5677875"/>
            <a:ext cx="125288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0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980934" y="4847209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리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980934" y="5121249"/>
            <a:ext cx="219474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스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980934" y="5396179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크</a:t>
            </a:r>
          </a:p>
        </p:txBody>
      </p:sp>
      <p:sp>
        <p:nvSpPr>
          <p:cNvPr id="78" name="Shape 78"/>
          <p:cNvSpPr/>
          <p:nvPr/>
        </p:nvSpPr>
        <p:spPr>
          <a:xfrm>
            <a:off x="5697474" y="4080891"/>
            <a:ext cx="1" cy="1710665"/>
          </a:xfrm>
          <a:custGeom>
            <a:avLst/>
            <a:gdLst/>
            <a:ahLst/>
            <a:cxnLst/>
            <a:rect l="0" t="0" r="1" b="1710665"/>
            <a:pathLst>
              <a:path w="1" h="1710665" fill="none">
                <a:moveTo>
                  <a:pt x="0" y="0"/>
                </a:moveTo>
                <a:lnTo>
                  <a:pt x="0" y="1710665"/>
                </a:lnTo>
              </a:path>
            </a:pathLst>
          </a:custGeom>
          <a:noFill/>
          <a:ln w="63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9" name="Shape 79"/>
          <p:cNvSpPr/>
          <p:nvPr/>
        </p:nvSpPr>
        <p:spPr>
          <a:xfrm>
            <a:off x="2034159" y="4967986"/>
            <a:ext cx="1" cy="823570"/>
          </a:xfrm>
          <a:custGeom>
            <a:avLst/>
            <a:gdLst/>
            <a:ahLst/>
            <a:cxnLst/>
            <a:rect l="0" t="0" r="1" b="823570"/>
            <a:pathLst>
              <a:path w="1" h="823570" fill="none">
                <a:moveTo>
                  <a:pt x="0" y="0"/>
                </a:moveTo>
                <a:lnTo>
                  <a:pt x="0" y="823570"/>
                </a:lnTo>
              </a:path>
            </a:pathLst>
          </a:custGeom>
          <a:noFill/>
          <a:ln w="63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" name="Shape 80"/>
          <p:cNvSpPr/>
          <p:nvPr/>
        </p:nvSpPr>
        <p:spPr>
          <a:xfrm>
            <a:off x="925411" y="4715129"/>
            <a:ext cx="6784124" cy="1076427"/>
          </a:xfrm>
          <a:custGeom>
            <a:avLst/>
            <a:gdLst/>
            <a:ahLst/>
            <a:cxnLst/>
            <a:rect l="0" t="0" r="6784124" b="1076427"/>
            <a:pathLst>
              <a:path w="6784124" h="1076427" fill="none">
                <a:moveTo>
                  <a:pt x="0" y="1076427"/>
                </a:moveTo>
                <a:lnTo>
                  <a:pt x="6784124" y="0"/>
                </a:lnTo>
              </a:path>
            </a:pathLst>
          </a:custGeom>
          <a:noFill/>
          <a:ln w="3810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TextBox 81"/>
          <p:cNvSpPr txBox="1"/>
          <p:nvPr/>
        </p:nvSpPr>
        <p:spPr>
          <a:xfrm>
            <a:off x="7788910" y="4601296"/>
            <a:ext cx="125288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1</a:t>
            </a:r>
          </a:p>
        </p:txBody>
      </p:sp>
      <p:sp>
        <p:nvSpPr>
          <p:cNvPr id="82" name="Shape 82"/>
          <p:cNvSpPr/>
          <p:nvPr/>
        </p:nvSpPr>
        <p:spPr>
          <a:xfrm>
            <a:off x="918235" y="5400040"/>
            <a:ext cx="1115924" cy="96139"/>
          </a:xfrm>
          <a:custGeom>
            <a:avLst/>
            <a:gdLst/>
            <a:ahLst/>
            <a:cxnLst/>
            <a:rect l="0" t="0" r="1115924" b="96139"/>
            <a:pathLst>
              <a:path w="1115924" h="96139" stroke="0">
                <a:moveTo>
                  <a:pt x="6325" y="44831"/>
                </a:moveTo>
                <a:lnTo>
                  <a:pt x="31725" y="44831"/>
                </a:lnTo>
                <a:lnTo>
                  <a:pt x="31725" y="51181"/>
                </a:lnTo>
                <a:lnTo>
                  <a:pt x="6325" y="51181"/>
                </a:lnTo>
                <a:close/>
                <a:moveTo>
                  <a:pt x="50775" y="44831"/>
                </a:moveTo>
                <a:lnTo>
                  <a:pt x="76175" y="44831"/>
                </a:lnTo>
                <a:lnTo>
                  <a:pt x="76175" y="51181"/>
                </a:lnTo>
                <a:lnTo>
                  <a:pt x="50775" y="51181"/>
                </a:lnTo>
                <a:close/>
                <a:moveTo>
                  <a:pt x="95225" y="44831"/>
                </a:moveTo>
                <a:lnTo>
                  <a:pt x="120625" y="44831"/>
                </a:lnTo>
                <a:lnTo>
                  <a:pt x="120625" y="51181"/>
                </a:lnTo>
                <a:lnTo>
                  <a:pt x="95225" y="51181"/>
                </a:lnTo>
                <a:close/>
                <a:moveTo>
                  <a:pt x="139675" y="44831"/>
                </a:moveTo>
                <a:lnTo>
                  <a:pt x="165075" y="44831"/>
                </a:lnTo>
                <a:lnTo>
                  <a:pt x="165075" y="51181"/>
                </a:lnTo>
                <a:lnTo>
                  <a:pt x="139675" y="51181"/>
                </a:lnTo>
                <a:close/>
                <a:moveTo>
                  <a:pt x="184125" y="44831"/>
                </a:moveTo>
                <a:lnTo>
                  <a:pt x="209525" y="44831"/>
                </a:lnTo>
                <a:lnTo>
                  <a:pt x="209525" y="51181"/>
                </a:lnTo>
                <a:lnTo>
                  <a:pt x="184125" y="51181"/>
                </a:lnTo>
                <a:close/>
                <a:moveTo>
                  <a:pt x="228575" y="44831"/>
                </a:moveTo>
                <a:lnTo>
                  <a:pt x="253975" y="44831"/>
                </a:lnTo>
                <a:lnTo>
                  <a:pt x="253975" y="51181"/>
                </a:lnTo>
                <a:lnTo>
                  <a:pt x="228575" y="51181"/>
                </a:lnTo>
                <a:close/>
                <a:moveTo>
                  <a:pt x="273025" y="44831"/>
                </a:moveTo>
                <a:lnTo>
                  <a:pt x="298425" y="44831"/>
                </a:lnTo>
                <a:lnTo>
                  <a:pt x="298425" y="51181"/>
                </a:lnTo>
                <a:lnTo>
                  <a:pt x="273025" y="51181"/>
                </a:lnTo>
                <a:close/>
                <a:moveTo>
                  <a:pt x="317475" y="44831"/>
                </a:moveTo>
                <a:lnTo>
                  <a:pt x="342875" y="44831"/>
                </a:lnTo>
                <a:lnTo>
                  <a:pt x="342875" y="51181"/>
                </a:lnTo>
                <a:lnTo>
                  <a:pt x="317475" y="51181"/>
                </a:lnTo>
                <a:close/>
                <a:moveTo>
                  <a:pt x="361925" y="44831"/>
                </a:moveTo>
                <a:lnTo>
                  <a:pt x="387325" y="44831"/>
                </a:lnTo>
                <a:lnTo>
                  <a:pt x="387325" y="51181"/>
                </a:lnTo>
                <a:lnTo>
                  <a:pt x="361925" y="51181"/>
                </a:lnTo>
                <a:close/>
                <a:moveTo>
                  <a:pt x="406375" y="44831"/>
                </a:moveTo>
                <a:lnTo>
                  <a:pt x="431775" y="44831"/>
                </a:lnTo>
                <a:lnTo>
                  <a:pt x="431775" y="51181"/>
                </a:lnTo>
                <a:lnTo>
                  <a:pt x="406375" y="51181"/>
                </a:lnTo>
                <a:close/>
                <a:moveTo>
                  <a:pt x="450825" y="44831"/>
                </a:moveTo>
                <a:lnTo>
                  <a:pt x="476225" y="44831"/>
                </a:lnTo>
                <a:lnTo>
                  <a:pt x="476225" y="51181"/>
                </a:lnTo>
                <a:lnTo>
                  <a:pt x="450825" y="51181"/>
                </a:lnTo>
                <a:close/>
                <a:moveTo>
                  <a:pt x="495275" y="44831"/>
                </a:moveTo>
                <a:lnTo>
                  <a:pt x="520675" y="44831"/>
                </a:lnTo>
                <a:lnTo>
                  <a:pt x="520675" y="51181"/>
                </a:lnTo>
                <a:lnTo>
                  <a:pt x="495275" y="51181"/>
                </a:lnTo>
                <a:close/>
                <a:moveTo>
                  <a:pt x="539725" y="44831"/>
                </a:moveTo>
                <a:lnTo>
                  <a:pt x="565125" y="44831"/>
                </a:lnTo>
                <a:lnTo>
                  <a:pt x="565125" y="51181"/>
                </a:lnTo>
                <a:lnTo>
                  <a:pt x="539725" y="51181"/>
                </a:lnTo>
                <a:close/>
                <a:moveTo>
                  <a:pt x="584175" y="44831"/>
                </a:moveTo>
                <a:lnTo>
                  <a:pt x="609575" y="44831"/>
                </a:lnTo>
                <a:lnTo>
                  <a:pt x="609575" y="51181"/>
                </a:lnTo>
                <a:lnTo>
                  <a:pt x="584175" y="51181"/>
                </a:lnTo>
                <a:close/>
                <a:moveTo>
                  <a:pt x="628625" y="44831"/>
                </a:moveTo>
                <a:lnTo>
                  <a:pt x="654025" y="44831"/>
                </a:lnTo>
                <a:lnTo>
                  <a:pt x="654025" y="51181"/>
                </a:lnTo>
                <a:lnTo>
                  <a:pt x="628625" y="51181"/>
                </a:lnTo>
                <a:close/>
                <a:moveTo>
                  <a:pt x="673075" y="44831"/>
                </a:moveTo>
                <a:lnTo>
                  <a:pt x="698475" y="44831"/>
                </a:lnTo>
                <a:lnTo>
                  <a:pt x="698475" y="51181"/>
                </a:lnTo>
                <a:lnTo>
                  <a:pt x="673075" y="51181"/>
                </a:lnTo>
                <a:close/>
                <a:moveTo>
                  <a:pt x="717525" y="44831"/>
                </a:moveTo>
                <a:lnTo>
                  <a:pt x="742925" y="44831"/>
                </a:lnTo>
                <a:lnTo>
                  <a:pt x="742925" y="51181"/>
                </a:lnTo>
                <a:lnTo>
                  <a:pt x="717525" y="51181"/>
                </a:lnTo>
                <a:close/>
                <a:moveTo>
                  <a:pt x="761975" y="44831"/>
                </a:moveTo>
                <a:lnTo>
                  <a:pt x="787375" y="44831"/>
                </a:lnTo>
                <a:lnTo>
                  <a:pt x="787375" y="51181"/>
                </a:lnTo>
                <a:lnTo>
                  <a:pt x="761975" y="51181"/>
                </a:lnTo>
                <a:close/>
                <a:moveTo>
                  <a:pt x="806425" y="44831"/>
                </a:moveTo>
                <a:lnTo>
                  <a:pt x="831825" y="44831"/>
                </a:lnTo>
                <a:lnTo>
                  <a:pt x="831825" y="51181"/>
                </a:lnTo>
                <a:lnTo>
                  <a:pt x="806425" y="51181"/>
                </a:lnTo>
                <a:close/>
                <a:moveTo>
                  <a:pt x="850875" y="44831"/>
                </a:moveTo>
                <a:lnTo>
                  <a:pt x="876275" y="44831"/>
                </a:lnTo>
                <a:lnTo>
                  <a:pt x="876275" y="51181"/>
                </a:lnTo>
                <a:lnTo>
                  <a:pt x="850875" y="51181"/>
                </a:lnTo>
                <a:close/>
                <a:moveTo>
                  <a:pt x="895325" y="44831"/>
                </a:moveTo>
                <a:lnTo>
                  <a:pt x="920725" y="44831"/>
                </a:lnTo>
                <a:lnTo>
                  <a:pt x="920725" y="51181"/>
                </a:lnTo>
                <a:lnTo>
                  <a:pt x="895325" y="51181"/>
                </a:lnTo>
                <a:close/>
                <a:moveTo>
                  <a:pt x="939775" y="44831"/>
                </a:moveTo>
                <a:lnTo>
                  <a:pt x="965175" y="44831"/>
                </a:lnTo>
                <a:lnTo>
                  <a:pt x="965175" y="51181"/>
                </a:lnTo>
                <a:lnTo>
                  <a:pt x="939775" y="51181"/>
                </a:lnTo>
                <a:close/>
                <a:moveTo>
                  <a:pt x="984225" y="44831"/>
                </a:moveTo>
                <a:lnTo>
                  <a:pt x="1009625" y="44831"/>
                </a:lnTo>
                <a:lnTo>
                  <a:pt x="1009625" y="51181"/>
                </a:lnTo>
                <a:lnTo>
                  <a:pt x="984225" y="51181"/>
                </a:lnTo>
                <a:close/>
                <a:moveTo>
                  <a:pt x="1028675" y="44831"/>
                </a:moveTo>
                <a:lnTo>
                  <a:pt x="1054075" y="44831"/>
                </a:lnTo>
                <a:lnTo>
                  <a:pt x="1054075" y="51181"/>
                </a:lnTo>
                <a:lnTo>
                  <a:pt x="1028675" y="51181"/>
                </a:lnTo>
                <a:close/>
                <a:moveTo>
                  <a:pt x="1073125" y="44831"/>
                </a:moveTo>
                <a:lnTo>
                  <a:pt x="1098525" y="44831"/>
                </a:lnTo>
                <a:lnTo>
                  <a:pt x="1098525" y="51181"/>
                </a:lnTo>
                <a:lnTo>
                  <a:pt x="1073125" y="51181"/>
                </a:lnTo>
                <a:close/>
                <a:moveTo>
                  <a:pt x="80899" y="95250"/>
                </a:moveTo>
                <a:lnTo>
                  <a:pt x="0" y="48006"/>
                </a:lnTo>
                <a:lnTo>
                  <a:pt x="80899" y="889"/>
                </a:lnTo>
                <a:cubicBezTo>
                  <a:pt x="82410" y="0"/>
                  <a:pt x="84353" y="508"/>
                  <a:pt x="85242" y="2032"/>
                </a:cubicBezTo>
                <a:cubicBezTo>
                  <a:pt x="86119" y="3429"/>
                  <a:pt x="85611" y="5461"/>
                  <a:pt x="84099" y="6350"/>
                </a:cubicBezTo>
                <a:lnTo>
                  <a:pt x="7899" y="50800"/>
                </a:lnTo>
                <a:lnTo>
                  <a:pt x="7899" y="45339"/>
                </a:lnTo>
                <a:lnTo>
                  <a:pt x="84099" y="89789"/>
                </a:lnTo>
                <a:cubicBezTo>
                  <a:pt x="85611" y="90678"/>
                  <a:pt x="86119" y="92583"/>
                  <a:pt x="85242" y="94107"/>
                </a:cubicBezTo>
                <a:cubicBezTo>
                  <a:pt x="84353" y="95631"/>
                  <a:pt x="82410" y="96139"/>
                  <a:pt x="80899" y="95250"/>
                </a:cubicBezTo>
                <a:close/>
                <a:moveTo>
                  <a:pt x="1035025" y="889"/>
                </a:moveTo>
                <a:lnTo>
                  <a:pt x="1115924" y="48006"/>
                </a:lnTo>
                <a:lnTo>
                  <a:pt x="1035025" y="95250"/>
                </a:lnTo>
                <a:cubicBezTo>
                  <a:pt x="1033500" y="96139"/>
                  <a:pt x="1031596" y="95631"/>
                  <a:pt x="1030707" y="94107"/>
                </a:cubicBezTo>
                <a:cubicBezTo>
                  <a:pt x="1029818" y="92583"/>
                  <a:pt x="1030325" y="90678"/>
                  <a:pt x="1031850" y="89789"/>
                </a:cubicBezTo>
                <a:lnTo>
                  <a:pt x="1108050" y="45339"/>
                </a:lnTo>
                <a:lnTo>
                  <a:pt x="1108050" y="50800"/>
                </a:lnTo>
                <a:lnTo>
                  <a:pt x="1031850" y="6350"/>
                </a:lnTo>
                <a:lnTo>
                  <a:pt x="1031850" y="6350"/>
                </a:lnTo>
                <a:cubicBezTo>
                  <a:pt x="1030325" y="5461"/>
                  <a:pt x="1029818" y="3429"/>
                  <a:pt x="1030707" y="2032"/>
                </a:cubicBezTo>
                <a:cubicBezTo>
                  <a:pt x="1031596" y="508"/>
                  <a:pt x="1033500" y="0"/>
                  <a:pt x="1035025" y="889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83" name="TextBox 83"/>
          <p:cNvSpPr txBox="1"/>
          <p:nvPr/>
        </p:nvSpPr>
        <p:spPr>
          <a:xfrm>
            <a:off x="2323465" y="4391533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널리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2753233" y="4391533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2815717" y="4391533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수용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3245485" y="4391533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462149" y="4665853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가능한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106801" y="4665853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2462149" y="4940173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4148582" y="4305935"/>
            <a:ext cx="43867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수용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578731" y="4305935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641215" y="4305935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가능한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5285867" y="4305935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394327" y="4580255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6077712" y="3981323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수용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507480" y="3981323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6569964" y="3981323"/>
            <a:ext cx="876726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불가능한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7429754" y="3981323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431280" y="4255643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안전을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둘러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2420747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2504567" y="103886"/>
            <a:ext cx="29224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싼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2791079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876423" y="103886"/>
            <a:ext cx="58448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01671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44" dirty="0">
                <a:solidFill>
                  <a:srgbClr val="806B00"/>
                </a:solidFill>
                <a:latin typeface="나눔고딕 2"/>
                <a:cs typeface="나눔고딕 2"/>
              </a:rPr>
              <a:t>Hazard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78958" y="673335"/>
            <a:ext cx="292534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65470" y="673335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52338" y="673335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11874" y="673335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88658" y="673335"/>
            <a:ext cx="87764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위험과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48448" y="673335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30744" y="673335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806B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4373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3)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3369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위험과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79702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57426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44191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21915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사이</a:t>
            </a:r>
          </a:p>
        </p:txBody>
      </p:sp>
      <p:sp>
        <p:nvSpPr>
          <p:cNvPr id="28" name="Shape 28"/>
          <p:cNvSpPr/>
          <p:nvPr/>
        </p:nvSpPr>
        <p:spPr>
          <a:xfrm>
            <a:off x="2868676" y="2053209"/>
            <a:ext cx="2055241" cy="3556978"/>
          </a:xfrm>
          <a:custGeom>
            <a:avLst/>
            <a:gdLst/>
            <a:ahLst/>
            <a:cxnLst/>
            <a:rect l="0" t="0" r="2055241" b="3556978"/>
            <a:pathLst>
              <a:path w="2055241" h="3556978" stroke="0">
                <a:moveTo>
                  <a:pt x="2055241" y="0"/>
                </a:moveTo>
                <a:lnTo>
                  <a:pt x="1027557" y="3556978"/>
                </a:lnTo>
                <a:lnTo>
                  <a:pt x="0" y="0"/>
                </a:lnTo>
                <a:close/>
              </a:path>
            </a:pathLst>
          </a:custGeom>
          <a:solidFill>
            <a:srgbClr val="DEEBF7"/>
          </a:solidFill>
        </p:spPr>
        <p:txBody>
          <a:bodyPr/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2868676" y="2053209"/>
            <a:ext cx="2055241" cy="3556978"/>
          </a:xfrm>
          <a:custGeom>
            <a:avLst/>
            <a:gdLst/>
            <a:ahLst/>
            <a:cxnLst/>
            <a:rect l="0" t="0" r="2055241" b="3556978"/>
            <a:pathLst>
              <a:path w="2055241" h="3556978" fill="none">
                <a:moveTo>
                  <a:pt x="2055241" y="0"/>
                </a:moveTo>
                <a:lnTo>
                  <a:pt x="1027557" y="3556978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2618232" y="620810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‹리스크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575304" y="620810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42360" y="620810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20896" y="620810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13860" y="620810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91126" y="620810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84090" y="620810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021834" y="620810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088890" y="620810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구분›</a:t>
            </a:r>
          </a:p>
        </p:txBody>
      </p:sp>
      <p:sp>
        <p:nvSpPr>
          <p:cNvPr id="39" name="Shape 39"/>
          <p:cNvSpPr/>
          <p:nvPr/>
        </p:nvSpPr>
        <p:spPr>
          <a:xfrm>
            <a:off x="1162329" y="2803017"/>
            <a:ext cx="6784061" cy="1"/>
          </a:xfrm>
          <a:custGeom>
            <a:avLst/>
            <a:gdLst/>
            <a:ahLst/>
            <a:cxnLst/>
            <a:rect l="0" t="0" r="6784061" b="1"/>
            <a:pathLst>
              <a:path w="6784061" h="1" fill="none">
                <a:moveTo>
                  <a:pt x="0" y="0"/>
                </a:moveTo>
                <a:lnTo>
                  <a:pt x="6784061" y="0"/>
                </a:lnTo>
              </a:path>
            </a:pathLst>
          </a:custGeom>
          <a:noFill/>
          <a:ln w="63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3664585" y="2274529"/>
            <a:ext cx="50983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spc="113" dirty="0">
                <a:solidFill>
                  <a:srgbClr val="203864"/>
                </a:solidFill>
                <a:latin typeface="나눔고딕 2"/>
                <a:cs typeface="나눔고딕 2"/>
              </a:rPr>
              <a:t>High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30117" y="2518369"/>
            <a:ext cx="3196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spc="26" dirty="0">
                <a:solidFill>
                  <a:srgbClr val="203864"/>
                </a:solidFill>
                <a:latin typeface="나눔고딕 2"/>
                <a:cs typeface="나눔고딕 2"/>
              </a:rPr>
              <a:t>risk</a:t>
            </a:r>
          </a:p>
        </p:txBody>
      </p:sp>
      <p:sp>
        <p:nvSpPr>
          <p:cNvPr id="42" name="Shape 42"/>
          <p:cNvSpPr/>
          <p:nvPr/>
        </p:nvSpPr>
        <p:spPr>
          <a:xfrm>
            <a:off x="1162329" y="4767453"/>
            <a:ext cx="6784061" cy="1"/>
          </a:xfrm>
          <a:custGeom>
            <a:avLst/>
            <a:gdLst/>
            <a:ahLst/>
            <a:cxnLst/>
            <a:rect l="0" t="0" r="6784061" b="1"/>
            <a:pathLst>
              <a:path w="6784061" h="1" fill="none">
                <a:moveTo>
                  <a:pt x="0" y="0"/>
                </a:moveTo>
                <a:lnTo>
                  <a:pt x="6784061" y="0"/>
                </a:lnTo>
              </a:path>
            </a:pathLst>
          </a:custGeom>
          <a:noFill/>
          <a:ln w="63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3525266" y="3550726"/>
            <a:ext cx="859492" cy="2841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8" b="1" spc="95" dirty="0">
                <a:solidFill>
                  <a:srgbClr val="203864"/>
                </a:solidFill>
                <a:latin typeface="나눔고딕 2"/>
                <a:cs typeface="나눔고딕 2"/>
              </a:rPr>
              <a:t>Medium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763010" y="3795100"/>
            <a:ext cx="3196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spc="26" dirty="0">
                <a:solidFill>
                  <a:srgbClr val="203864"/>
                </a:solidFill>
                <a:latin typeface="나눔고딕 2"/>
                <a:cs typeface="나눔고딕 2"/>
              </a:rPr>
              <a:t>risk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73196" y="5006045"/>
            <a:ext cx="781086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spc="73" dirty="0">
                <a:solidFill>
                  <a:srgbClr val="203864"/>
                </a:solidFill>
                <a:latin typeface="나눔고딕 2"/>
                <a:cs typeface="나눔고딕 2"/>
              </a:rPr>
              <a:t>Low risk</a:t>
            </a:r>
          </a:p>
        </p:txBody>
      </p:sp>
      <p:sp>
        <p:nvSpPr>
          <p:cNvPr id="46" name="Shape 46"/>
          <p:cNvSpPr/>
          <p:nvPr/>
        </p:nvSpPr>
        <p:spPr>
          <a:xfrm>
            <a:off x="4923917" y="1742821"/>
            <a:ext cx="1" cy="268478"/>
          </a:xfrm>
          <a:custGeom>
            <a:avLst/>
            <a:gdLst/>
            <a:ahLst/>
            <a:cxnLst/>
            <a:rect l="0" t="0" r="1" b="268478"/>
            <a:pathLst>
              <a:path w="1" h="268478" fill="none">
                <a:moveTo>
                  <a:pt x="0" y="0"/>
                </a:moveTo>
                <a:lnTo>
                  <a:pt x="0" y="268478"/>
                </a:lnTo>
              </a:path>
            </a:pathLst>
          </a:custGeom>
          <a:noFill/>
          <a:ln w="63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Shape 47"/>
          <p:cNvSpPr/>
          <p:nvPr/>
        </p:nvSpPr>
        <p:spPr>
          <a:xfrm>
            <a:off x="2853182" y="1744218"/>
            <a:ext cx="1" cy="268478"/>
          </a:xfrm>
          <a:custGeom>
            <a:avLst/>
            <a:gdLst/>
            <a:ahLst/>
            <a:cxnLst/>
            <a:rect l="0" t="0" r="1" b="268478"/>
            <a:pathLst>
              <a:path w="1" h="268478" fill="none">
                <a:moveTo>
                  <a:pt x="0" y="0"/>
                </a:moveTo>
                <a:lnTo>
                  <a:pt x="0" y="268478"/>
                </a:lnTo>
              </a:path>
            </a:pathLst>
          </a:custGeom>
          <a:noFill/>
          <a:ln w="63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3321431" y="1778422"/>
            <a:ext cx="683941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위험성의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991991" y="1778422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037711" y="1778422"/>
            <a:ext cx="34195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크기</a:t>
            </a:r>
          </a:p>
        </p:txBody>
      </p:sp>
      <p:sp>
        <p:nvSpPr>
          <p:cNvPr id="51" name="Shape 51"/>
          <p:cNvSpPr/>
          <p:nvPr/>
        </p:nvSpPr>
        <p:spPr>
          <a:xfrm>
            <a:off x="4496054" y="1829435"/>
            <a:ext cx="427863" cy="96139"/>
          </a:xfrm>
          <a:custGeom>
            <a:avLst/>
            <a:gdLst/>
            <a:ahLst/>
            <a:cxnLst/>
            <a:rect l="0" t="0" r="427863" b="96139"/>
            <a:pathLst>
              <a:path w="427863" h="96139" stroke="0">
                <a:moveTo>
                  <a:pt x="0" y="53340"/>
                </a:moveTo>
                <a:lnTo>
                  <a:pt x="421640" y="50800"/>
                </a:lnTo>
                <a:lnTo>
                  <a:pt x="421513" y="44450"/>
                </a:lnTo>
                <a:lnTo>
                  <a:pt x="0" y="46990"/>
                </a:lnTo>
                <a:close/>
                <a:moveTo>
                  <a:pt x="347218" y="95250"/>
                </a:moveTo>
                <a:lnTo>
                  <a:pt x="427863" y="47625"/>
                </a:lnTo>
                <a:lnTo>
                  <a:pt x="346710" y="889"/>
                </a:lnTo>
                <a:cubicBezTo>
                  <a:pt x="345186" y="0"/>
                  <a:pt x="343281" y="508"/>
                  <a:pt x="342392" y="2032"/>
                </a:cubicBezTo>
                <a:cubicBezTo>
                  <a:pt x="341503" y="3556"/>
                  <a:pt x="342011" y="5588"/>
                  <a:pt x="343535" y="6477"/>
                </a:cubicBezTo>
                <a:lnTo>
                  <a:pt x="419989" y="50419"/>
                </a:lnTo>
                <a:lnTo>
                  <a:pt x="419989" y="44958"/>
                </a:lnTo>
                <a:lnTo>
                  <a:pt x="344043" y="89789"/>
                </a:lnTo>
                <a:cubicBezTo>
                  <a:pt x="342519" y="90678"/>
                  <a:pt x="342011" y="92710"/>
                  <a:pt x="342900" y="94234"/>
                </a:cubicBezTo>
                <a:cubicBezTo>
                  <a:pt x="343789" y="95758"/>
                  <a:pt x="345694" y="96139"/>
                  <a:pt x="347218" y="9525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52" name="Shape 52"/>
          <p:cNvSpPr/>
          <p:nvPr/>
        </p:nvSpPr>
        <p:spPr>
          <a:xfrm>
            <a:off x="2853182" y="1831467"/>
            <a:ext cx="376174" cy="96139"/>
          </a:xfrm>
          <a:custGeom>
            <a:avLst/>
            <a:gdLst/>
            <a:ahLst/>
            <a:cxnLst/>
            <a:rect l="0" t="0" r="376174" b="96139"/>
            <a:pathLst>
              <a:path w="376174" h="96139" stroke="0">
                <a:moveTo>
                  <a:pt x="376174" y="44958"/>
                </a:moveTo>
                <a:lnTo>
                  <a:pt x="6350" y="44958"/>
                </a:lnTo>
                <a:lnTo>
                  <a:pt x="6350" y="51308"/>
                </a:lnTo>
                <a:lnTo>
                  <a:pt x="376174" y="51308"/>
                </a:lnTo>
                <a:close/>
                <a:moveTo>
                  <a:pt x="80899" y="889"/>
                </a:moveTo>
                <a:lnTo>
                  <a:pt x="0" y="48133"/>
                </a:lnTo>
                <a:lnTo>
                  <a:pt x="80899" y="95250"/>
                </a:lnTo>
                <a:cubicBezTo>
                  <a:pt x="82423" y="96139"/>
                  <a:pt x="84455" y="95631"/>
                  <a:pt x="85344" y="94107"/>
                </a:cubicBezTo>
                <a:cubicBezTo>
                  <a:pt x="86106" y="92583"/>
                  <a:pt x="85598" y="90678"/>
                  <a:pt x="84201" y="89789"/>
                </a:cubicBezTo>
                <a:lnTo>
                  <a:pt x="8001" y="45339"/>
                </a:lnTo>
                <a:lnTo>
                  <a:pt x="8001" y="50800"/>
                </a:lnTo>
                <a:lnTo>
                  <a:pt x="84201" y="6350"/>
                </a:lnTo>
                <a:cubicBezTo>
                  <a:pt x="85598" y="5461"/>
                  <a:pt x="86106" y="3556"/>
                  <a:pt x="85344" y="2032"/>
                </a:cubicBezTo>
                <a:cubicBezTo>
                  <a:pt x="84455" y="508"/>
                  <a:pt x="82423" y="0"/>
                  <a:pt x="80899" y="889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53" name="TextBox 53"/>
          <p:cNvSpPr txBox="1"/>
          <p:nvPr/>
        </p:nvSpPr>
        <p:spPr>
          <a:xfrm>
            <a:off x="5564124" y="2275246"/>
            <a:ext cx="34195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아주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899404" y="2275246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946648" y="2275246"/>
            <a:ext cx="513569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특별한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449822" y="2275246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495542" y="2275246"/>
            <a:ext cx="34195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경우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830822" y="2275246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878066" y="2275246"/>
            <a:ext cx="512948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외에는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80986" y="2275246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672328" y="2488325"/>
            <a:ext cx="684230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0000"/>
                </a:solidFill>
                <a:latin typeface="나눔고딕"/>
                <a:cs typeface="나눔고딕"/>
              </a:rPr>
              <a:t>위험성은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43142" y="2488325"/>
            <a:ext cx="107168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88862" y="2488325"/>
            <a:ext cx="513238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0000"/>
                </a:solidFill>
                <a:latin typeface="나눔고딕"/>
                <a:cs typeface="나눔고딕"/>
              </a:rPr>
              <a:t>정당화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891782" y="2488325"/>
            <a:ext cx="107168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937502" y="2488325"/>
            <a:ext cx="342246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0000"/>
                </a:solidFill>
                <a:latin typeface="나눔고딕"/>
                <a:cs typeface="나눔고딕"/>
              </a:rPr>
              <a:t>불가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401826" y="2055790"/>
            <a:ext cx="34195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수용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737106" y="2055790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784350" y="2055790"/>
            <a:ext cx="34195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119630" y="2055790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166874" y="2055790"/>
            <a:ext cx="34195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502154" y="2055790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426210" y="2268869"/>
            <a:ext cx="684231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0000"/>
                </a:solidFill>
                <a:latin typeface="나눔고딕"/>
                <a:cs typeface="나눔고딕"/>
              </a:rPr>
              <a:t>불가능한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096770" y="2268869"/>
            <a:ext cx="107168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142490" y="2268869"/>
            <a:ext cx="342246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0000"/>
                </a:solidFill>
                <a:latin typeface="나눔고딕"/>
                <a:cs typeface="나눔고딕"/>
              </a:rPr>
              <a:t>영역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477770" y="2268869"/>
            <a:ext cx="107168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354582" y="248289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418590" y="2482891"/>
            <a:ext cx="34195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속칭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753870" y="248289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: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857502" y="2482891"/>
            <a:ext cx="680937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위험영역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525014" y="248289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105400" y="3375928"/>
            <a:ext cx="684230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70C0"/>
                </a:solidFill>
                <a:latin typeface="나눔고딕"/>
                <a:cs typeface="나눔고딕"/>
              </a:rPr>
              <a:t>위험성의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775960" y="3375928"/>
            <a:ext cx="107168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821680" y="3375928"/>
            <a:ext cx="513238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70C0"/>
                </a:solidFill>
                <a:latin typeface="나눔고딕"/>
                <a:cs typeface="나눔고딕"/>
              </a:rPr>
              <a:t>감소가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324600" y="3375928"/>
            <a:ext cx="107168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370320" y="3375928"/>
            <a:ext cx="342247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70C0"/>
                </a:solidFill>
                <a:latin typeface="나눔고딕"/>
                <a:cs typeface="나눔고딕"/>
              </a:rPr>
              <a:t>실행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705600" y="3375928"/>
            <a:ext cx="107168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769608" y="3375928"/>
            <a:ext cx="855223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70C0"/>
                </a:solidFill>
                <a:latin typeface="나눔고딕"/>
                <a:cs typeface="나눔고딕"/>
              </a:rPr>
              <a:t>기술적으로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7608062" y="3375928"/>
            <a:ext cx="116300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70C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4996942" y="3589823"/>
            <a:ext cx="1027480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"/>
                <a:cs typeface="나눔고딕"/>
              </a:rPr>
              <a:t>불가능하거나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001512" y="3589823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047232" y="3589823"/>
            <a:ext cx="34195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"/>
                <a:cs typeface="나눔고딕"/>
              </a:rPr>
              <a:t>비용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6382512" y="3589823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6429756" y="3589823"/>
            <a:ext cx="170962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"/>
                <a:cs typeface="나눔고딕"/>
              </a:rPr>
              <a:t>대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6597396" y="3589823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6661404" y="3589823"/>
            <a:ext cx="170962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"/>
                <a:cs typeface="나눔고딕"/>
              </a:rPr>
              <a:t>對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829044" y="3589823"/>
            <a:ext cx="11652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6942074" y="3589823"/>
            <a:ext cx="85493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"/>
                <a:cs typeface="나눔고딕"/>
              </a:rPr>
              <a:t>개선효과에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7780274" y="3589823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039614" y="3803183"/>
            <a:ext cx="513569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"/>
                <a:cs typeface="나눔고딕"/>
              </a:rPr>
              <a:t>현저한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5542788" y="3803183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588508" y="3803183"/>
            <a:ext cx="683941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"/>
                <a:cs typeface="나눔고딕"/>
              </a:rPr>
              <a:t>불균형이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259068" y="3803183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304788" y="3803183"/>
            <a:ext cx="34195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6640068" y="3803183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687312" y="3803183"/>
            <a:ext cx="683941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"/>
                <a:cs typeface="나눔고딕"/>
              </a:rPr>
              <a:t>경우에만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358126" y="3803183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7403846" y="3803183"/>
            <a:ext cx="34195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552702" y="3363763"/>
            <a:ext cx="62255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spc="109" dirty="0">
                <a:solidFill>
                  <a:srgbClr val="0070C0"/>
                </a:solidFill>
                <a:latin typeface="나눔고딕 2"/>
                <a:cs typeface="나눔고딕 2"/>
              </a:rPr>
              <a:t>ALARP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2159508" y="3363763"/>
            <a:ext cx="34195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2494788" y="3363763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391158" y="3577123"/>
            <a:ext cx="34195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726438" y="3577123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773682" y="3577123"/>
            <a:ext cx="512947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"/>
                <a:cs typeface="나눔고딕"/>
              </a:rPr>
              <a:t>가능한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276856" y="3577123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2322576" y="3577123"/>
            <a:ext cx="34195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"/>
                <a:cs typeface="나눔고딕"/>
              </a:rPr>
              <a:t>영역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2657856" y="3577123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406398" y="3790202"/>
            <a:ext cx="107168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470406" y="3790202"/>
            <a:ext cx="342246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0000"/>
                </a:solidFill>
                <a:latin typeface="나눔고딕"/>
                <a:cs typeface="나눔고딕"/>
              </a:rPr>
              <a:t>속칭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805686" y="3790202"/>
            <a:ext cx="107168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0000"/>
                </a:solidFill>
                <a:latin typeface="나눔고딕 2"/>
                <a:cs typeface="나눔고딕 2"/>
              </a:rPr>
              <a:t>: 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907794" y="3790202"/>
            <a:ext cx="684231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0000"/>
                </a:solidFill>
                <a:latin typeface="나눔고딕"/>
                <a:cs typeface="나눔고딕"/>
              </a:rPr>
              <a:t>불안영역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2578608" y="3790202"/>
            <a:ext cx="107168" cy="2500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6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207008" y="4834042"/>
            <a:ext cx="34195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널리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542288" y="4834042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89532" y="4834042"/>
            <a:ext cx="34195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수용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925066" y="4834042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972310" y="4834042"/>
            <a:ext cx="512947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가능한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2475230" y="4834042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2520950" y="4834042"/>
            <a:ext cx="34195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영역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2856230" y="4834042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412748" y="5047402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476756" y="5047402"/>
            <a:ext cx="34195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속칭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812036" y="5047402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: 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914398" y="5047402"/>
            <a:ext cx="683940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안전영역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2584958" y="5047402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125931" y="5354996"/>
            <a:ext cx="636377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spc="107" dirty="0">
                <a:solidFill>
                  <a:srgbClr val="000000"/>
                </a:solidFill>
                <a:latin typeface="나눔고딕 2"/>
                <a:cs typeface="나눔고딕 2"/>
              </a:rPr>
              <a:t>(ALARP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862582" y="5342421"/>
            <a:ext cx="170962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을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2030222" y="534242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2075942" y="5342421"/>
            <a:ext cx="683940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검증하기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2746502" y="534242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2792222" y="5342421"/>
            <a:ext cx="34195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위한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3127502" y="534242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1214323" y="5568331"/>
            <a:ext cx="34226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상세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549908" y="556833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597152" y="5568331"/>
            <a:ext cx="512947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작업은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2100072" y="556833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2145792" y="5568331"/>
            <a:ext cx="34195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필요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2481072" y="556833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2528316" y="5568331"/>
            <a:ext cx="34195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없음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2863596" y="556833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3509137" y="5577291"/>
            <a:ext cx="583583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무시할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4081018" y="5577291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4137406" y="5577291"/>
            <a:ext cx="194341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4327906" y="5577291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3414649" y="5821131"/>
            <a:ext cx="388962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3796030" y="5821131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3852418" y="5821131"/>
            <a:ext cx="582961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위험성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5573903" y="4880651"/>
            <a:ext cx="683941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위험성이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6244463" y="488065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6290183" y="4880651"/>
            <a:ext cx="170962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이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6457823" y="488065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6505067" y="4880651"/>
            <a:ext cx="683941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수준으로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7175881" y="488065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5657723" y="5094011"/>
            <a:ext cx="683941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유지되는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6328283" y="509401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6374003" y="5094011"/>
            <a:ext cx="34195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것을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6709283" y="509401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6756527" y="5094011"/>
            <a:ext cx="34195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계속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7091807" y="509401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5933567" y="5307371"/>
            <a:ext cx="512948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보장할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6436487" y="5307371"/>
            <a:ext cx="106985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6482207" y="5307371"/>
            <a:ext cx="341954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dirty="0">
                <a:solidFill>
                  <a:srgbClr val="000000"/>
                </a:solidFill>
                <a:latin typeface="나눔고딕"/>
                <a:cs typeface="나눔고딕"/>
              </a:rPr>
              <a:t>필요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안전을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둘러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2420747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2504567" y="103886"/>
            <a:ext cx="29224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싼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2791079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2876423" y="103886"/>
            <a:ext cx="58448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75106" y="6586728"/>
            <a:ext cx="370880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spc="133" dirty="0">
                <a:solidFill>
                  <a:srgbClr val="000000"/>
                </a:solidFill>
                <a:latin typeface="맑은 고딕"/>
                <a:cs typeface="맑은 고딕"/>
              </a:rPr>
              <a:t>SDU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79499" y="6596177"/>
            <a:ext cx="1260047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spc="128" dirty="0">
                <a:solidFill>
                  <a:srgbClr val="000000"/>
                </a:solidFill>
                <a:latin typeface="맑은 고딕"/>
                <a:cs typeface="맑은 고딕"/>
              </a:rPr>
              <a:t>Hyun JongSoo</a:t>
            </a:r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4.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안전관리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6539" y="13040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605100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2947" y="1298716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안전관리란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68068" y="129871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1423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4491" y="1680251"/>
            <a:ext cx="102437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‘바람직한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39112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06168" y="1680251"/>
            <a:ext cx="7803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목표’를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71216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39796" y="1680251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안전목표로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34866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01922" y="168025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설정하고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58994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02250" y="168025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41518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12003" y="1680251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안전목표를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06819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73875" y="1680251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달성하기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31201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98257" y="168025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4783" y="206277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적절한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02892" y="20627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71472" y="2062775"/>
            <a:ext cx="53626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‘방법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397252" y="20424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478024" y="2062775"/>
            <a:ext cx="77876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수단’을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41548" y="20627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308604" y="206277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정하여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026662" y="20627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093718" y="206277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그것을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811522" y="20627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880102" y="206277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실행해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98287" y="20627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5343" y="20627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가는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143879" y="20627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13983" y="2062775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동적활동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71423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34491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27455" y="244225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606042" y="2442251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766062" y="2442251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제어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244852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314956" y="244225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가능한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032760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099816" y="244225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조직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578352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671316" y="2442251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시스템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87850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479290" y="2442251"/>
            <a:ext cx="4865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에서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956302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023358" y="244225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각종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501894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570474" y="2442251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활동을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288659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357239" y="2442251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통제하고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314311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379843" y="2442251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조정하여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84783" y="282515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리스크가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042160" y="28251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109216" y="282515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존재하는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066288" y="28251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133344" y="282515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해당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611880" y="28251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680460" y="2825156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조직의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398518" y="28251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467098" y="282515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안전을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184902" y="28251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253482" y="282515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실현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732399" y="280479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813171" y="2825156"/>
            <a:ext cx="97297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확보하는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765671" y="28251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832727" y="282515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81177" y="3752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44245" y="37523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협의의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762379" y="3752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830959" y="375238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안전관리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2788031" y="3752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79471" y="3752383"/>
            <a:ext cx="72901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594481" y="3752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685921" y="3752383"/>
            <a:ext cx="4865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162933" y="3752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54373" y="3752383"/>
            <a:ext cx="4865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관리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731385" y="3752383"/>
            <a:ext cx="242655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2" dirty="0">
                <a:solidFill>
                  <a:srgbClr val="0070C0"/>
                </a:solidFill>
                <a:latin typeface="나눔고딕 2"/>
                <a:cs typeface="나눔고딕 2"/>
              </a:rPr>
              <a:t>(risk management))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7106158" y="37523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: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22909" y="413462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사고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501394" y="41142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582166" y="4134626"/>
            <a:ext cx="731384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재해가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2298827" y="413462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365883" y="4134626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발생하지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3322955" y="413462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388487" y="4134626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않도록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106545" y="413462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175125" y="4134626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사전에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892929" y="413462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961509" y="413462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대처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440426" y="413462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5533390" y="413462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예방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6010402" y="4134626"/>
            <a:ext cx="16759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168898" y="413462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하는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647434" y="413462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717538" y="4134626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활동을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7435596" y="413462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7502652" y="413462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의미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82701" y="45677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045769" y="4567723"/>
            <a:ext cx="730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광의의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761998" y="45677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832102" y="4567723"/>
            <a:ext cx="97297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안전관리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2780103" y="4567722"/>
            <a:ext cx="248020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en-US" sz="2004" b="1" spc="113" dirty="0">
                <a:solidFill>
                  <a:srgbClr val="0070C0"/>
                </a:solidFill>
                <a:latin typeface="나눔고딕 2"/>
                <a:cs typeface="나눔고딕 2"/>
              </a:rPr>
              <a:t>(risk management </a:t>
            </a:r>
            <a:r>
              <a:rPr lang="en-US" altLang="ko-KR" sz="2004" b="1" spc="113" dirty="0" smtClean="0">
                <a:solidFill>
                  <a:srgbClr val="0070C0"/>
                </a:solidFill>
                <a:latin typeface="나눔고딕 2"/>
                <a:cs typeface="나눔고딕 2"/>
              </a:rPr>
              <a:t>+</a:t>
            </a:r>
            <a:endParaRPr lang="en-US" sz="2004" b="1" spc="113" dirty="0">
              <a:solidFill>
                <a:srgbClr val="0070C0"/>
              </a:solidFill>
              <a:latin typeface="나눔고딕 2"/>
              <a:cs typeface="나눔고딕 2"/>
            </a:endParaRPr>
          </a:p>
        </p:txBody>
      </p:sp>
      <p:sp>
        <p:nvSpPr>
          <p:cNvPr id="121" name="TextBox 121"/>
          <p:cNvSpPr txBox="1"/>
          <p:nvPr/>
        </p:nvSpPr>
        <p:spPr>
          <a:xfrm>
            <a:off x="5511434" y="4579732"/>
            <a:ext cx="97297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위기관리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6465839" y="4579732"/>
            <a:ext cx="259053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97" dirty="0">
                <a:solidFill>
                  <a:srgbClr val="0070C0"/>
                </a:solidFill>
                <a:latin typeface="나눔고딕 2"/>
                <a:cs typeface="나눔고딕 2"/>
              </a:rPr>
              <a:t>(crisis management))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952805" y="4948442"/>
            <a:ext cx="2301754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01" dirty="0">
                <a:solidFill>
                  <a:srgbClr val="000000"/>
                </a:solidFill>
                <a:latin typeface="나눔고딕 2"/>
                <a:cs typeface="나눔고딕 2"/>
              </a:rPr>
              <a:t>: risk management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3503002" y="4966772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뿐만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3981538" y="49667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4050118" y="496677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아니라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768176" y="49667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4912956" y="4966772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이미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391492" y="49667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5460072" y="496677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발생한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6177876" y="49667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6246456" y="4966772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사태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6725373" y="49667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6818337" y="4966772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위기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7295349" y="49667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7386789" y="4966772"/>
            <a:ext cx="730864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로부터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8101545" y="49667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8168601" y="4966772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받는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1096061" y="532997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1335278" y="5329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1428242" y="532997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負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1667510" y="5329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760474" y="532997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999742" y="5329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2066798" y="532997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영향을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2784983" y="5329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2852039" y="5329977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최소한으로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4048379" y="5329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4113911" y="5329977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억제하고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5071237" y="5329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5138293" y="532997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5377561" y="5329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5447665" y="532997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상태에서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6405118" y="5329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6472174" y="5329977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신속하게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7429246" y="5329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7496302" y="5329977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탈출하여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1096061" y="571097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평상시의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2053082" y="5710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2120138" y="571097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상황으로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3077591" y="5710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3144647" y="5710977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회복시키기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4339717" y="5710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4406773" y="571097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위한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4885309" y="5710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4955413" y="571097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위기관리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5912485" y="5710977"/>
            <a:ext cx="242309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96" dirty="0">
                <a:solidFill>
                  <a:srgbClr val="000000"/>
                </a:solidFill>
                <a:latin typeface="나눔고딕 2"/>
                <a:cs typeface="나눔고딕 2"/>
              </a:rPr>
              <a:t>(crisis management)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8608356" y="574252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도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1096061" y="609197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포함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1574546" y="6091977"/>
            <a:ext cx="16574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(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1737614" y="609197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부의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2216150" y="6091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2283206" y="6091977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영향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2762123" y="6091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2832227" y="609197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최소화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3550031" y="6091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3693287" y="609197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사고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4171823" y="6091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4241927" y="6091977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확대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4720717" y="6091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4789297" y="609197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방지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5267833" y="6091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5414137" y="609197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회복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5892673" y="6091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5961253" y="6091977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관점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6440170" y="60919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657758" y="334650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605100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874471" y="334115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안전관리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1831594" y="334115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1898650" y="334115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범위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안전을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둘러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2420747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2504567" y="103886"/>
            <a:ext cx="29224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싼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2791079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2876423" y="103886"/>
            <a:ext cx="58448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75106" y="6586728"/>
            <a:ext cx="370880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spc="133" dirty="0">
                <a:solidFill>
                  <a:srgbClr val="000000"/>
                </a:solidFill>
                <a:latin typeface="맑은 고딕"/>
                <a:cs typeface="맑은 고딕"/>
              </a:rPr>
              <a:t>SDU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79499" y="6596177"/>
            <a:ext cx="1260047" cy="249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4" b="1" spc="128" dirty="0">
                <a:solidFill>
                  <a:srgbClr val="000000"/>
                </a:solidFill>
                <a:latin typeface="맑은 고딕"/>
                <a:cs typeface="맑은 고딕"/>
              </a:rPr>
              <a:t>Hyun JongSoo</a:t>
            </a:r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4.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안전관리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6539" y="13040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2947" y="1298716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리스크관리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68068" y="1298716"/>
            <a:ext cx="233320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01" dirty="0">
                <a:solidFill>
                  <a:srgbClr val="0070C0"/>
                </a:solidFill>
                <a:latin typeface="나눔고딕 2"/>
                <a:cs typeface="나눔고딕 2"/>
              </a:rPr>
              <a:t>(risk management)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51274" y="129871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: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99102" y="1298716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상정되는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56174" y="129871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23230" y="1298716"/>
            <a:ext cx="97740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80683" y="129871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47739" y="1298716"/>
            <a:ext cx="1024662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‘발생되지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52309" y="129871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19365" y="1298716"/>
            <a:ext cx="85312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않도록’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6539" y="1680251"/>
            <a:ext cx="2188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0" dirty="0">
                <a:solidFill>
                  <a:srgbClr val="000000"/>
                </a:solidFill>
                <a:latin typeface="나눔고딕 2"/>
                <a:cs typeface="나눔고딕 2"/>
              </a:rPr>
              <a:t>  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1423" y="168025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10691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80795" y="168025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38172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05228" y="168025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원인이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23032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90088" y="168025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되는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468624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538728" y="1680251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017518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110482" y="168025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事象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87494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678934" y="168025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918202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985258" y="1680251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방지대책을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180455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47511" y="1680251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마련하고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204583" y="1680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271639" y="1680251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실행에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71423" y="206125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옮기는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89278" y="2061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656334" y="206125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71423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34491" y="244225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상정되는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991868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058924" y="244225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모든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537460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606040" y="244225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리스크를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563112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630168" y="2442251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철저하게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587494" y="24422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654550" y="244225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찾아낸다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71423" y="2823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34491" y="282363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73810" y="2823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43914" y="282363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리스크가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301240" y="2823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368296" y="282363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발생하면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325368" y="2823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392424" y="28236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어떤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871214" y="2823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939794" y="28236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영향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418330" y="282363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657598" y="2823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726178" y="282363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있는지를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683631" y="2823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750687" y="28236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분석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229223" y="28236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한다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71423" y="3204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34491" y="320463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각각의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752346" y="3204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821180" y="320463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리스크에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778252" y="3204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843784" y="32046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대해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322320" y="3204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3392424" y="320463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발생을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110482" y="3204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4177538" y="32046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억지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656074" y="32046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하기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134610" y="3204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201666" y="32046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위한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680583" y="3204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750687" y="32046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방안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229223" y="320463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을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468491" y="3204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6535547" y="32046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검토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7014083" y="32046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한다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871423" y="3585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034491" y="358563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영향도의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991868" y="3585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2058924" y="358563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크기에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776728" y="3585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2843784" y="35856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따라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322320" y="3585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3392424" y="358563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우선순위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349750" y="358563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를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587494" y="3585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654550" y="35856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매겨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133086" y="3585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5201666" y="358563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919851" y="3585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988431" y="358563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방지방안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6945503" y="358563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을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7183247" y="35856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7250303" y="3585632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실행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7729093" y="35856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한다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66293" y="420083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82701" y="419548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위기관리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840103" y="4195486"/>
            <a:ext cx="264296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93" dirty="0">
                <a:solidFill>
                  <a:srgbClr val="000000"/>
                </a:solidFill>
                <a:latin typeface="나눔고딕 2"/>
                <a:cs typeface="나눔고딕 2"/>
              </a:rPr>
              <a:t>(crisis management) : 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810303" y="420083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위기가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596687" y="4200830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발생하는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6554140" y="420083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6621196" y="420083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경우에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7339000" y="420083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7406056" y="420083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7645578" y="420083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7715682" y="4200830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부정적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8433486" y="420083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882701" y="450181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영향을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600835" y="450181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1669415" y="4501810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최소화하고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2864231" y="450181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3007487" y="450181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신속하게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3964813" y="450181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4031869" y="4501810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위기상태를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5226685" y="450181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5293741" y="4501810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탈출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5772658" y="448144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5853430" y="4501810"/>
            <a:ext cx="97297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회복하는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6805930" y="450181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6872986" y="450181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881177" y="48812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1044245" y="488128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일어날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1762379" y="48812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1830959" y="488128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2070227" y="48812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2140331" y="488128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2618867" y="48812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2687447" y="488128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위기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3165983" y="48812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3310763" y="4881286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그것에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4028821" y="48812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4097401" y="488128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동반되는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5054473" y="48812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5121529" y="488128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리스크를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6078982" y="48812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6146038" y="488128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목록화하는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7341108" y="48812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408164" y="488128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것이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7886700" y="488128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7955280" y="4881286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필수적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881177" y="526200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1044245" y="5262005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각각의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1762379" y="526200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1830959" y="5262005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목록에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2548763" y="526200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2615819" y="5262005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대하여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3333623" y="526200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3402203" y="5262005"/>
            <a:ext cx="82283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“무엇을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4208653" y="526200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4277233" y="5262005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하면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4755769" y="526200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4824349" y="5262005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5063617" y="526200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5133721" y="5262005"/>
            <a:ext cx="1221772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재해영향을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6330442" y="526200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6395974" y="5262005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최소화할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7353300" y="526200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7420356" y="5262005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7659624" y="526200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7729728" y="5262005"/>
            <a:ext cx="82312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있는가“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1022909" y="5643616"/>
            <a:ext cx="131039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“위기로부터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2307971" y="56436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2375027" y="564361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조기에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3092831" y="56436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3159887" y="564361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회복하기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4117213" y="56436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4184269" y="564361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위해서는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5141341" y="56436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5208397" y="5643616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무엇을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5926582" y="56436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5995162" y="564361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하면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6473698" y="56436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6542278" y="5643616"/>
            <a:ext cx="138060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좋은가“ 검토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7895844" y="56436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7965948" y="564361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필요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684581" y="621054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993953" y="621054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본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1233221" y="621054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1303274" y="6210544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강좌에서는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2499995" y="621054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8" name="TextBox 198"/>
          <p:cNvSpPr txBox="1"/>
          <p:nvPr/>
        </p:nvSpPr>
        <p:spPr>
          <a:xfrm>
            <a:off x="2565527" y="621054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안전관리</a:t>
            </a:r>
          </a:p>
        </p:txBody>
      </p:sp>
      <p:sp>
        <p:nvSpPr>
          <p:cNvPr id="199" name="TextBox 199"/>
          <p:cNvSpPr txBox="1"/>
          <p:nvPr/>
        </p:nvSpPr>
        <p:spPr>
          <a:xfrm>
            <a:off x="3522599" y="621054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3589655" y="621054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범위를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4307713" y="621054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4376293" y="621054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협의의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5094097" y="621054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5162677" y="621054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의미</a:t>
            </a:r>
          </a:p>
        </p:txBody>
      </p:sp>
      <p:sp>
        <p:nvSpPr>
          <p:cNvPr id="205" name="TextBox 205"/>
          <p:cNvSpPr txBox="1"/>
          <p:nvPr/>
        </p:nvSpPr>
        <p:spPr>
          <a:xfrm>
            <a:off x="5641213" y="621054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5734177" y="6210544"/>
            <a:ext cx="121543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리스크관리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6926326" y="621054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7017766" y="621054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로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7255510" y="621054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0" name="TextBox 210"/>
          <p:cNvSpPr txBox="1"/>
          <p:nvPr/>
        </p:nvSpPr>
        <p:spPr>
          <a:xfrm>
            <a:off x="7322566" y="6210544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사용함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안전을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3" name="TextBox 213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둘러</a:t>
            </a:r>
          </a:p>
        </p:txBody>
      </p:sp>
      <p:sp>
        <p:nvSpPr>
          <p:cNvPr id="214" name="TextBox 214"/>
          <p:cNvSpPr txBox="1"/>
          <p:nvPr/>
        </p:nvSpPr>
        <p:spPr>
          <a:xfrm>
            <a:off x="2420747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5" name="TextBox 215"/>
          <p:cNvSpPr txBox="1"/>
          <p:nvPr/>
        </p:nvSpPr>
        <p:spPr>
          <a:xfrm>
            <a:off x="2504567" y="103886"/>
            <a:ext cx="29224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싼</a:t>
            </a:r>
          </a:p>
        </p:txBody>
      </p:sp>
      <p:sp>
        <p:nvSpPr>
          <p:cNvPr id="216" name="TextBox 216"/>
          <p:cNvSpPr txBox="1"/>
          <p:nvPr/>
        </p:nvSpPr>
        <p:spPr>
          <a:xfrm>
            <a:off x="2791079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2876423" y="103886"/>
            <a:ext cx="58448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8482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상태와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3801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2183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불안전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8162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63924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539" y="1410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2947" y="140542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30324" y="14054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97380" y="14054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상태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75916" y="14054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468880" y="14054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물적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945892" y="14054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12948" y="14054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원인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91484" y="1405423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53028" y="14054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FF"/>
                </a:solidFill>
                <a:latin typeface="나눔고딕 2"/>
                <a:cs typeface="나눔고딕 2"/>
              </a:rPr>
              <a:t>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801110" y="14054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79646" y="13850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60418" y="14054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환경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37430" y="14054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904486" y="14054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83022" y="14054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451602" y="1405423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물적인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169787" y="14054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38367" y="14054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것에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16903" y="14054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85483" y="14054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이상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264019" y="13850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344791" y="1405423"/>
            <a:ext cx="73128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결함이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061325" y="14054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126857" y="14054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생겨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605393" y="14054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72947" y="170841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사고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51534" y="17084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20114" y="170841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98904" y="17084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969008" y="170841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재해로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686812" y="17084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753868" y="170841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연결될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471672" y="17084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540252" y="1708418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위험이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58310" y="17084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326890" y="170841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805426" y="17084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874006" y="170841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상태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66293" y="22581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82701" y="225276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840103" y="2252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907159" y="225276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385695" y="2252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478659" y="225276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인적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955671" y="2252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022727" y="225276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원인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501517" y="2252767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663061" y="2252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FF"/>
                </a:solidFill>
                <a:latin typeface="나눔고딕 2"/>
                <a:cs typeface="나눔고딕 2"/>
              </a:rPr>
              <a:t>: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810889" y="225276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사람이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528693" y="2252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595749" y="225276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313553" y="2252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382514" y="225276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것에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861050" y="2252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929630" y="225276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접근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408166" y="2252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478270" y="225276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956806" y="2252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7025386" y="2252767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접촉하는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982712" y="2252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8049768" y="225276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8289036" y="22527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882701" y="255782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사람의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600835" y="255782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669415" y="255782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147951" y="255782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2216531" y="255782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측면에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2934335" y="255782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002915" y="255782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나타나는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960241" y="255782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027297" y="255782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684581" y="318570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993953" y="318570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회사의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711706" y="3185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780286" y="3185709"/>
            <a:ext cx="170530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안전보건관리를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3452495" y="3185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518027" y="318570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통해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996563" y="3185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066667" y="3185709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재해원인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023993" y="3185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115433" y="3185709"/>
            <a:ext cx="730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불안전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830189" y="3185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897245" y="3185709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상태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376162" y="3185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520942" y="3185709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불안전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7238746" y="3185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7307326" y="318570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7785862" y="3185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7878826" y="318570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을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84581" y="3566709"/>
            <a:ext cx="3629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7" dirty="0">
                <a:solidFill>
                  <a:srgbClr val="000000"/>
                </a:solidFill>
                <a:latin typeface="나눔고딕 2"/>
                <a:cs typeface="나눔고딕 2"/>
              </a:rPr>
              <a:t>    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041197" y="356670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배제하는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998218" y="3566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065274" y="3566709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것이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2544191" y="35667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2614295" y="356670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필요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안전을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둘러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2420747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2504567" y="103886"/>
            <a:ext cx="29224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싼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2791079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876423" y="103886"/>
            <a:ext cx="58448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8482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상태와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3801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2183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불안전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8162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63924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76728" y="1360592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‹불안전한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71544" y="13605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38600" y="136059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상태의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56658" y="13605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25238" y="1360592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분류항목›</a:t>
            </a:r>
          </a:p>
        </p:txBody>
      </p:sp>
      <p:sp>
        <p:nvSpPr>
          <p:cNvPr id="26" name="Shape 26"/>
          <p:cNvSpPr/>
          <p:nvPr/>
        </p:nvSpPr>
        <p:spPr>
          <a:xfrm>
            <a:off x="705612" y="1847088"/>
            <a:ext cx="3951224" cy="1645412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4656836" y="1847088"/>
            <a:ext cx="3951224" cy="1645412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705612" y="3492500"/>
            <a:ext cx="3951224" cy="2834640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4656836" y="3492500"/>
            <a:ext cx="3951224" cy="2834640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4656836" y="1840738"/>
            <a:ext cx="1" cy="4492752"/>
          </a:xfrm>
          <a:custGeom>
            <a:avLst/>
            <a:gdLst/>
            <a:ahLst/>
            <a:cxnLst/>
            <a:rect l="0" t="0" r="1" b="4492752"/>
            <a:pathLst>
              <a:path w="1" h="4492752" fill="none">
                <a:moveTo>
                  <a:pt x="0" y="0"/>
                </a:moveTo>
                <a:lnTo>
                  <a:pt x="0" y="4492752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699262" y="3492500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705612" y="1840738"/>
            <a:ext cx="1" cy="4492752"/>
          </a:xfrm>
          <a:custGeom>
            <a:avLst/>
            <a:gdLst/>
            <a:ahLst/>
            <a:cxnLst/>
            <a:rect l="0" t="0" r="1" b="4492752"/>
            <a:pathLst>
              <a:path w="1" h="4492752" fill="none">
                <a:moveTo>
                  <a:pt x="0" y="0"/>
                </a:moveTo>
                <a:lnTo>
                  <a:pt x="0" y="4492752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Shape 33"/>
          <p:cNvSpPr/>
          <p:nvPr/>
        </p:nvSpPr>
        <p:spPr>
          <a:xfrm>
            <a:off x="8608060" y="1840738"/>
            <a:ext cx="1" cy="4492752"/>
          </a:xfrm>
          <a:custGeom>
            <a:avLst/>
            <a:gdLst/>
            <a:ahLst/>
            <a:cxnLst/>
            <a:rect l="0" t="0" r="1" b="4492752"/>
            <a:pathLst>
              <a:path w="1" h="4492752" fill="none">
                <a:moveTo>
                  <a:pt x="0" y="0"/>
                </a:moveTo>
                <a:lnTo>
                  <a:pt x="0" y="4492752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Shape 34"/>
          <p:cNvSpPr/>
          <p:nvPr/>
        </p:nvSpPr>
        <p:spPr>
          <a:xfrm>
            <a:off x="699262" y="1847088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Shape 35"/>
          <p:cNvSpPr/>
          <p:nvPr/>
        </p:nvSpPr>
        <p:spPr>
          <a:xfrm>
            <a:off x="699262" y="6327140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797052" y="1903136"/>
            <a:ext cx="3094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8" dirty="0">
                <a:solidFill>
                  <a:srgbClr val="9C3B00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9109" y="190313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물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38326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31290" y="190313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物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70558" y="1903136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30578" y="190313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자체의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548382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616962" y="190313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0613" y="2207936"/>
            <a:ext cx="8036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 설계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728470" y="22079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797050" y="22079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275586" y="22079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421890" y="220793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공작의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140075" y="22079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207131" y="22079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40613" y="251426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49985" y="251426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노후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728470" y="249389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809242" y="251426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피로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286254" y="249389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365502" y="2514260"/>
            <a:ext cx="97297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사용한계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0613" y="2817255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49985" y="2817255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고장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728470" y="281725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797050" y="2817255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미수리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514854" y="281725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659634" y="2817255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정비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138551" y="281725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207131" y="2817255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불량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749038" y="1903136"/>
            <a:ext cx="30866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6" dirty="0">
                <a:solidFill>
                  <a:srgbClr val="9C3B00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050790" y="190313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방호조치의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245987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313043" y="19031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892294" y="2209460"/>
            <a:ext cx="8036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 방호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680202" y="220946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48782" y="220946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부재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227699" y="218909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308471" y="2209460"/>
            <a:ext cx="730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불충분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892294" y="251426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201666" y="251426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접지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680202" y="251426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748782" y="251426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227699" y="251426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297803" y="251426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절연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776339" y="251426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844919" y="251426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부재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323455" y="249389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404227" y="2514260"/>
            <a:ext cx="730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불충분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4892294" y="281877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5201666" y="281877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차폐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680202" y="281877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748782" y="281877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부재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227699" y="27983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308471" y="2818779"/>
            <a:ext cx="730864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불충분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4892294" y="312411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5201666" y="31241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구간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5680202" y="310375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5760974" y="3124114"/>
            <a:ext cx="730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표시의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6476111" y="31241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6543167" y="31241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797052" y="3548675"/>
            <a:ext cx="3094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8" dirty="0">
                <a:solidFill>
                  <a:srgbClr val="9C3B00"/>
                </a:solidFill>
                <a:latin typeface="나눔고딕 2"/>
                <a:cs typeface="나눔고딕 2"/>
              </a:rPr>
              <a:t>3.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99109" y="354867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물건의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816862" y="35486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885442" y="354867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적치방법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2842895" y="35486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984627" y="3548675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작업장소의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180967" y="35486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102157" y="3853194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9C3B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940613" y="4158656"/>
            <a:ext cx="104768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 통로의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967738" y="41586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034794" y="415865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미확보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940613" y="446345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249985" y="446345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작업장소의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2444750" y="44634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2511806" y="446345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공간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2990723" y="44634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3059303" y="446345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부족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940613" y="476825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249985" y="476825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728470" y="47682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797050" y="476825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2036318" y="47682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2106422" y="476825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배치의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2824607" y="47682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2893187" y="476825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940613" y="507305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249985" y="507305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물건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728470" y="50730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797050" y="507305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두는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275586" y="50730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2345690" y="507305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방법의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3063875" y="50730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3130931" y="507305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부적절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940613" y="537813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249985" y="537813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물건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728470" y="53781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797050" y="537813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쌓는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2275586" y="53781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2345690" y="537813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방법의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3063875" y="53781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3130931" y="537813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940613" y="568293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1249985" y="568293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물건을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1967738" y="56829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2034794" y="568293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기대어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2752598" y="56829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2821559" y="568293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세우는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3539363" y="56829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3607943" y="568293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방법의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4325747" y="56829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1242365" y="598773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4749038" y="3550199"/>
            <a:ext cx="30866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6" dirty="0">
                <a:solidFill>
                  <a:srgbClr val="9C3B00"/>
                </a:solidFill>
                <a:latin typeface="나눔고딕 2"/>
                <a:cs typeface="나눔고딕 2"/>
              </a:rPr>
              <a:t>4. 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5050790" y="355019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보호구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5768594" y="352983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5849366" y="3550199"/>
            <a:ext cx="48683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복장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6325235" y="355019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6392291" y="355019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등의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6870827" y="355019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6940931" y="355019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4892294" y="3854718"/>
            <a:ext cx="80392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• 신발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5680202" y="38343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5760974" y="3854718"/>
            <a:ext cx="730864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보호구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6476111" y="38343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6555359" y="385471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복장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7032371" y="38547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7099427" y="385471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등을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7577963" y="38547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5194046" y="415865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지정하고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6151499" y="41586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6218555" y="415865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있지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6697091" y="41586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6765671" y="415865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않음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4892294" y="446345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5201666" y="446345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장갑의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5919470" y="44634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5986526" y="4463456"/>
            <a:ext cx="122148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사용금지를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7183247" y="44634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7250303" y="446345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하고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7728839" y="44634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7797419" y="446345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있지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8276209" y="44634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5194046" y="476825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않음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8185658" y="1573758"/>
            <a:ext cx="370537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spc="86" dirty="0">
                <a:solidFill>
                  <a:srgbClr val="000000"/>
                </a:solidFill>
                <a:latin typeface="나눔고딕 2"/>
                <a:cs typeface="나눔고딕 2"/>
              </a:rPr>
              <a:t>1/2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안전을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둘러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2420747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2504567" y="103886"/>
            <a:ext cx="29224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싼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2791079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2876423" y="103886"/>
            <a:ext cx="58448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8482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상태와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3801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2183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불안전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8162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63924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76728" y="1360592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‹불안전한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71544" y="13605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38600" y="136059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상태의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56658" y="13605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25238" y="1360592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분류항목›</a:t>
            </a:r>
          </a:p>
        </p:txBody>
      </p:sp>
      <p:sp>
        <p:nvSpPr>
          <p:cNvPr id="26" name="Shape 26"/>
          <p:cNvSpPr/>
          <p:nvPr/>
        </p:nvSpPr>
        <p:spPr>
          <a:xfrm>
            <a:off x="705612" y="1847088"/>
            <a:ext cx="3951224" cy="2529840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4656836" y="1847088"/>
            <a:ext cx="3951224" cy="2529840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705612" y="4376992"/>
            <a:ext cx="3951224" cy="1964436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4656836" y="4376992"/>
            <a:ext cx="3951224" cy="1964436"/>
          </a:xfrm>
          <a:prstGeom prst="rect">
            <a:avLst/>
          </a:prstGeom>
          <a:solidFill>
            <a:srgbClr val="D2DEEF"/>
          </a:solidFill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4656836" y="1840738"/>
            <a:ext cx="1" cy="4507039"/>
          </a:xfrm>
          <a:custGeom>
            <a:avLst/>
            <a:gdLst/>
            <a:ahLst/>
            <a:cxnLst/>
            <a:rect l="0" t="0" r="1" b="4507039"/>
            <a:pathLst>
              <a:path w="1" h="4507039" fill="none">
                <a:moveTo>
                  <a:pt x="0" y="0"/>
                </a:moveTo>
                <a:lnTo>
                  <a:pt x="0" y="450703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699262" y="4376928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705612" y="1840738"/>
            <a:ext cx="1" cy="4507039"/>
          </a:xfrm>
          <a:custGeom>
            <a:avLst/>
            <a:gdLst/>
            <a:ahLst/>
            <a:cxnLst/>
            <a:rect l="0" t="0" r="1" b="4507039"/>
            <a:pathLst>
              <a:path w="1" h="4507039" fill="none">
                <a:moveTo>
                  <a:pt x="0" y="0"/>
                </a:moveTo>
                <a:lnTo>
                  <a:pt x="0" y="450703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Shape 33"/>
          <p:cNvSpPr/>
          <p:nvPr/>
        </p:nvSpPr>
        <p:spPr>
          <a:xfrm>
            <a:off x="8608060" y="1840738"/>
            <a:ext cx="1" cy="4507039"/>
          </a:xfrm>
          <a:custGeom>
            <a:avLst/>
            <a:gdLst/>
            <a:ahLst/>
            <a:cxnLst/>
            <a:rect l="0" t="0" r="1" b="4507039"/>
            <a:pathLst>
              <a:path w="1" h="4507039" fill="none">
                <a:moveTo>
                  <a:pt x="0" y="0"/>
                </a:moveTo>
                <a:lnTo>
                  <a:pt x="0" y="450703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Shape 34"/>
          <p:cNvSpPr/>
          <p:nvPr/>
        </p:nvSpPr>
        <p:spPr>
          <a:xfrm>
            <a:off x="699262" y="1847088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Shape 35"/>
          <p:cNvSpPr/>
          <p:nvPr/>
        </p:nvSpPr>
        <p:spPr>
          <a:xfrm>
            <a:off x="699262" y="6341428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797052" y="1903136"/>
            <a:ext cx="3094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8" dirty="0">
                <a:solidFill>
                  <a:srgbClr val="9C3B00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9109" y="190313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작업환경의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93874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360930" y="19031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40613" y="2207936"/>
            <a:ext cx="104768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 환기의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967738" y="22079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34794" y="22079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40613" y="251273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49985" y="25127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기타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728470" y="25127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797050" y="251273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작업환경의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993771" y="25127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059303" y="25127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749038" y="1903136"/>
            <a:ext cx="30866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6" dirty="0">
                <a:solidFill>
                  <a:srgbClr val="9C3B00"/>
                </a:solidFill>
                <a:latin typeface="나눔고딕 2"/>
                <a:cs typeface="나눔고딕 2"/>
              </a:rPr>
              <a:t>6.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050790" y="190313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부외적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768594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861558" y="1903136"/>
            <a:ext cx="73076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部外的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76695" y="1903136"/>
            <a:ext cx="24365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96" dirty="0">
                <a:solidFill>
                  <a:srgbClr val="9C3B00"/>
                </a:solidFill>
                <a:latin typeface="나눔고딕 2"/>
                <a:cs typeface="나눔고딕 2"/>
              </a:rPr>
              <a:t>),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811391" y="1903136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자연적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529195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053838" y="220793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불안전상태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892294" y="2512736"/>
            <a:ext cx="104768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 부외의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919470" y="25127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986526" y="251273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226175" y="25127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297803" y="2512736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자체의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015607" y="25127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082663" y="25127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561199" y="25127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707503" y="2512736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부외의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425561" y="25127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194046" y="2817255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방호장치의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389243" y="281725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456299" y="2817255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934835" y="281725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081139" y="2817255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부외의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798943" y="281725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865999" y="2817255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물건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344789" y="281725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194046" y="31241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두는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672582" y="31241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741162" y="31241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방법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220079" y="310375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300851" y="31241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777863" y="31241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844919" y="3124114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장소의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562723" y="31241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631303" y="31241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8110093" y="31241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5194046" y="342739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부외의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911850" y="34273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980430" y="3427390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459347" y="34273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527927" y="3427390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환경의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245731" y="34273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314311" y="34273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892294" y="373219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5201666" y="373219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교통의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919470" y="37321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986526" y="3732190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4892294" y="403699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5201666" y="403699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자연의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5919470" y="40369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986526" y="4036990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797052" y="4433611"/>
            <a:ext cx="3094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8" dirty="0">
                <a:solidFill>
                  <a:srgbClr val="9C3B00"/>
                </a:solidFill>
                <a:latin typeface="나눔고딕 2"/>
                <a:cs typeface="나눔고딕 2"/>
              </a:rPr>
              <a:t>7.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099109" y="4433611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작업방법의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293874" y="44336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2360930" y="44336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940613" y="4739935"/>
            <a:ext cx="129174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 부적당한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2207006" y="47399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274062" y="473993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752598" y="47195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833751" y="473993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장치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3310763" y="47195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390011" y="4739935"/>
            <a:ext cx="72901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공구의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4104767" y="47399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242365" y="50432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사용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940613" y="534801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249985" y="5348011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작업절차의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2444750" y="53480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2511806" y="53480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잘못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940613" y="5654003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249985" y="5654003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기술적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967738" y="56336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2048510" y="5654003"/>
            <a:ext cx="72931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육체적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2761742" y="565400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2829179" y="565400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무리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940613" y="595786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249985" y="595786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967738" y="595786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2034794" y="595786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불확인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749038" y="4433611"/>
            <a:ext cx="30866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6" dirty="0">
                <a:solidFill>
                  <a:srgbClr val="9C3B00"/>
                </a:solidFill>
                <a:latin typeface="나눔고딕 2"/>
                <a:cs typeface="나눔고딕 2"/>
              </a:rPr>
              <a:t>8.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050790" y="44336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기타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529326" y="44336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5597906" y="443361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및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5837174" y="44336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5907278" y="4433611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6386195" y="44336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6456299" y="44336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불능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4892294" y="4738411"/>
            <a:ext cx="104768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 기타의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5919470" y="47384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5986526" y="4738411"/>
            <a:ext cx="122148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불안전상태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4892294" y="504321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5201666" y="50432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5680202" y="50432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5748782" y="50432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불능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8185658" y="1573758"/>
            <a:ext cx="370537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spc="86" dirty="0">
                <a:solidFill>
                  <a:srgbClr val="000000"/>
                </a:solidFill>
                <a:latin typeface="나눔고딕 2"/>
                <a:cs typeface="나눔고딕 2"/>
              </a:rPr>
              <a:t>2/2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안전을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둘러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2420747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2504567" y="103886"/>
            <a:ext cx="29224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싼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2791079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2876423" y="103886"/>
            <a:ext cx="58448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8482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상태와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3801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2183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불안전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8162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63924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21" name="Shape 21"/>
          <p:cNvSpPr/>
          <p:nvPr/>
        </p:nvSpPr>
        <p:spPr>
          <a:xfrm>
            <a:off x="705612" y="1847088"/>
            <a:ext cx="3951224" cy="2529840"/>
          </a:xfrm>
          <a:prstGeom prst="rect">
            <a:avLst/>
          </a:prstGeom>
          <a:solidFill>
            <a:srgbClr val="E9E7E7"/>
          </a:solidFill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4656836" y="1847088"/>
            <a:ext cx="3951224" cy="2529840"/>
          </a:xfrm>
          <a:prstGeom prst="rect">
            <a:avLst/>
          </a:prstGeom>
          <a:solidFill>
            <a:srgbClr val="E9E7E7"/>
          </a:solidFill>
        </p:spPr>
        <p:txBody>
          <a:bodyPr/>
          <a:lstStyle/>
          <a:p>
            <a:endParaRPr/>
          </a:p>
        </p:txBody>
      </p:sp>
      <p:sp>
        <p:nvSpPr>
          <p:cNvPr id="23" name="Shape 23"/>
          <p:cNvSpPr/>
          <p:nvPr/>
        </p:nvSpPr>
        <p:spPr>
          <a:xfrm>
            <a:off x="705612" y="4376992"/>
            <a:ext cx="3951224" cy="1964436"/>
          </a:xfrm>
          <a:prstGeom prst="rect">
            <a:avLst/>
          </a:prstGeom>
          <a:solidFill>
            <a:srgbClr val="E9E7E7"/>
          </a:solidFill>
        </p:spPr>
        <p:txBody>
          <a:bodyPr/>
          <a:lstStyle/>
          <a:p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656836" y="4376992"/>
            <a:ext cx="3951224" cy="1964436"/>
          </a:xfrm>
          <a:prstGeom prst="rect">
            <a:avLst/>
          </a:prstGeom>
          <a:solidFill>
            <a:srgbClr val="E9E7E7"/>
          </a:solidFill>
        </p:spPr>
        <p:txBody>
          <a:bodyPr/>
          <a:lstStyle/>
          <a:p>
            <a:endParaRPr/>
          </a:p>
        </p:txBody>
      </p:sp>
      <p:sp>
        <p:nvSpPr>
          <p:cNvPr id="25" name="Shape 25"/>
          <p:cNvSpPr/>
          <p:nvPr/>
        </p:nvSpPr>
        <p:spPr>
          <a:xfrm>
            <a:off x="4656836" y="1840738"/>
            <a:ext cx="1" cy="4507039"/>
          </a:xfrm>
          <a:custGeom>
            <a:avLst/>
            <a:gdLst/>
            <a:ahLst/>
            <a:cxnLst/>
            <a:rect l="0" t="0" r="1" b="4507039"/>
            <a:pathLst>
              <a:path w="1" h="4507039" fill="none">
                <a:moveTo>
                  <a:pt x="0" y="0"/>
                </a:moveTo>
                <a:lnTo>
                  <a:pt x="0" y="450703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699262" y="4376928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705612" y="1840738"/>
            <a:ext cx="1" cy="4507039"/>
          </a:xfrm>
          <a:custGeom>
            <a:avLst/>
            <a:gdLst/>
            <a:ahLst/>
            <a:cxnLst/>
            <a:rect l="0" t="0" r="1" b="4507039"/>
            <a:pathLst>
              <a:path w="1" h="4507039" fill="none">
                <a:moveTo>
                  <a:pt x="0" y="0"/>
                </a:moveTo>
                <a:lnTo>
                  <a:pt x="0" y="450703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608060" y="1840738"/>
            <a:ext cx="1" cy="4507039"/>
          </a:xfrm>
          <a:custGeom>
            <a:avLst/>
            <a:gdLst/>
            <a:ahLst/>
            <a:cxnLst/>
            <a:rect l="0" t="0" r="1" b="4507039"/>
            <a:pathLst>
              <a:path w="1" h="4507039" fill="none">
                <a:moveTo>
                  <a:pt x="0" y="0"/>
                </a:moveTo>
                <a:lnTo>
                  <a:pt x="0" y="450703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699262" y="1847088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99262" y="6341428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797052" y="1903136"/>
            <a:ext cx="3094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8" dirty="0">
                <a:solidFill>
                  <a:srgbClr val="9C3B00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9109" y="190313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안전장치의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293874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360930" y="190313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무효화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0613" y="2207936"/>
            <a:ext cx="153579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 안전장치를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444750" y="22079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511806" y="220793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임의로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229991" y="22079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98571" y="220793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해체함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016375" y="22079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2365" y="251273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무효로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960118" y="25127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028698" y="251273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0613" y="2817255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49985" y="2817255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안전장치의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444750" y="281725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511806" y="2817255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조정을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229991" y="281725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98571" y="2817255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잘못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777107" y="281725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845687" y="2817255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함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40613" y="312259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49985" y="31225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기타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728470" y="31225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797050" y="312259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방호물을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754122" y="31225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821559" y="31225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없앰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749038" y="1903136"/>
            <a:ext cx="30866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6" dirty="0">
                <a:solidFill>
                  <a:srgbClr val="9C3B00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050790" y="190313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안전조치의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245987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313043" y="190313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불이행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892294" y="2207936"/>
            <a:ext cx="104768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 불의의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919470" y="22079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986526" y="2207936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위험에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704711" y="22079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773291" y="22079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대한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251827" y="22079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321931" y="2207936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조치의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039989" y="22079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194046" y="251273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불이행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892294" y="281877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201666" y="281877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680202" y="27983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760974" y="281877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장치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238367" y="281877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305423" y="281877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등을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783959" y="281877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852539" y="281877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불의로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570343" y="281877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7638923" y="281877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움직임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892294" y="312411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201666" y="31241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신호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680202" y="310375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60974" y="3124114"/>
            <a:ext cx="97297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확인없이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713855" y="31241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780911" y="31241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차를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259447" y="31241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7329551" y="3124114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움직임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4892294" y="342739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5201666" y="342739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신호없이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159119" y="34273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6226175" y="342739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물건을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6943979" y="34273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7011035" y="3427390"/>
            <a:ext cx="122023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움직이거나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8207629" y="34273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194046" y="37321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놓음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4892294" y="403699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5201666" y="40369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기타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797052" y="4433611"/>
            <a:ext cx="3094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8" dirty="0">
                <a:solidFill>
                  <a:srgbClr val="9C3B00"/>
                </a:solidFill>
                <a:latin typeface="나눔고딕 2"/>
                <a:cs typeface="나눔고딕 2"/>
              </a:rPr>
              <a:t>3.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099109" y="443361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056130" y="44336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123186" y="44336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방치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940613" y="4739935"/>
            <a:ext cx="8036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 기계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728470" y="47195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809242" y="473993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장치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286254" y="47399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353310" y="473993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등의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832227" y="47399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2900807" y="4739935"/>
            <a:ext cx="14628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운전상태에서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4334891" y="47399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242365" y="504321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자리를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960118" y="50432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2028698" y="50432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이탈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940613" y="534801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249985" y="534801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2207006" y="53480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2274062" y="534801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상태로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2992247" y="53480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3059303" y="534801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방치함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940613" y="565247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249985" y="565247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공구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728470" y="565247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873250" y="565247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용구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2351786" y="565247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98090" y="565247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재료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2977007" y="565247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3121787" y="5652479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부스러기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4078859" y="565247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242365" y="595786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등을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720850" y="595786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789430" y="595786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2746502" y="595786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2813939" y="595786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장소에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3531743" y="595786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3600323" y="595786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놓음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4749038" y="4433611"/>
            <a:ext cx="30866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6" dirty="0">
                <a:solidFill>
                  <a:srgbClr val="9C3B00"/>
                </a:solidFill>
                <a:latin typeface="나눔고딕 2"/>
                <a:cs typeface="나눔고딕 2"/>
              </a:rPr>
              <a:t>4.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5050790" y="443361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위험한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5768594" y="44336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5837174" y="4433611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상태를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6555359" y="44336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6622415" y="44336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만듦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4892294" y="4738411"/>
            <a:ext cx="5595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 짐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5440934" y="47384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5511038" y="47384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등을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5989574" y="47384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6058535" y="4738411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과도하게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7015607" y="47384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7082663" y="47384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쌓음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4892294" y="504321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5201666" y="504321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조합하여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6159119" y="50432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6226175" y="504321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위험한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6943979" y="50432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7011035" y="50432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것을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489571" y="50432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7559675" y="5043211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뒤섞음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4892294" y="534801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5201666" y="534801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6159119" y="53480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6226175" y="534801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것으로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6943979" y="534801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7011035" y="534801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바꿈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2776728" y="1360592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‹불안전한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3971544" y="13605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4038600" y="136059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행동의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4756658" y="13605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4825238" y="1360592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분류항목›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8185658" y="1573758"/>
            <a:ext cx="370537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spc="86" dirty="0">
                <a:solidFill>
                  <a:srgbClr val="000000"/>
                </a:solidFill>
                <a:latin typeface="나눔고딕 2"/>
                <a:cs typeface="나눔고딕 2"/>
              </a:rPr>
              <a:t>1/3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안전을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둘러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2420747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2504567" y="103886"/>
            <a:ext cx="29224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싼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2791079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2876423" y="103886"/>
            <a:ext cx="58448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8482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상태와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3801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2183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불안전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8162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63924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21" name="Shape 21"/>
          <p:cNvSpPr/>
          <p:nvPr/>
        </p:nvSpPr>
        <p:spPr>
          <a:xfrm>
            <a:off x="705612" y="1847088"/>
            <a:ext cx="3951224" cy="1511046"/>
          </a:xfrm>
          <a:prstGeom prst="rect">
            <a:avLst/>
          </a:prstGeom>
          <a:solidFill>
            <a:srgbClr val="E9E7E7"/>
          </a:solidFill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4656836" y="1847088"/>
            <a:ext cx="3951224" cy="1511046"/>
          </a:xfrm>
          <a:prstGeom prst="rect">
            <a:avLst/>
          </a:prstGeom>
          <a:solidFill>
            <a:srgbClr val="E9E7E7"/>
          </a:solidFill>
        </p:spPr>
        <p:txBody>
          <a:bodyPr/>
          <a:lstStyle/>
          <a:p>
            <a:endParaRPr/>
          </a:p>
        </p:txBody>
      </p:sp>
      <p:sp>
        <p:nvSpPr>
          <p:cNvPr id="23" name="Shape 23"/>
          <p:cNvSpPr/>
          <p:nvPr/>
        </p:nvSpPr>
        <p:spPr>
          <a:xfrm>
            <a:off x="705612" y="3358134"/>
            <a:ext cx="3951224" cy="2956941"/>
          </a:xfrm>
          <a:prstGeom prst="rect">
            <a:avLst/>
          </a:prstGeom>
          <a:solidFill>
            <a:srgbClr val="E9E7E7"/>
          </a:solidFill>
        </p:spPr>
        <p:txBody>
          <a:bodyPr/>
          <a:lstStyle/>
          <a:p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656836" y="3358134"/>
            <a:ext cx="3951224" cy="2956941"/>
          </a:xfrm>
          <a:prstGeom prst="rect">
            <a:avLst/>
          </a:prstGeom>
          <a:solidFill>
            <a:srgbClr val="E9E7E7"/>
          </a:solidFill>
        </p:spPr>
        <p:txBody>
          <a:bodyPr/>
          <a:lstStyle/>
          <a:p>
            <a:endParaRPr/>
          </a:p>
        </p:txBody>
      </p:sp>
      <p:sp>
        <p:nvSpPr>
          <p:cNvPr id="25" name="Shape 25"/>
          <p:cNvSpPr/>
          <p:nvPr/>
        </p:nvSpPr>
        <p:spPr>
          <a:xfrm>
            <a:off x="4656836" y="1840738"/>
            <a:ext cx="1" cy="4480687"/>
          </a:xfrm>
          <a:custGeom>
            <a:avLst/>
            <a:gdLst/>
            <a:ahLst/>
            <a:cxnLst/>
            <a:rect l="0" t="0" r="1" b="4480687"/>
            <a:pathLst>
              <a:path w="1" h="4480687" fill="none">
                <a:moveTo>
                  <a:pt x="0" y="0"/>
                </a:moveTo>
                <a:lnTo>
                  <a:pt x="0" y="4480687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699262" y="3358134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705612" y="1840738"/>
            <a:ext cx="1" cy="4480687"/>
          </a:xfrm>
          <a:custGeom>
            <a:avLst/>
            <a:gdLst/>
            <a:ahLst/>
            <a:cxnLst/>
            <a:rect l="0" t="0" r="1" b="4480687"/>
            <a:pathLst>
              <a:path w="1" h="4480687" fill="none">
                <a:moveTo>
                  <a:pt x="0" y="0"/>
                </a:moveTo>
                <a:lnTo>
                  <a:pt x="0" y="4480687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608060" y="1840738"/>
            <a:ext cx="1" cy="4480687"/>
          </a:xfrm>
          <a:custGeom>
            <a:avLst/>
            <a:gdLst/>
            <a:ahLst/>
            <a:cxnLst/>
            <a:rect l="0" t="0" r="1" b="4480687"/>
            <a:pathLst>
              <a:path w="1" h="4480687" fill="none">
                <a:moveTo>
                  <a:pt x="0" y="0"/>
                </a:moveTo>
                <a:lnTo>
                  <a:pt x="0" y="4480687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699262" y="1847088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99262" y="6315075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797052" y="1903136"/>
            <a:ext cx="3094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8" dirty="0">
                <a:solidFill>
                  <a:srgbClr val="9C3B00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9109" y="19031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77594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22374" y="19031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장치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00910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271014" y="19031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등의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749550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818511" y="19031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소정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97047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365627" y="19031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외의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844163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914267" y="19031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사용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73252" y="2208362"/>
            <a:ext cx="545996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•결함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90142" y="220836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25194" y="2208362"/>
            <a:ext cx="370028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769618" y="220836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806194" y="2208362"/>
            <a:ext cx="3700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150618" y="2192147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196338" y="2208362"/>
            <a:ext cx="3700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장치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540762" y="220836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618486" y="2208362"/>
            <a:ext cx="3700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공구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963291" y="220836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042539" y="2208362"/>
            <a:ext cx="3700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용구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386963" y="220836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423539" y="2208362"/>
            <a:ext cx="3700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등을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767963" y="220836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804539" y="2208362"/>
            <a:ext cx="545716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사용함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73252" y="2452202"/>
            <a:ext cx="583303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•기계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426718" y="2435987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72438" y="2452202"/>
            <a:ext cx="3700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장치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816862" y="245220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894586" y="2452202"/>
            <a:ext cx="3700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공구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239010" y="245220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318258" y="2452202"/>
            <a:ext cx="370028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용구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662682" y="245220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699258" y="2452202"/>
            <a:ext cx="370287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등의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044063" y="245220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080639" y="2452202"/>
            <a:ext cx="545716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선택을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597275" y="245220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632327" y="2452202"/>
            <a:ext cx="545716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잘못함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73252" y="2696042"/>
            <a:ext cx="583303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•기계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426718" y="2679827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472438" y="2696042"/>
            <a:ext cx="3700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장치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816862" y="269604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851914" y="2696042"/>
            <a:ext cx="3700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등을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196338" y="269604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232914" y="2696042"/>
            <a:ext cx="3700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지정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577338" y="269604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613914" y="2696042"/>
            <a:ext cx="3700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외의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958719" y="269604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995295" y="2696042"/>
            <a:ext cx="721403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방법으로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3684143" y="269604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719195" y="2696042"/>
            <a:ext cx="545716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사용함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873252" y="2939882"/>
            <a:ext cx="583303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•기계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426718" y="2923667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맑은 고딕 2"/>
                <a:cs typeface="맑은 고딕 2"/>
              </a:rPr>
              <a:t>∙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472438" y="2939882"/>
            <a:ext cx="3700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장치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816862" y="293988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851914" y="2939882"/>
            <a:ext cx="370029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등을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2196338" y="293988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232914" y="2939882"/>
            <a:ext cx="721403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922143" y="293988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957195" y="2939882"/>
            <a:ext cx="545716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속도로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3473831" y="2939882"/>
            <a:ext cx="121615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508883" y="2939882"/>
            <a:ext cx="545716" cy="2837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596" b="1" dirty="0">
                <a:solidFill>
                  <a:srgbClr val="000000"/>
                </a:solidFill>
                <a:latin typeface="나눔고딕"/>
                <a:cs typeface="나눔고딕"/>
              </a:rPr>
              <a:t>움직임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749038" y="1903136"/>
            <a:ext cx="30866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6" dirty="0">
                <a:solidFill>
                  <a:srgbClr val="9C3B00"/>
                </a:solidFill>
                <a:latin typeface="나눔고딕 2"/>
                <a:cs typeface="나눔고딕 2"/>
              </a:rPr>
              <a:t>6.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050790" y="19031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운전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5529326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5597906" y="19031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중인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076823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6146927" y="19031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625463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770243" y="19031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장치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317359" y="19031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등의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795895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865999" y="190313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청소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344789" y="19031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053838" y="22079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주유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532374" y="22079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5677154" y="22079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수리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6156071" y="22079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302375" y="220793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점검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780911" y="22079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849491" y="220793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797052" y="3414309"/>
            <a:ext cx="3094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8" dirty="0">
                <a:solidFill>
                  <a:srgbClr val="9C3B00"/>
                </a:solidFill>
                <a:latin typeface="나눔고딕 2"/>
                <a:cs typeface="나눔고딕 2"/>
              </a:rPr>
              <a:t>7.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099109" y="341430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보호구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816862" y="34143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961642" y="341430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복장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2440178" y="34143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2508758" y="341430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등의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2987675" y="34143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3056255" y="341430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897636" y="3718828"/>
            <a:ext cx="11602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•보호구를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014982" y="371882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2063750" y="3718828"/>
            <a:ext cx="91585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사용하지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941955" y="371882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2993771" y="3718828"/>
            <a:ext cx="468162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않음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902208" y="4024163"/>
            <a:ext cx="96865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•잘못된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832102" y="40241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882394" y="4024163"/>
            <a:ext cx="91546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보호구의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2760218" y="40241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2812415" y="4024163"/>
            <a:ext cx="4678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선택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3251327" y="40241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3303143" y="402416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및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3522599" y="40241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3574415" y="4024163"/>
            <a:ext cx="91546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사용방법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4452239" y="40241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140257" y="4328963"/>
            <a:ext cx="4678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902208" y="4633763"/>
            <a:ext cx="119247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•불안전한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2051558" y="46337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2101850" y="4633763"/>
            <a:ext cx="4678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복장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4749038" y="3414309"/>
            <a:ext cx="30866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6" dirty="0">
                <a:solidFill>
                  <a:srgbClr val="9C3B00"/>
                </a:solidFill>
                <a:latin typeface="나눔고딕 2"/>
                <a:cs typeface="나눔고딕 2"/>
              </a:rPr>
              <a:t>8. 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5050790" y="3414309"/>
            <a:ext cx="14628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위험장소에의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6483731" y="341430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6550787" y="341430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접근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4892294" y="3718828"/>
            <a:ext cx="115990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•움직이고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6009767" y="371882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6058535" y="3718828"/>
            <a:ext cx="468162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6497447" y="371882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6549263" y="3718828"/>
            <a:ext cx="468162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6988175" y="371882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7097903" y="3718828"/>
            <a:ext cx="468162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장치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7536815" y="371882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7588631" y="3718828"/>
            <a:ext cx="468162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등에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8027797" y="371882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5091938" y="4024163"/>
            <a:ext cx="113927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접근하거나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6189599" y="40241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6239891" y="4024163"/>
            <a:ext cx="69165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접촉함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4854194" y="4328963"/>
            <a:ext cx="96834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•매달린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5783834" y="4328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5834126" y="4328963"/>
            <a:ext cx="46822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짐에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6273419" y="4328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6325235" y="4328963"/>
            <a:ext cx="113927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접촉하거나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7422515" y="4328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7474331" y="4328963"/>
            <a:ext cx="69165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밑으로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8132953" y="4328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5091938" y="4633763"/>
            <a:ext cx="113927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들어가거나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6189599" y="46337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6239891" y="4633763"/>
            <a:ext cx="69165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접근함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4854194" y="4938282"/>
            <a:ext cx="141640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•유해위험한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6223127" y="49382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6273419" y="4938282"/>
            <a:ext cx="69200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장소에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6931787" y="49382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6983603" y="4938282"/>
            <a:ext cx="69200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들어감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4854194" y="5243744"/>
            <a:ext cx="119216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•확인없이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6003671" y="524374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6053963" y="5243744"/>
            <a:ext cx="91546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무너지기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6931787" y="524374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6983603" y="5243744"/>
            <a:ext cx="4678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쉬운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7422515" y="524374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7474331" y="5243744"/>
            <a:ext cx="69165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물건에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8132953" y="524374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5091938" y="5548519"/>
            <a:ext cx="113927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접근하거나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6189599" y="55485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6239891" y="5548519"/>
            <a:ext cx="69165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접촉함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4854194" y="5853319"/>
            <a:ext cx="119216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•불안전한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6003671" y="58533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6053963" y="5853319"/>
            <a:ext cx="69165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장소에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6712331" y="58533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6764147" y="5853319"/>
            <a:ext cx="69165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올라감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2776728" y="1360592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‹불안전한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3971544" y="13605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4038600" y="136059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행동의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4756658" y="136059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4825238" y="1360592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분류항목›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8185658" y="1573758"/>
            <a:ext cx="370537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spc="86" dirty="0">
                <a:solidFill>
                  <a:srgbClr val="000000"/>
                </a:solidFill>
                <a:latin typeface="나눔고딕 2"/>
                <a:cs typeface="나눔고딕 2"/>
              </a:rPr>
              <a:t>2/3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안전을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8" name="TextBox 198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둘러</a:t>
            </a:r>
          </a:p>
        </p:txBody>
      </p:sp>
      <p:sp>
        <p:nvSpPr>
          <p:cNvPr id="199" name="TextBox 199"/>
          <p:cNvSpPr txBox="1"/>
          <p:nvPr/>
        </p:nvSpPr>
        <p:spPr>
          <a:xfrm>
            <a:off x="2420747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2504567" y="103886"/>
            <a:ext cx="29224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싼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2791079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2876423" y="103886"/>
            <a:ext cx="58448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5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8482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상태와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3801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2183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불안전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8162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63924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21" name="Shape 21"/>
          <p:cNvSpPr/>
          <p:nvPr/>
        </p:nvSpPr>
        <p:spPr>
          <a:xfrm>
            <a:off x="705612" y="1667002"/>
            <a:ext cx="3951224" cy="2529840"/>
          </a:xfrm>
          <a:prstGeom prst="rect">
            <a:avLst/>
          </a:prstGeom>
          <a:solidFill>
            <a:srgbClr val="E9E7E7"/>
          </a:solidFill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4656836" y="1667002"/>
            <a:ext cx="3951224" cy="2529840"/>
          </a:xfrm>
          <a:prstGeom prst="rect">
            <a:avLst/>
          </a:prstGeom>
          <a:solidFill>
            <a:srgbClr val="E9E7E7"/>
          </a:solidFill>
        </p:spPr>
        <p:txBody>
          <a:bodyPr/>
          <a:lstStyle/>
          <a:p>
            <a:endParaRPr/>
          </a:p>
        </p:txBody>
      </p:sp>
      <p:sp>
        <p:nvSpPr>
          <p:cNvPr id="23" name="Shape 23"/>
          <p:cNvSpPr/>
          <p:nvPr/>
        </p:nvSpPr>
        <p:spPr>
          <a:xfrm>
            <a:off x="705612" y="4196829"/>
            <a:ext cx="3951224" cy="2225040"/>
          </a:xfrm>
          <a:prstGeom prst="rect">
            <a:avLst/>
          </a:prstGeom>
          <a:solidFill>
            <a:srgbClr val="E9E7E7"/>
          </a:solidFill>
        </p:spPr>
        <p:txBody>
          <a:bodyPr/>
          <a:lstStyle/>
          <a:p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656836" y="4196829"/>
            <a:ext cx="3951224" cy="2225040"/>
          </a:xfrm>
          <a:prstGeom prst="rect">
            <a:avLst/>
          </a:prstGeom>
          <a:solidFill>
            <a:srgbClr val="E9E7E7"/>
          </a:solidFill>
        </p:spPr>
        <p:txBody>
          <a:bodyPr/>
          <a:lstStyle/>
          <a:p>
            <a:endParaRPr/>
          </a:p>
        </p:txBody>
      </p:sp>
      <p:sp>
        <p:nvSpPr>
          <p:cNvPr id="25" name="Shape 25"/>
          <p:cNvSpPr/>
          <p:nvPr/>
        </p:nvSpPr>
        <p:spPr>
          <a:xfrm>
            <a:off x="4656836" y="1660652"/>
            <a:ext cx="1" cy="4767567"/>
          </a:xfrm>
          <a:custGeom>
            <a:avLst/>
            <a:gdLst/>
            <a:ahLst/>
            <a:cxnLst/>
            <a:rect l="0" t="0" r="1" b="4767567"/>
            <a:pathLst>
              <a:path w="1" h="4767567" fill="none">
                <a:moveTo>
                  <a:pt x="0" y="0"/>
                </a:moveTo>
                <a:lnTo>
                  <a:pt x="0" y="4767567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699262" y="4196842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705612" y="1660652"/>
            <a:ext cx="1" cy="4767567"/>
          </a:xfrm>
          <a:custGeom>
            <a:avLst/>
            <a:gdLst/>
            <a:ahLst/>
            <a:cxnLst/>
            <a:rect l="0" t="0" r="1" b="4767567"/>
            <a:pathLst>
              <a:path w="1" h="4767567" fill="none">
                <a:moveTo>
                  <a:pt x="0" y="0"/>
                </a:moveTo>
                <a:lnTo>
                  <a:pt x="0" y="4767567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608060" y="1660652"/>
            <a:ext cx="1" cy="4767567"/>
          </a:xfrm>
          <a:custGeom>
            <a:avLst/>
            <a:gdLst/>
            <a:ahLst/>
            <a:cxnLst/>
            <a:rect l="0" t="0" r="1" b="4767567"/>
            <a:pathLst>
              <a:path w="1" h="4767567" fill="none">
                <a:moveTo>
                  <a:pt x="0" y="0"/>
                </a:moveTo>
                <a:lnTo>
                  <a:pt x="0" y="4767567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699262" y="1667002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99262" y="6421869"/>
            <a:ext cx="7915148" cy="1"/>
          </a:xfrm>
          <a:custGeom>
            <a:avLst/>
            <a:gdLst/>
            <a:ahLst/>
            <a:cxnLst/>
            <a:rect l="0" t="0" r="7915148" b="1"/>
            <a:pathLst>
              <a:path w="7915148" h="1" fill="none">
                <a:moveTo>
                  <a:pt x="0" y="0"/>
                </a:moveTo>
                <a:lnTo>
                  <a:pt x="7915148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797052" y="1722923"/>
            <a:ext cx="3094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8" dirty="0">
                <a:solidFill>
                  <a:srgbClr val="9C3B00"/>
                </a:solidFill>
                <a:latin typeface="나눔고딕 2"/>
                <a:cs typeface="나눔고딕 2"/>
              </a:rPr>
              <a:t>9.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9109" y="17229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기타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77594" y="17229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46174" y="172292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603246" y="17229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670302" y="1722923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행위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0613" y="2027723"/>
            <a:ext cx="8036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 도구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28470" y="20277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97050" y="202772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대신에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514854" y="20277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583434" y="202772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23083" y="20277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893187" y="20277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등을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371723" y="20277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40303" y="202772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이용함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0613" y="233252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49985" y="23325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짐의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728470" y="23325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797050" y="23325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중간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275586" y="23325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345690" y="23325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빼기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824607" y="23325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969387" y="23325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밑의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447923" y="23325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516503" y="233252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배기를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4307" y="23325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302887" y="233252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함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40613" y="263732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49985" y="263732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확인하지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207006" y="26373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274062" y="26373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않고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752598" y="26373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821559" y="26373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다음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300095" y="26373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370199" y="263732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동작을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088003" y="26373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155059" y="263732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함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40613" y="294250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49985" y="294250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손으로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967738" y="294250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034794" y="294250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건네는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752598" y="294250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821559" y="294250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대신에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539363" y="294250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607943" y="294250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던짐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40613" y="324730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249985" y="324730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뛰어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728470" y="324730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797050" y="324730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내리거나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754122" y="324730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821559" y="324730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뛰어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3300095" y="324730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370199" y="324730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오름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40613" y="355210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249985" y="355210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쓸데없이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207006" y="355210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274062" y="355210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뜀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40613" y="385690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249985" y="385690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장난질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967738" y="385690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110994" y="385690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지나친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829179" y="385690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897759" y="385690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장난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749038" y="1722923"/>
            <a:ext cx="46597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44" dirty="0">
                <a:solidFill>
                  <a:srgbClr val="9C3B00"/>
                </a:solidFill>
                <a:latin typeface="나눔고딕 2"/>
                <a:cs typeface="나눔고딕 2"/>
              </a:rPr>
              <a:t>10.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204714" y="172292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운전의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922518" y="17229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5991098" y="1722923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실패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6470015" y="17229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562979" y="172292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탈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6802247" y="17229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869303" y="172292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108571" y="17229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892294" y="2027723"/>
            <a:ext cx="12917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 스피드를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6159119" y="20277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226175" y="20277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너무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704711" y="20277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773291" y="202772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4892294" y="233252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5201666" y="23325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기타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5680202" y="23325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748782" y="233252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706235" y="23325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773291" y="23325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행위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797052" y="4253398"/>
            <a:ext cx="46675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46" dirty="0">
                <a:solidFill>
                  <a:srgbClr val="9C3B00"/>
                </a:solidFill>
                <a:latin typeface="나눔고딕 2"/>
                <a:cs typeface="나눔고딕 2"/>
              </a:rPr>
              <a:t>11.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253033" y="425339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잘못된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970786" y="42533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2039366" y="425339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동작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940613" y="4558198"/>
            <a:ext cx="5595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 짐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489202" y="45581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559306" y="455819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등을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2037842" y="45581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2106422" y="455819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과하게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824607" y="45581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2893187" y="4558198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듦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940613" y="4862998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249985" y="486299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잘못된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1967738" y="48629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2034794" y="486299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물건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2513330" y="48629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2583434" y="4862998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지지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3062351" y="48629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3130931" y="486299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방법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940613" y="5167798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249985" y="516779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붙잡는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967738" y="51677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2034794" y="516779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방법이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2752598" y="51677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2821559" y="5167798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확실하지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3778631" y="51677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3845687" y="516779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않음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940613" y="5472342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1249985" y="547234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물건의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967738" y="547234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2034794" y="547234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밀거나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2752598" y="547234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2821559" y="547234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당기는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3539363" y="547234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3607943" y="547234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방법의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4325747" y="547234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1242365" y="577772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잘못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940613" y="6082528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1249985" y="6082528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오르거나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2207006" y="60825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2274062" y="6082528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내려가는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3231515" y="60825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3298571" y="608252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방법의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4016375" y="60825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4083431" y="608252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잘못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4749038" y="4253398"/>
            <a:ext cx="46597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44" dirty="0">
                <a:solidFill>
                  <a:srgbClr val="9C3B00"/>
                </a:solidFill>
                <a:latin typeface="나눔고딕 2"/>
                <a:cs typeface="나눔고딕 2"/>
              </a:rPr>
              <a:t>12. 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5204714" y="425339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기타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5683250" y="42533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5751830" y="4253398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및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5991098" y="42533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6061583" y="425339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6540119" y="42533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6610223" y="425339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9C3B00"/>
                </a:solidFill>
                <a:latin typeface="나눔고딕"/>
                <a:cs typeface="나눔고딕"/>
              </a:rPr>
              <a:t>불능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4892294" y="4558198"/>
            <a:ext cx="3167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000000"/>
                </a:solidFill>
                <a:latin typeface="나눔고딕"/>
                <a:cs typeface="나눔고딕"/>
              </a:rPr>
              <a:t>• 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5201666" y="455819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기타의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5919470" y="45581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5986526" y="4558198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6943979" y="45581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7011035" y="455819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4892294" y="4862998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•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5201666" y="486299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분류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5680202" y="48629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5748782" y="486299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불능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2776728" y="1180379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‹불안전한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3971544" y="118037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4038600" y="118037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행동의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4756658" y="118037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4825238" y="1180379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분류항목›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8185658" y="1393545"/>
            <a:ext cx="370537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spc="86" dirty="0">
                <a:solidFill>
                  <a:srgbClr val="000000"/>
                </a:solidFill>
                <a:latin typeface="나눔고딕 2"/>
                <a:cs typeface="나눔고딕 2"/>
              </a:rPr>
              <a:t>3/3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440741" y="103886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안전을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1763522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1847342" y="103886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둘러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2420747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2504567" y="103886"/>
            <a:ext cx="29224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싼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2791079" y="103886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2876423" y="103886"/>
            <a:ext cx="58448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4014</Words>
  <Application>Microsoft Office PowerPoint</Application>
  <PresentationFormat>화면 슬라이드 쇼(4:3)</PresentationFormat>
  <Paragraphs>3603</Paragraphs>
  <Slides>27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맑은 고딕 2</vt:lpstr>
      <vt:lpstr>Calibri</vt:lpstr>
      <vt:lpstr>Wingdings</vt:lpstr>
      <vt:lpstr>나눔고딕</vt:lpstr>
      <vt:lpstr>맑은 고딕</vt:lpstr>
      <vt:lpstr>나눔고딕 2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17</cp:revision>
  <dcterms:modified xsi:type="dcterms:W3CDTF">2026-09-21T01:41:02Z</dcterms:modified>
</cp:coreProperties>
</file>