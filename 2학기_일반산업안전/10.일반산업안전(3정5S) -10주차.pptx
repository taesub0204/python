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88" r:id="rId5"/>
    <p:sldId id="290" r:id="rId6"/>
    <p:sldId id="291" r:id="rId7"/>
    <p:sldId id="29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6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70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32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00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29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06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15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1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35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7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47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AE9C4-9C42-4BC1-AC93-227994A3F18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6A87-FDFA-4E06-BB85-72CCD1413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75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56952" y="1534255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b="1" i="1" dirty="0" smtClean="0"/>
              <a:t>일반산업안전</a:t>
            </a:r>
            <a:r>
              <a:rPr lang="en-US" altLang="ko-KR" b="1" i="1" dirty="0" smtClean="0"/>
              <a:t/>
            </a:r>
            <a:br>
              <a:rPr lang="en-US" altLang="ko-KR" b="1" i="1" dirty="0" smtClean="0"/>
            </a:br>
            <a:r>
              <a:rPr lang="en-US" altLang="ko-KR" sz="3600" b="1" dirty="0" smtClean="0"/>
              <a:t>- 10</a:t>
            </a:r>
            <a:r>
              <a:rPr lang="ko-KR" altLang="en-US" sz="3600" b="1" dirty="0" smtClean="0"/>
              <a:t>주차 </a:t>
            </a:r>
            <a:r>
              <a:rPr lang="en-US" altLang="ko-KR" sz="3600" b="1" dirty="0" smtClean="0"/>
              <a:t>–</a:t>
            </a:r>
            <a:br>
              <a:rPr lang="en-US" altLang="ko-KR" sz="3600" b="1" dirty="0" smtClean="0"/>
            </a:br>
            <a:endParaRPr lang="ko-KR" altLang="en-US" sz="3600" b="1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33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239908" y="2741826"/>
            <a:ext cx="278954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/>
            <a:r>
              <a:rPr lang="en-US" altLang="ko-KR" sz="6600" b="1" i="1" kern="100" dirty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</a:rPr>
              <a:t>3</a:t>
            </a:r>
            <a:r>
              <a:rPr lang="ko-KR" altLang="en-US" sz="6600" b="1" i="1" kern="100" dirty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</a:rPr>
              <a:t>정 </a:t>
            </a:r>
            <a:r>
              <a:rPr lang="en-US" altLang="ko-KR" sz="6600" b="1" i="1" kern="100" dirty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</a:rPr>
              <a:t>5S</a:t>
            </a:r>
            <a:endParaRPr lang="en-US" altLang="ko-KR" sz="6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164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64973" y="-2059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160955112" descr="EMB0000544c256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912" y="1275127"/>
            <a:ext cx="3038838" cy="10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487646" y="2757265"/>
            <a:ext cx="8906313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무언가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 위해서 시간을 소비한 적이 있습니까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공구를 찾거나 반납하는 것을 도와준 적이 있습니까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문서를 찾느라 어려움을 겪은 적은 없습니까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작업장에서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제품이나 재료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 등을 잃어버린 적은 없습니까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자신이 수행하는 공정을 다른 동료는 어떤 방식으로 수행하고 있었는지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궁금해한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적은 없습니까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목표와 실제 성과 간에 왜 차이가 발생하는지 궁금해 한 적은 없습니까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업무상 우선순위에 대해 궁금해 한 적은 없습니까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등등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바탕" panose="02030600000101010101" pitchFamily="18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102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89785" y="278188"/>
            <a:ext cx="7580904" cy="654537"/>
            <a:chOff x="936264" y="233906"/>
            <a:chExt cx="6266704" cy="654537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36264" y="233906"/>
              <a:ext cx="219941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♣ </a:t>
              </a:r>
              <a:r>
                <a:rPr kumimoji="0" lang="en-US" altLang="ko-KR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kumimoji="0" lang="ko-KR" altLang="en-US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 </a:t>
              </a:r>
              <a:r>
                <a:rPr kumimoji="0" lang="en-US" altLang="ko-KR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5S </a:t>
              </a:r>
              <a:r>
                <a:rPr kumimoji="0" lang="ko-KR" altLang="en-US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왜 하는가</a:t>
              </a:r>
              <a:r>
                <a:rPr kumimoji="0" lang="en-US" altLang="ko-KR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? </a:t>
              </a:r>
              <a:endPara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052" name="_x156211920" descr="EMB0000544c256c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6275" y="435732"/>
              <a:ext cx="320693" cy="229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478257" y="242112"/>
              <a:ext cx="3724711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b="1" i="0" u="none" strike="noStrike" cap="none" normalizeH="0" baseline="0" dirty="0" smtClean="0">
                  <a:ln>
                    <a:noFill/>
                  </a:ln>
                  <a:solidFill>
                    <a:srgbClr val="FF3300"/>
                  </a:solidFill>
                  <a:effectLst/>
                  <a:latin typeface="바탕" panose="02030600000101010101" pitchFamily="18" charset="-127"/>
                  <a:ea typeface="맑은 고딕" panose="020B0503020000020004" pitchFamily="50" charset="-127"/>
                </a:rPr>
                <a:t>낭비제거</a:t>
              </a:r>
              <a:r>
                <a:rPr kumimoji="0" lang="en-US" altLang="ko-KR" b="1" i="0" u="none" strike="noStrike" cap="none" normalizeH="0" baseline="0" dirty="0" smtClean="0">
                  <a:ln>
                    <a:noFill/>
                  </a:ln>
                  <a:solidFill>
                    <a:srgbClr val="FF33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kumimoji="0" lang="ko-KR" altLang="en-US" b="1" i="0" u="none" strike="noStrike" cap="none" normalizeH="0" baseline="0" dirty="0" smtClean="0">
                  <a:ln>
                    <a:noFill/>
                  </a:ln>
                  <a:solidFill>
                    <a:srgbClr val="FF3300"/>
                  </a:solidFill>
                  <a:effectLst/>
                  <a:latin typeface="바탕" panose="02030600000101010101" pitchFamily="18" charset="-127"/>
                  <a:ea typeface="맑은 고딕" panose="020B0503020000020004" pitchFamily="50" charset="-127"/>
                </a:rPr>
                <a:t>깨끗한 환경</a:t>
              </a:r>
              <a:r>
                <a:rPr kumimoji="0" lang="en-US" altLang="ko-KR" b="1" i="0" u="none" strike="noStrike" cap="none" normalizeH="0" baseline="0" dirty="0" smtClean="0">
                  <a:ln>
                    <a:noFill/>
                  </a:ln>
                  <a:solidFill>
                    <a:srgbClr val="FF33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kumimoji="0" lang="ko-KR" altLang="en-US" b="1" i="0" u="none" strike="noStrike" cap="none" normalizeH="0" baseline="0" dirty="0" smtClean="0">
                  <a:ln>
                    <a:noFill/>
                  </a:ln>
                  <a:solidFill>
                    <a:srgbClr val="FF3300"/>
                  </a:solidFill>
                  <a:effectLst/>
                  <a:latin typeface="바탕" panose="02030600000101010101" pitchFamily="18" charset="-127"/>
                  <a:ea typeface="맑은 고딕" panose="020B0503020000020004" pitchFamily="50" charset="-127"/>
                </a:rPr>
                <a:t>보람 있는 생활</a:t>
              </a:r>
              <a:endPara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4" name="Rectangle 32"/>
          <p:cNvSpPr>
            <a:spLocks noChangeArrowheads="1"/>
          </p:cNvSpPr>
          <p:nvPr/>
        </p:nvSpPr>
        <p:spPr bwMode="auto">
          <a:xfrm>
            <a:off x="0" y="-1565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56129" y="2249562"/>
            <a:ext cx="6965835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맑은 고딕" panose="020B0503020000020004" pitchFamily="50" charset="-127"/>
              </a:rPr>
              <a:t>2. 5S</a:t>
            </a:r>
            <a:r>
              <a:rPr lang="en-US" altLang="ko-KR" sz="1400" b="1" kern="100" dirty="0" smtClean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맑은 고딕" panose="020B0503020000020004" pitchFamily="50" charset="-127"/>
              </a:rPr>
              <a:t>....?   </a:t>
            </a: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정리   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</a:rPr>
              <a:t>2)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정돈 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바탕" panose="02030600000101010101" pitchFamily="18" charset="-127"/>
              </a:rPr>
              <a:t> 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</a:rPr>
              <a:t>3)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</a:rPr>
              <a:t>청소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400" b="1" dirty="0" smtClean="0"/>
              <a:t>4</a:t>
            </a:r>
            <a:r>
              <a:rPr lang="en-US" altLang="ko-KR" sz="1400" b="1" dirty="0"/>
              <a:t>) </a:t>
            </a:r>
            <a:r>
              <a:rPr lang="ko-KR" altLang="en-US" sz="1400" b="1" dirty="0" smtClean="0"/>
              <a:t>청결     </a:t>
            </a:r>
            <a:r>
              <a:rPr lang="en-US" altLang="ko-KR" sz="1400" b="1" dirty="0"/>
              <a:t>5) </a:t>
            </a:r>
            <a:r>
              <a:rPr lang="ko-KR" altLang="en-US" sz="1400" b="1" dirty="0"/>
              <a:t>습관화 </a:t>
            </a:r>
            <a:endParaRPr lang="ko-KR" altLang="en-US" sz="1400" kern="0" dirty="0">
              <a:solidFill>
                <a:srgbClr val="000000"/>
              </a:solidFill>
              <a:latin typeface="+mj-lt"/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생산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활동을 명랑하고 쾌적한 분위기로 조성하기 위한 기본 활동이며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ko-KR" altLang="en-US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개선의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기초단계로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"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기업 현장의 숨쉬기 운동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"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이다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수준 높은 회사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=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정리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+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정돈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+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청소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+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질서유지 잘되어 있음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200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여유 있는 회사에서 하는 것이 아니라 여유 있는 회사가 되기 위한 수단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.</a:t>
            </a:r>
            <a:endParaRPr lang="ko-KR" altLang="en-US" sz="1200" kern="0" spc="0" dirty="0">
              <a:solidFill>
                <a:srgbClr val="000000"/>
              </a:solidFill>
              <a:effectLst/>
              <a:ea typeface="맑은 고딕" panose="020B0503020000020004" pitchFamily="50" charset="-127"/>
            </a:endParaRP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0" y="-2385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31" name="그룹 30"/>
          <p:cNvGrpSpPr/>
          <p:nvPr/>
        </p:nvGrpSpPr>
        <p:grpSpPr>
          <a:xfrm>
            <a:off x="1056130" y="910734"/>
            <a:ext cx="8632999" cy="1338828"/>
            <a:chOff x="1056130" y="910734"/>
            <a:chExt cx="8632999" cy="1338828"/>
          </a:xfrm>
        </p:grpSpPr>
        <p:sp>
          <p:nvSpPr>
            <p:cNvPr id="17" name="직사각형 16"/>
            <p:cNvSpPr/>
            <p:nvPr/>
          </p:nvSpPr>
          <p:spPr>
            <a:xfrm>
              <a:off x="1056130" y="910734"/>
              <a:ext cx="8632999" cy="13388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 fontAlgn="base">
                <a:lnSpc>
                  <a:spcPct val="150000"/>
                </a:lnSpc>
                <a:buAutoNum type="arabicPeriod"/>
              </a:pPr>
              <a:r>
                <a:rPr lang="en-US" altLang="ko-KR" sz="1400" b="1" kern="100" dirty="0" smtClean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3</a:t>
              </a:r>
              <a:r>
                <a:rPr lang="ko-KR" altLang="en-US" sz="14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정</a:t>
              </a:r>
              <a:r>
                <a:rPr lang="en-US" altLang="ko-KR" sz="14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(</a:t>
              </a:r>
              <a:r>
                <a:rPr lang="ko-KR" altLang="en-US" sz="14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定</a:t>
              </a:r>
              <a:r>
                <a:rPr lang="en-US" altLang="ko-KR" sz="1400" b="1" kern="100" dirty="0" smtClean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)</a:t>
              </a:r>
            </a:p>
            <a:p>
              <a:pPr algn="just" fontAlgn="base">
                <a:lnSpc>
                  <a:spcPct val="150000"/>
                </a:lnSpc>
              </a:pPr>
              <a:r>
                <a:rPr lang="en-US" altLang="ko-KR" sz="1400" b="1" dirty="0" smtClean="0">
                  <a:latin typeface="+mj-lt"/>
                </a:rPr>
                <a:t>   </a:t>
              </a:r>
              <a:r>
                <a:rPr lang="en-US" altLang="ko-KR" sz="1200" b="1" dirty="0" smtClean="0">
                  <a:latin typeface="+mj-lt"/>
                  <a:ea typeface="맑은 고딕" panose="020B0503020000020004" pitchFamily="50" charset="-127"/>
                </a:rPr>
                <a:t>1</a:t>
              </a:r>
              <a:r>
                <a:rPr lang="en-US" altLang="ko-KR" sz="1200" b="1" dirty="0">
                  <a:latin typeface="+mj-lt"/>
                  <a:ea typeface="맑은 고딕" panose="020B0503020000020004" pitchFamily="50" charset="-127"/>
                </a:rPr>
                <a:t>) </a:t>
              </a:r>
              <a:r>
                <a:rPr lang="ko-KR" altLang="en-US" sz="1200" b="1" dirty="0">
                  <a:latin typeface="+mj-lt"/>
                  <a:ea typeface="맑은 고딕" panose="020B0503020000020004" pitchFamily="50" charset="-127"/>
                </a:rPr>
                <a:t>정 품</a:t>
              </a:r>
              <a:r>
                <a:rPr lang="en-US" altLang="ko-KR" sz="1200" b="1" dirty="0">
                  <a:latin typeface="+mj-lt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dirty="0">
                  <a:latin typeface="+mj-lt"/>
                  <a:ea typeface="맑은 고딕" panose="020B0503020000020004" pitchFamily="50" charset="-127"/>
                </a:rPr>
                <a:t>定品</a:t>
              </a:r>
              <a:r>
                <a:rPr lang="en-US" altLang="ko-KR" sz="1200" b="1" dirty="0">
                  <a:latin typeface="+mj-lt"/>
                  <a:ea typeface="맑은 고딕" panose="020B0503020000020004" pitchFamily="50" charset="-127"/>
                </a:rPr>
                <a:t>) : </a:t>
              </a:r>
              <a:r>
                <a:rPr lang="ko-KR" altLang="en-US" sz="1200" b="1" dirty="0">
                  <a:latin typeface="+mj-lt"/>
                  <a:ea typeface="맑은 고딕" panose="020B0503020000020004" pitchFamily="50" charset="-127"/>
                </a:rPr>
                <a:t>정해진</a:t>
              </a:r>
              <a:r>
                <a:rPr lang="en-US" altLang="ko-KR" sz="1200" b="1" dirty="0">
                  <a:latin typeface="+mj-lt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atin typeface="+mj-lt"/>
                  <a:ea typeface="맑은 고딕" panose="020B0503020000020004" pitchFamily="50" charset="-127"/>
                </a:rPr>
                <a:t>필요한 </a:t>
              </a:r>
              <a:r>
                <a:rPr lang="ko-KR" altLang="en-US" sz="1200" b="1" dirty="0" smtClean="0">
                  <a:latin typeface="+mj-lt"/>
                  <a:ea typeface="맑은 고딕" panose="020B0503020000020004" pitchFamily="50" charset="-127"/>
                </a:rPr>
                <a:t>물건을               </a:t>
              </a:r>
              <a:r>
                <a:rPr lang="ko-KR" altLang="en-US" sz="1200" b="1" kern="100" dirty="0" smtClean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품질향상</a:t>
              </a:r>
              <a:endParaRPr lang="ko-KR" altLang="en-US" sz="12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200" b="1" dirty="0" smtClean="0">
                  <a:latin typeface="+mj-lt"/>
                  <a:ea typeface="맑은 고딕" panose="020B0503020000020004" pitchFamily="50" charset="-127"/>
                </a:rPr>
                <a:t>   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2) </a:t>
              </a:r>
              <a:r>
                <a:rPr lang="ko-KR" altLang="en-US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정 량</a:t>
              </a:r>
              <a:r>
                <a:rPr lang="en-US" altLang="ko-KR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(</a:t>
              </a:r>
              <a:r>
                <a:rPr lang="ko-KR" altLang="en-US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定量</a:t>
              </a:r>
              <a:r>
                <a:rPr lang="en-US" altLang="ko-KR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) : </a:t>
              </a:r>
              <a:r>
                <a:rPr lang="ko-KR" altLang="en-US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정해진</a:t>
              </a:r>
              <a:r>
                <a:rPr lang="en-US" altLang="ko-KR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, </a:t>
              </a:r>
              <a:r>
                <a:rPr lang="ko-KR" altLang="en-US" sz="1200" b="1" kern="100" dirty="0">
                  <a:solidFill>
                    <a:srgbClr val="000000"/>
                  </a:solidFill>
                  <a:ea typeface="맑은 고딕" panose="020B0503020000020004" pitchFamily="50" charset="-127"/>
                </a:rPr>
                <a:t>필요한 만큼만  </a:t>
              </a:r>
              <a:r>
                <a:rPr lang="ko-KR" altLang="en-US" sz="1200" b="1" kern="100" dirty="0" smtClean="0">
                  <a:solidFill>
                    <a:srgbClr val="000000"/>
                  </a:solidFill>
                  <a:ea typeface="맑은 고딕" panose="020B0503020000020004" pitchFamily="50" charset="-127"/>
                </a:rPr>
                <a:t>             </a:t>
              </a:r>
              <a:r>
                <a:rPr lang="ko-KR" altLang="en-US" sz="1200" b="1" dirty="0" smtClean="0">
                  <a:latin typeface="+mj-lt"/>
                  <a:ea typeface="맑은 고딕" panose="020B0503020000020004" pitchFamily="50" charset="-127"/>
                </a:rPr>
                <a:t>원가절감</a:t>
              </a:r>
              <a:endParaRPr lang="ko-KR" altLang="en-US" sz="1200" b="1" dirty="0">
                <a:latin typeface="+mj-lt"/>
                <a:ea typeface="맑은 고딕" panose="020B0503020000020004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en-US" altLang="ko-KR" sz="1200" b="1" kern="100" dirty="0" smtClean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   3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) </a:t>
              </a:r>
              <a:r>
                <a:rPr lang="ko-KR" altLang="en-US" sz="1200" b="1" kern="100" dirty="0" err="1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정위치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kern="100" dirty="0" err="1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定位置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) :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정해진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필요한 </a:t>
              </a:r>
              <a:r>
                <a:rPr lang="ko-KR" altLang="en-US" sz="1200" b="1" kern="100" dirty="0" smtClean="0">
                  <a:solidFill>
                    <a:srgbClr val="000000"/>
                  </a:solidFill>
                  <a:latin typeface="+mj-lt"/>
                  <a:ea typeface="맑은 고딕" panose="020B0503020000020004" pitchFamily="50" charset="-127"/>
                </a:rPr>
                <a:t>장소에          </a:t>
              </a:r>
              <a:r>
                <a:rPr lang="ko-KR" altLang="en-US" sz="1200" b="1" dirty="0" smtClean="0">
                  <a:latin typeface="+mj-lt"/>
                  <a:ea typeface="맑은 고딕" panose="020B0503020000020004" pitchFamily="50" charset="-127"/>
                </a:rPr>
                <a:t>생산성향상</a:t>
              </a:r>
              <a:endParaRPr lang="ko-KR" altLang="en-US" sz="1200" b="1" kern="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endParaRPr>
            </a:p>
          </p:txBody>
        </p:sp>
        <p:pic>
          <p:nvPicPr>
            <p:cNvPr id="2082" name="_x205886616" descr="EMB0000544c259c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1209" y="1406460"/>
              <a:ext cx="477838" cy="166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_x205886616" descr="EMB0000544c259c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0657" y="1691209"/>
              <a:ext cx="477838" cy="166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_x205886616" descr="EMB0000544c259c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9536" y="1977621"/>
              <a:ext cx="477838" cy="166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그룹 31"/>
          <p:cNvGrpSpPr/>
          <p:nvPr/>
        </p:nvGrpSpPr>
        <p:grpSpPr>
          <a:xfrm>
            <a:off x="1056129" y="3780077"/>
            <a:ext cx="10651524" cy="2308324"/>
            <a:chOff x="1056129" y="3780077"/>
            <a:chExt cx="10651524" cy="2308324"/>
          </a:xfrm>
        </p:grpSpPr>
        <p:sp>
          <p:nvSpPr>
            <p:cNvPr id="47" name="직사각형 46"/>
            <p:cNvSpPr/>
            <p:nvPr/>
          </p:nvSpPr>
          <p:spPr>
            <a:xfrm>
              <a:off x="1056129" y="3780077"/>
              <a:ext cx="10651524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1)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정리 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필요한 것과 불필요한 것을 구분하여 불필요한 것을 과감히 버리는 것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200" b="1" kern="100" dirty="0">
                <a:solidFill>
                  <a:srgbClr val="000000"/>
                </a:solidFill>
                <a:latin typeface="바탕" panose="02030600000101010101" pitchFamily="18" charset="-127"/>
                <a:ea typeface="맑은 고딕" panose="020B0503020000020004" pitchFamily="50" charset="-127"/>
              </a:endParaRPr>
            </a:p>
            <a:p>
              <a:pPr fontAlgn="base" latinLnBrk="0">
                <a:lnSpc>
                  <a:spcPct val="150000"/>
                </a:lnSpc>
              </a:pPr>
              <a:r>
                <a:rPr lang="ko-KR" altLang="en-US" sz="1200" b="1" kern="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▶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정렬 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어지럽게 널려있는 것을 가지런하게 하는 것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200" kern="0" dirty="0">
                <a:solidFill>
                  <a:srgbClr val="000000"/>
                </a:solidFill>
                <a:latin typeface="바탕" panose="02030600000101010101" pitchFamily="18" charset="-127"/>
                <a:ea typeface="맑은 고딕" panose="020B0503020000020004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2)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정돈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바탕" panose="02030600000101010101" pitchFamily="18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필요한 것을 편리하게 누구라도 언제든지 쉽게 사용할 수 있도록 하는 것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200" kern="0" dirty="0">
                <a:solidFill>
                  <a:srgbClr val="000000"/>
                </a:solidFill>
                <a:latin typeface="바탕" panose="02030600000101010101" pitchFamily="18" charset="-127"/>
                <a:ea typeface="맑은 고딕" panose="020B0503020000020004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200" b="1" kern="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▶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진열 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물건 두는 방법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 3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定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 위치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 용기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정량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endParaRPr lang="ko-KR" altLang="en-US" sz="1200" kern="0" dirty="0">
                <a:solidFill>
                  <a:srgbClr val="000000"/>
                </a:solidFill>
                <a:latin typeface="바탕" panose="02030600000101010101" pitchFamily="18" charset="-127"/>
                <a:ea typeface="맑은 고딕" panose="020B0503020000020004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3)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청소 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녹</a:t>
              </a:r>
              <a:r>
                <a:rPr lang="en-US" altLang="ko-KR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먼지 더러움을 없애는 것으로 눈으로 보거나 만져 봐도 항상 </a:t>
              </a:r>
              <a:r>
                <a:rPr lang="ko-KR" altLang="en-US" sz="1200" b="1" kern="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깨끗하게 하는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것 </a:t>
              </a:r>
              <a:endParaRPr lang="ko-KR" altLang="en-US" sz="1200" kern="0" dirty="0">
                <a:solidFill>
                  <a:srgbClr val="000000"/>
                </a:solidFill>
                <a:latin typeface="바탕" panose="02030600000101010101" pitchFamily="18" charset="-127"/>
                <a:ea typeface="맑은 고딕" panose="020B0503020000020004" pitchFamily="50" charset="-127"/>
              </a:endParaRPr>
            </a:p>
            <a:p>
              <a:pPr fontAlgn="base" latinLnBrk="0">
                <a:lnSpc>
                  <a:spcPct val="150000"/>
                </a:lnSpc>
              </a:pPr>
              <a:r>
                <a:rPr lang="ko-KR" altLang="en-US" sz="1200" b="1" kern="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▶ </a:t>
              </a:r>
              <a:r>
                <a:rPr lang="ko-KR" altLang="en-US" sz="12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청소는 점검의 </a:t>
              </a:r>
              <a:r>
                <a:rPr lang="ko-KR" altLang="en-US" sz="1200" b="1" kern="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일종</a:t>
              </a:r>
              <a:endParaRPr lang="en-US" altLang="ko-KR" sz="12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base" latinLnBrk="0">
                <a:lnSpc>
                  <a:spcPct val="150000"/>
                </a:lnSpc>
              </a:pPr>
              <a:r>
                <a:rPr lang="en-US" altLang="ko-KR" sz="1200" b="1" dirty="0">
                  <a:ea typeface="맑은 고딕" panose="020B0503020000020004" pitchFamily="50" charset="-127"/>
                </a:rPr>
                <a:t>4) 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청결 </a:t>
              </a:r>
              <a:r>
                <a:rPr lang="en-US" altLang="ko-KR" sz="1200" b="1" dirty="0"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정리</a:t>
              </a:r>
              <a:r>
                <a:rPr lang="en-US" altLang="ko-KR" sz="1200" b="1" dirty="0">
                  <a:ea typeface="맑은 고딕" panose="020B0503020000020004" pitchFamily="50" charset="-127"/>
                </a:rPr>
                <a:t>,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정돈</a:t>
              </a:r>
              <a:r>
                <a:rPr lang="en-US" altLang="ko-KR" sz="1200" b="1" dirty="0">
                  <a:ea typeface="맑은 고딕" panose="020B0503020000020004" pitchFamily="50" charset="-127"/>
                </a:rPr>
                <a:t>,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청소활동 </a:t>
              </a:r>
              <a:r>
                <a:rPr lang="ko-KR" altLang="en-US" sz="1200" b="1" dirty="0" smtClean="0">
                  <a:ea typeface="맑은 고딕" panose="020B0503020000020004" pitchFamily="50" charset="-127"/>
                </a:rPr>
                <a:t>표준화           깨끗한 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상태유지</a:t>
              </a:r>
              <a:endParaRPr lang="ko-KR" altLang="en-US" sz="1200" dirty="0">
                <a:ea typeface="맑은 고딕" panose="020B0503020000020004" pitchFamily="50" charset="-127"/>
              </a:endParaRPr>
            </a:p>
            <a:p>
              <a:pPr fontAlgn="base" latinLnBrk="0">
                <a:lnSpc>
                  <a:spcPct val="150000"/>
                </a:lnSpc>
              </a:pPr>
              <a:r>
                <a:rPr lang="en-US" altLang="ko-KR" sz="1200" b="1" dirty="0">
                  <a:ea typeface="맑은 고딕" panose="020B0503020000020004" pitchFamily="50" charset="-127"/>
                </a:rPr>
                <a:t>5) 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습관화 </a:t>
              </a:r>
              <a:r>
                <a:rPr lang="en-US" altLang="ko-KR" sz="1200" b="1" dirty="0"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ea typeface="맑은 고딕" panose="020B0503020000020004" pitchFamily="50" charset="-127"/>
                </a:rPr>
                <a:t>위의 정해진 것을 자주적으로 올바르게 지키고 습관을 생활화하는 것</a:t>
              </a:r>
              <a:r>
                <a:rPr lang="en-US" altLang="ko-KR" sz="1200" b="1" dirty="0" smtClean="0">
                  <a:ea typeface="맑은 고딕" panose="020B0503020000020004" pitchFamily="50" charset="-127"/>
                </a:rPr>
                <a:t>.</a:t>
              </a:r>
              <a:endParaRPr lang="ko-KR" altLang="en-US" sz="1200" dirty="0">
                <a:ea typeface="맑은 고딕" panose="020B0503020000020004" pitchFamily="50" charset="-127"/>
              </a:endParaRPr>
            </a:p>
          </p:txBody>
        </p:sp>
        <p:pic>
          <p:nvPicPr>
            <p:cNvPr id="49" name="_x159364936" descr="EMB0000544c259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53" y="5562270"/>
              <a:ext cx="477838" cy="166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3383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49203" y="836891"/>
            <a:ext cx="8973424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3. 5S </a:t>
            </a:r>
            <a:r>
              <a:rPr lang="ko-KR" altLang="en-US" sz="14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활동 대상</a:t>
            </a:r>
            <a:endParaRPr lang="ko-KR" altLang="en-US" sz="14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1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사무부문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사무실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회의 탁자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통로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회의실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청소용구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창문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벽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천정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조명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탈의실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화장실 등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사무기기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책상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책상서랍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의자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전화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캐비닛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시계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휴지통 등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서류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FILE,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규정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각종양식 등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200" b="1" kern="100" dirty="0" smtClean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2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현장부문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현장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작업대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통로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책상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캐비닛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조명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창문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입구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벽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기둥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청소용구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화장실 등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설치장비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공구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) : </a:t>
            </a:r>
            <a:r>
              <a:rPr lang="ko-KR" altLang="en-US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망치</a:t>
            </a: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 err="1" smtClean="0">
                <a:solidFill>
                  <a:srgbClr val="000000"/>
                </a:solidFill>
                <a:ea typeface="맑은 고딕" panose="020B0503020000020004" pitchFamily="50" charset="-127"/>
              </a:rPr>
              <a:t>테스터기</a:t>
            </a: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드라이버</a:t>
            </a: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</a:p>
          <a:p>
            <a:pPr algn="just" fontAlgn="base">
              <a:lnSpc>
                <a:spcPct val="150000"/>
              </a:lnSpc>
            </a:pPr>
            <a:endParaRPr lang="en-US" altLang="ko-KR" sz="1200" b="1" kern="100" dirty="0" smtClean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3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일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태도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부문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에티켓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규정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규칙준수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인사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복장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행선지 표시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전화응대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자판기이용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서류작성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방문객 안내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기타 회사규정 등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안전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작업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표준준수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안전수칙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작업표준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작업지도서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흡연 장소 준수 등</a:t>
            </a:r>
            <a:endParaRPr lang="ko-KR" altLang="en-US" sz="1200" kern="0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200" b="1" kern="100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   •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시간준수 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출근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퇴근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회의시간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휴식시간</a:t>
            </a:r>
            <a:r>
              <a:rPr lang="en-US" altLang="ko-KR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200" b="1" kern="100" dirty="0">
                <a:solidFill>
                  <a:srgbClr val="000000"/>
                </a:solidFill>
                <a:ea typeface="맑은 고딕" panose="020B0503020000020004" pitchFamily="50" charset="-127"/>
              </a:rPr>
              <a:t>근무시간</a:t>
            </a:r>
            <a:endParaRPr lang="ko-KR" altLang="en-US" sz="1200" kern="0" spc="0" dirty="0">
              <a:solidFill>
                <a:srgbClr val="000000"/>
              </a:solidFill>
              <a:effectLst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092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189991" y="459944"/>
            <a:ext cx="2576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/>
            <a:r>
              <a:rPr lang="ko-KR" altLang="en-US" sz="2400" b="1" i="1" kern="100" dirty="0" err="1" smtClean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</a:rPr>
              <a:t>낭</a:t>
            </a:r>
            <a:r>
              <a:rPr lang="ko-KR" altLang="en-US" sz="2400" b="1" i="1" kern="100" dirty="0" smtClean="0">
                <a:solidFill>
                  <a:srgbClr val="0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</a:rPr>
              <a:t> 비 개 선 활 동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66703" y="1094603"/>
            <a:ext cx="101520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낭비의 정의 </a:t>
            </a:r>
            <a:endParaRPr lang="ko-KR" altLang="en-US" sz="16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생산활동에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있어서 제품에 부가가치를 발생시키지 않는 모든 행위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ko-KR" altLang="en-US" sz="1400" b="1" kern="1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낭비 </a:t>
            </a:r>
            <a:r>
              <a:rPr lang="en-US" altLang="ko-KR" sz="1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움직임 </a:t>
            </a:r>
            <a:r>
              <a:rPr lang="en-US" altLang="ko-KR" sz="1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비효율적인 “일”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‘일’ 이란 제품에 부가가치를 창출하는 행위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‘움직임’ 이란 제품에 부가가치를 창출시키지 않는 행위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바탕" panose="02030600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66703" y="2939546"/>
            <a:ext cx="9242854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50000"/>
              </a:lnSpc>
            </a:pP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낭비 발생원인 </a:t>
            </a: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불일치</a:t>
            </a: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불균형</a:t>
            </a: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불합리</a:t>
            </a:r>
            <a:endParaRPr lang="ko-KR" altLang="en-US" sz="16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1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표준과 실제 차이의 불일치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변칙 작업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 작업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Rule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준수     예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00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공구가 어디 있지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못 찾겠다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그냥 다른 걸로 해야지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...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2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제품생산의 불균형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수량의 불균형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 과다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비효율적 인력 배치 등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3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비합리적인 방법의 불합리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20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작업불편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곤란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자재 과잉공급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자재위치 불합리 등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바탕" panose="02030600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66703" y="5383129"/>
            <a:ext cx="630194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50000"/>
              </a:lnSpc>
            </a:pPr>
            <a:r>
              <a:rPr lang="en-US" altLang="ko-KR" sz="16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낭비제거를 위한 기본의식</a:t>
            </a:r>
            <a:endParaRPr lang="ko-KR" altLang="en-US" sz="16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현장에 잠재되어 있는 낭비요소가 어디에서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얼마나 어떻게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발생되고</a:t>
            </a: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342900" indent="-342900" fontAlgn="base" latinLnBrk="0">
              <a:lnSpc>
                <a:spcPct val="150000"/>
              </a:lnSpc>
            </a:pP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발생될 수밖에 없는가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인식할 줄 알아야 한다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바탕" panose="02030600000101010101" pitchFamily="18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0303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88540" y="635894"/>
            <a:ext cx="10066639" cy="5131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50000"/>
              </a:lnSpc>
            </a:pP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공정의 </a:t>
            </a:r>
            <a:r>
              <a:rPr lang="en-US" altLang="ko-KR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6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낭비</a:t>
            </a:r>
            <a:endParaRPr lang="ko-KR" altLang="en-US" sz="16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1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과잉생산의 낭비 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시장에서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필요로 하는 수량보다 많이 생산하여 발생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2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재고의 낭비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재고를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가짐으로써 공장의 여러 가지 문제를 회피하고자 하는 의식에서 발생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5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3)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동작의 낭비 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190500" indent="-190500" fontAlgn="base" latinLnBrk="0">
              <a:lnSpc>
                <a:spcPct val="160000"/>
              </a:lnSpc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단순히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신체를 움직이는 것으로 부가가치를 발생시키지 못하는 행위를 말하는 것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4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가공 그 자체의 낭비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기술력에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부족에 의한 낭비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5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불량을 만드는 낭비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불량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불감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不感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의한 낭비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재료의 불량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가공의 불량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검사의 불량 등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6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운반의 낭비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marL="190500" indent="-190500" fontAlgn="base" latinLnBrk="0">
              <a:lnSpc>
                <a:spcPct val="160000"/>
              </a:lnSpc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불합리한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물류와 전후 공정 간 생산 능력이 불균형에 의하여 낭비 발생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7</a:t>
            </a:r>
            <a:r>
              <a:rPr lang="en-US" altLang="ko-KR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대기의 낭비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재료나 </a:t>
            </a:r>
            <a:r>
              <a:rPr lang="ko-KR" altLang="en-US" sz="1400" b="1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작업의 기다림 또는 여유 시간으로 인해 </a:t>
            </a:r>
            <a:r>
              <a:rPr lang="ko-KR" altLang="en-US" sz="1400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  <a:endParaRPr lang="ko-KR" altLang="en-US" sz="1400" kern="0" dirty="0">
              <a:solidFill>
                <a:srgbClr val="000000"/>
              </a:solidFill>
              <a:latin typeface="바탕" panose="02030600000101010101" pitchFamily="18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050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/>
          <p:cNvSpPr txBox="1"/>
          <p:nvPr/>
        </p:nvSpPr>
        <p:spPr>
          <a:xfrm>
            <a:off x="2030983" y="1837435"/>
            <a:ext cx="830834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800" b="1" i="1" dirty="0">
                <a:latin typeface="맑은 고딕"/>
                <a:cs typeface="맑은 고딕"/>
              </a:rPr>
              <a:t>이번</a:t>
            </a:r>
            <a:r>
              <a:rPr sz="4800" b="1" i="1" spc="-30" dirty="0">
                <a:latin typeface="맑은 고딕"/>
                <a:cs typeface="맑은 고딕"/>
              </a:rPr>
              <a:t> </a:t>
            </a:r>
            <a:r>
              <a:rPr sz="4800" b="1" i="1" dirty="0">
                <a:latin typeface="맑은 고딕"/>
                <a:cs typeface="맑은 고딕"/>
              </a:rPr>
              <a:t>주</a:t>
            </a:r>
            <a:r>
              <a:rPr sz="4800" b="1" i="1" spc="-45" dirty="0">
                <a:latin typeface="맑은 고딕"/>
                <a:cs typeface="맑은 고딕"/>
              </a:rPr>
              <a:t> </a:t>
            </a:r>
            <a:r>
              <a:rPr sz="4800" b="1" i="1" dirty="0">
                <a:latin typeface="맑은 고딕"/>
                <a:cs typeface="맑은 고딕"/>
              </a:rPr>
              <a:t>수업은</a:t>
            </a:r>
            <a:endParaRPr sz="4800" dirty="0">
              <a:latin typeface="맑은 고딕"/>
              <a:cs typeface="맑은 고딕"/>
            </a:endParaRPr>
          </a:p>
          <a:p>
            <a:pPr marL="12065" marR="5080" algn="ctr">
              <a:lnSpc>
                <a:spcPts val="11520"/>
              </a:lnSpc>
              <a:spcBef>
                <a:spcPts val="1145"/>
              </a:spcBef>
            </a:pPr>
            <a:r>
              <a:rPr sz="4800" b="1" i="1" spc="-5" dirty="0">
                <a:latin typeface="맑은 고딕"/>
                <a:cs typeface="맑은 고딕"/>
              </a:rPr>
              <a:t>여기서</a:t>
            </a:r>
            <a:r>
              <a:rPr sz="4800" b="1" i="1" spc="-30" dirty="0">
                <a:latin typeface="맑은 고딕"/>
                <a:cs typeface="맑은 고딕"/>
              </a:rPr>
              <a:t> </a:t>
            </a:r>
            <a:r>
              <a:rPr sz="4800" b="1" i="1" spc="-5" dirty="0">
                <a:latin typeface="맑은 고딕"/>
                <a:cs typeface="맑은 고딕"/>
              </a:rPr>
              <a:t>마치도록</a:t>
            </a:r>
            <a:r>
              <a:rPr sz="4800" b="1" i="1" spc="-35" dirty="0">
                <a:latin typeface="맑은 고딕"/>
                <a:cs typeface="맑은 고딕"/>
              </a:rPr>
              <a:t> </a:t>
            </a:r>
            <a:r>
              <a:rPr sz="4800" b="1" i="1" spc="-5" dirty="0">
                <a:latin typeface="맑은 고딕"/>
                <a:cs typeface="맑은 고딕"/>
              </a:rPr>
              <a:t>하겠습니다… </a:t>
            </a:r>
            <a:r>
              <a:rPr sz="4800" b="1" i="1" spc="-1675" dirty="0">
                <a:latin typeface="맑은 고딕"/>
                <a:cs typeface="맑은 고딕"/>
              </a:rPr>
              <a:t> </a:t>
            </a:r>
            <a:r>
              <a:rPr sz="4800" b="1" i="1" spc="-5" dirty="0" err="1" smtClean="0">
                <a:latin typeface="맑은 고딕"/>
                <a:cs typeface="맑은 고딕"/>
              </a:rPr>
              <a:t>수고</a:t>
            </a:r>
            <a:r>
              <a:rPr sz="4800" b="1" i="1" spc="-10" dirty="0" smtClean="0">
                <a:latin typeface="맑은 고딕"/>
                <a:cs typeface="맑은 고딕"/>
              </a:rPr>
              <a:t> </a:t>
            </a:r>
            <a:r>
              <a:rPr sz="4800" b="1" i="1" spc="-5" dirty="0">
                <a:latin typeface="맑은 고딕"/>
                <a:cs typeface="맑은 고딕"/>
              </a:rPr>
              <a:t>많으셨습니다…^^</a:t>
            </a:r>
            <a:endParaRPr sz="48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1493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793</Words>
  <Application>Microsoft Office PowerPoint</Application>
  <PresentationFormat>와이드스크린</PresentationFormat>
  <Paragraphs>75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바탕</vt:lpstr>
      <vt:lpstr>Arial</vt:lpstr>
      <vt:lpstr>Office 테마</vt:lpstr>
      <vt:lpstr>일반산업안전 - 10주차 –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일반산업안전 (귀금속가공안전관리) </dc:title>
  <dc:creator>USER</dc:creator>
  <cp:lastModifiedBy>user</cp:lastModifiedBy>
  <cp:revision>264</cp:revision>
  <dcterms:created xsi:type="dcterms:W3CDTF">2024-02-01T07:01:01Z</dcterms:created>
  <dcterms:modified xsi:type="dcterms:W3CDTF">2026-09-20T09:29:34Z</dcterms:modified>
</cp:coreProperties>
</file>