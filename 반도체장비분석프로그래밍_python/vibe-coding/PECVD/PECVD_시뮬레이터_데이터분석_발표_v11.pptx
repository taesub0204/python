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장비데이터분석프로그래밍  ·  PECVD 프로젝트 분석 발표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데이터 분석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24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생성부터 품질 분석까지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반도체융합대학 반도체장비소프트웨어과  조태섭    |    2026-07-08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 ·  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77840" y="1783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프로젝트 소개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생성 및 수집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2514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구조와 대량 데이터 생성 과정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2461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로그 데이터 스키마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방법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3977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설명하는 4단계 분석 과정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70916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4709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확인 · 변수 비교 · AI 분석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40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5440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5440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요약과 향후 계획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61722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공정 파라미터로 박막 품질을 예측하는 시뮬레이터를 만들고, 대량 데이터로 결과를 검증한다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Simulator (Plasma Enhanced CVD)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557784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위치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26700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8대 공정 중 ⑤ 증착(Deposition)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557784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54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30540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플라즈마로 소스 가스 분해 → 웨이퍼 위 절연 박막 형성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438144"/>
            <a:ext cx="557784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381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34381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장비데이터분석 수업 학생 / 장비 SW 실습용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2286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 8대 공정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6517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98280" y="26517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31821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98280" y="31821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7124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증착 · 이온주입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98280" y="37124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배선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42428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98280" y="42428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 </a:t>
            </a:r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4882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위치 · 5번째 단계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DATA GENERATION ·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생성 및 수집 — 시뮬레이터 구조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시뮬레이터가 입력받는 값과 출력하는 값, 그리고 최종 판정 기준을 정의한다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파라미터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Pressure (챔버 압력)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Torr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 ~ 1.2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502920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 (히터 온도)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380 ~ 420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502920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 Power (플라즈마 출력)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 ~ 350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703320"/>
            <a:ext cx="502920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Gas Flow (SiH₄ 유량)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sccm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~ 120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파라미터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Thickness (박막 두께)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 ~ 560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2971800"/>
            <a:ext cx="466344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Uniformity (막 균일도)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 95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3337560"/>
            <a:ext cx="4663440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Deposition Rate (증착 속도)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nm/min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4343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판정(OK) 조건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4709160"/>
            <a:ext cx="10545775" cy="128016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4709160"/>
            <a:ext cx="9905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Uniformity ≥ 95%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그리고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 ≤ Thickness ≤ 560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(그 외에는 NG)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출력값이 모두 기준을 만족해야만 최종 OK로 판정된다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DATA GENERATION ·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생성 및 수집 — 실행 및 추출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불량률 10%로 배치 모드를 실행해 웨이퍼 47,760장의 공정 데이터를 생성했다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47,760장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생성 웨이퍼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377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0" y="3035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2377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955280" y="3035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CSV 파일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추출 흐름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시뮬레이션 실행</a:t>
            </a:r>
            <a:pPr indent="0" marL="0">
              <a:buNone/>
            </a:pPr>
            <a:r>
              <a:rPr lang="en-US" sz="140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웨이퍼별 결과 실시간 기록</a:t>
            </a:r>
            <a:pPr indent="0" marL="0">
              <a:buNone/>
            </a:pPr>
            <a:r>
              <a:rPr lang="en-US" sz="140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 CSV 클릭</a:t>
            </a:r>
            <a:pPr indent="0" marL="0">
              <a:buNone/>
            </a:pPr>
            <a:r>
              <a:rPr lang="en-US" sz="140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equipment_log.csv 저장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5778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시뮬레이션 배속 10,000배 선택 시, 초당 웨이퍼 1,000개 로그가 쌓이도록 구현함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DATA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 — 실제 로그 데이터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웨이퍼 1장의 처리 결과가 equipment_log.csv 한 행에 그대로 기록된다</a:t>
            </a:r>
            <a:endParaRPr lang="en-US" sz="1500" dirty="0"/>
          </a:p>
        </p:txBody>
      </p:sp>
      <p:pic>
        <p:nvPicPr>
          <p:cNvPr id="5" name="Image 0" descr="/sessions/bold-elegant-davinci/mnt/outputs/charts_light/excel_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10545775" cy="16964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07393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47,760행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73230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레코드 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0" y="407393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389120" y="473230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수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407393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955280" y="473230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파일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ANALYSIS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방법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단계로 쉽게 데이터를 살펴봤다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</a:t>
            </a:r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눈으로 확인하기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4378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데이터의 모양 확인  ·  이상한 값이 있는지 확인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정상적으로 만들어졌는지 먼저 확인했습니다.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</a:t>
            </a:r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비교하기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12394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· 압력 · RF Power · 가스 유량을 서로 비교  ·  어떤 값이 결과에 영향을 주는지 확인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07408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조건이 박막 두께에 영향을 주는지 비교했습니다.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7492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</a:t>
            </a:r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확인하기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4041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어떤 원인으로 발생하는지 확인  ·  분석 결과를 그래프로 표현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687568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불량의 원인이 무엇인지, 얼마나 되는지 확인했습니다.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1/7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확인 — 어떤 Plot을 쓸까?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데이터를 눈으로 확인하기 단계에서 쓸 수 있는 Plot들을 비교하고 골랐다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 (언제 사용하는가)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값의 분포와 구간별 빈도를 막대로 확인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채택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0" y="25603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스펙 경계값 이탈을 구간으로 명확히 표현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127248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272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Box Plot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1272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중앙값 · 사분위 · 이상치를 한 번에 확인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3127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31272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표본이 균일해 히스토그램이 더 직관적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694176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941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Density Plot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36941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히스토그램을 부드러운 곡선으로 표현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0" y="36941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78240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경계선 표시엔 히스토그램이 더 명확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261104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61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 Plot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42611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흐름에 따른 값의 변화 추이 확인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0" y="42611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2611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웨이퍼는 배치 순서일 뿐 시간 추이 아님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828032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8280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51760" y="4828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값이 흩어진 정도를 점으로 확인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4828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78240" y="48280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4.8만개 포인트는 점으로 과밀해 패턴이 안 보임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" y="539496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Donut / Pie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51760" y="53949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전체에서 정상 · 이상 비율을 한눈에 확인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0" y="5394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채택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778240" y="53949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OK/NG 비율을 가장 직관적으로 보여줌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2/7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확인 결과 — 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Donut Chart로 정상 · 이상 비율을 한눈에 확인했다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pic>
        <p:nvPicPr>
          <p:cNvPr id="6" name="Image 0" descr="/sessions/bold-elegant-davinci/mnt/outputs/charts_light/yield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310896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47,760장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212080" y="29535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확인 웨이퍼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12080" y="3383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76.37%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12080" y="38221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비율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212080" y="4251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23.63%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12080" y="46908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비율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562356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10곳 중 7~8곳은 정상, 나머지 2~3곳 정도가 기준을 벗어났습니다.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3/7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확인 결과 — 분포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Histogram으로 Thickness · Uniformity의 분포를 확인했다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pic>
        <p:nvPicPr>
          <p:cNvPr id="6" name="Image 0" descr="/sessions/bold-elegant-davinci/mnt/outputs/charts_light/thickness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60320"/>
            <a:ext cx="5074920" cy="2706624"/>
          </a:xfrm>
          <a:prstGeom prst="rect">
            <a:avLst/>
          </a:prstGeom>
        </p:spPr>
      </p:pic>
      <p:pic>
        <p:nvPicPr>
          <p:cNvPr id="7" name="Image 1" descr="/sessions/bold-elegant-davinci/mnt/outputs/charts_light/uniformity_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60320"/>
            <a:ext cx="5074920" cy="2706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53492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Thickness 분포 (스펙 480~560nm)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63640" y="53492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Uniformity 분포 (스펙 ≥95%)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22960" y="58064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58978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그래프의 빨강은 그 변수 하나만 놓고 봤을 때 스펙을 벗어난 웨이퍼입니다.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Thickness 763건, Uniformity 10,573건이 각자의 스펙을 벗어났고, 최종 OK/NG는 두 조건을 모두 반영해 판정됩니다.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4/7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비교 — 어떤 Plot을 쓸까?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변수 비교하기 단계에서 쓸 수 있는 Plot들을 비교하고 골랐다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 (언제 사용하는가)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Grouped Bar Plot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그룹(구간)별 값을 나란히 비교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채택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0" y="25603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조건별 정상 비율 차이를 가장 직관적으로 보여줌 (압력은 구간을 세분화)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218688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186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21868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변수의 관계를 점으로 확인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2186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32186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4.8만개 포인트는 점으로 과밀해 패턴이 안 보임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877056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770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87705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변수 간 상관관계를 색상으로 표현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66560" y="38770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78240" y="38770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조합이 적어(4개) 막대 비교가 더 직관적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535424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354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Box Plot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45354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그룹별 분포(중앙값 · 사분위)를 비교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45354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53542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간 평균 차이만 봐도 충분해 막대가 더 간결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5193792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93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 Plot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51937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값의 흐름에 따른 변화 추이 확인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5193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78240" y="51937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추이가 아니라 그룹 비교이므로 부적합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5/7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비교 결과 — 압력이 핵심 변수였다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 Power · 가스 유량은 차이가 없었고, 압력에서 뚜렷한 임계점(cliff)이 나타났다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pic>
        <p:nvPicPr>
          <p:cNvPr id="6" name="Image 0" descr="/sessions/bold-elegant-davinci/mnt/outputs/charts_light/pressure_cl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398" y="2286000"/>
            <a:ext cx="72009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562356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압력 1.05Torr까지는 정상 비율 85% 안팎이었지만, 1.1Torr를 넘는 순간 정상 비율이 0%로 무너졌습니다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온도는 스펙보다 20℃ 높은 440℃에서도 정상 비율 99%로 무해했지만, 압력은 스펙 상한(1.2Torr)에 맞췄을 뿐인데 0%로 무너졌습니다.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6/7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 — 어떤 Plot을 쓸까?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결과 확인하기 단계에서 불량의 원인을 어떻게 비교할지 골랐다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 (언제 사용하는가)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 Plot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원인별 발생 건수를 막대로 비교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채택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0" y="25603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원인의 발생 건수 차이를 정확히 비교하기 좋음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218688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186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 / Donut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21868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전체에서 원인별 비중을 표현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2186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32186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간 비중 차이가 커서 막대가 차이를 더 명확히 보여줌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877056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770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Stacked Bar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87705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원인별 비중을 하나의 막대에 표현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66560" y="38770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78240" y="38770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원인을 나눠 봐야 각각의 규모가 더 명확함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535424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354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Heatmap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45354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조건별 원인 발생 패턴을 색상으로 표현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45354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53542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단계에서 원인이 압력임을 이미 확인함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5193792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93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51937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값이 흩어진 정도를 점으로 확인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5193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78240" y="51937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종류(범주형) 비교엔 부적합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5F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RESULTS · 7/7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 결과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 Plot으로 불량이 어떤 원인으로 발생하는지 확인했다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pic>
        <p:nvPicPr>
          <p:cNvPr id="6" name="Image 0" descr="/sessions/bold-elegant-davinci/mnt/outputs/charts_light/ng_ca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5162" y="2331720"/>
            <a:ext cx="4441371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5577840"/>
            <a:ext cx="10545775" cy="0"/>
          </a:xfrm>
          <a:prstGeom prst="line">
            <a:avLst/>
          </a:prstGeom>
          <a:noFill/>
          <a:ln w="12700">
            <a:solidFill>
              <a:srgbClr val="AFAF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150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불량(NG) 11,285건 중 93%(10,522건)는 균일도 미달, 6%(712건)는 두께 미달이었습니다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앞서 확인한 압력 임계점 초과가 균일도 미달의 핵심 원인으로 보입니다.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 시뮬레이터 데이터 분석 발표  ·  장비데이터분석프로그래밍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9728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F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PECVD 시뮬레이터 데이터 분석 발표</dc:title>
  <dc:subject>PptxGenJS Presentation</dc:subject>
  <dc:creator>조태섭</dc:creator>
  <cp:lastModifiedBy>조태섭</cp:lastModifiedBy>
  <cp:revision>1</cp:revision>
  <dcterms:created xsi:type="dcterms:W3CDTF">2026-07-08T06:18:52Z</dcterms:created>
  <dcterms:modified xsi:type="dcterms:W3CDTF">2026-07-08T06:18:52Z</dcterms:modified>
</cp:coreProperties>
</file>