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9" autoAdjust="0"/>
    <p:restoredTop sz="94660"/>
  </p:normalViewPr>
  <p:slideViewPr>
    <p:cSldViewPr snapToGrid="0">
      <p:cViewPr varScale="1">
        <p:scale>
          <a:sx n="78" d="100"/>
          <a:sy n="78" d="100"/>
        </p:scale>
        <p:origin x="65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41D016-C71B-44C3-95FF-C5D58AA38054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15A2C2-43D1-4808-BD73-456E8C15C0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2297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0299E6-4887-F5AD-1A7E-1F9FECFAED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F0831FA-CBEB-16FA-CAED-F815327742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935B3B-202E-4DCF-E81C-954963C76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37305-7ADE-4461-BC01-91BFD56C250D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E32529-67B7-7425-8AA4-777C677C4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6F54E5-12C7-6C65-153A-2F01B1116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0CD17-1622-450D-ABDD-E4F1EC4B22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3846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255306-8E62-1615-E279-96B2108BC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784BB7-2D9A-F389-7D8E-1AAFA3795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DCB124-FAAD-E06C-B730-F5ED8FA6E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37305-7ADE-4461-BC01-91BFD56C250D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F242B4-BD53-DF22-625D-923FC47B7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00CD86-AA23-6C3A-2C86-1FCD76920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0CD17-1622-450D-ABDD-E4F1EC4B22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1200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03CBF8-2F4E-3038-A812-131D3402B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855A5FA-29FB-0417-C058-C89487190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8C849F-951C-2E80-EE77-8E9288734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37305-7ADE-4461-BC01-91BFD56C250D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610753-FCBD-B378-9D0B-4A477259D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F3A767-A136-80E6-48A4-FB64F5BF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0CD17-1622-450D-ABDD-E4F1EC4B22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1884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274FD3-9E51-EA94-7E5C-AC0A56133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C884D3-5EA9-90D3-9EF6-246DE6B651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9A7CAD8-79BC-220F-C222-C74D3BBA7B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7A5E382-7124-38B1-E730-AB67E39A0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37305-7ADE-4461-BC01-91BFD56C250D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5111860-B78B-27B0-678A-330BB7D72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3D767E-2FD4-2D2C-8616-47DD62639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0CD17-1622-450D-ABDD-E4F1EC4B22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1706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4885FC-9AF9-5C7D-BC5A-5237048DE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9A2034E-B7B7-535D-C944-EFA62EA13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5D240B6-07F4-E363-E679-583713B1FF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A6BA216-4F22-E0BA-F381-897037670A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A11B28E-3E6A-57BF-47F3-4CBBF4AE67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000D837-E0CC-681D-10A7-D4D7EAA94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37305-7ADE-4461-BC01-91BFD56C250D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AD7DBD6-B783-E12E-F987-4B456AA01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A9072D2-0BA1-CC5D-FEB8-0591D2741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0CD17-1622-450D-ABDD-E4F1EC4B22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603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D387A8-03F0-BF96-C996-B5D53FD5B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1D31E5C-3376-D98B-3EF0-0D535D465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37305-7ADE-4461-BC01-91BFD56C250D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41265F6-FD69-0DC6-CC7F-D85B3F468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5E91036-8BCC-7F79-787E-4E1BE20ED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0CD17-1622-450D-ABDD-E4F1EC4B22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9241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DCFEDD8-D58F-EEB5-7532-8FE6AF6E9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37305-7ADE-4461-BC01-91BFD56C250D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B709075-718A-6484-637A-34B39143C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333FBE-4117-6B33-F533-D030AB9BB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0CD17-1622-450D-ABDD-E4F1EC4B22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7983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D193BB-AEE4-BE8C-0105-A0EA421E2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61F1E2-4E04-5179-8064-B3AFE8100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D5C0CB-113C-40F3-655E-7FFC1F6564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4DAAF7-FFDC-AAAE-AA6E-3BE90EB63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37305-7ADE-4461-BC01-91BFD56C250D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164ED07-FFC2-6B41-859A-1CB3B1C3E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967E9D-858A-EB1E-7F81-59BD13D22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0CD17-1622-450D-ABDD-E4F1EC4B22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1853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829FFD-D85D-8E8A-7676-7B881A6CF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498BEDE-ADBB-AC42-0038-BD8A9E21E2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DCB992F-70DF-D6F6-5D9A-256877DD92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B74CE5-2BBD-6B2F-FFE1-4A4CB4E0C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37305-7ADE-4461-BC01-91BFD56C250D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F9E5F24-FBBD-0692-834C-A95C96C23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7C0DC6-4A48-5992-E624-9002737D9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0CD17-1622-450D-ABDD-E4F1EC4B22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2253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AECE1D-4E6A-1B4C-B8AA-A160BF89F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A97692-54D3-D123-1666-6ED4D957E2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5626CE-7010-656D-AF88-3848E3247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37305-7ADE-4461-BC01-91BFD56C250D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4BFCD6-A77E-BD5A-ADAD-3A9AE276F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EE6FBB-DE4B-1011-6F6D-42E0573FC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0CD17-1622-450D-ABDD-E4F1EC4B22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1727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9863C1F-3722-F1EE-F7B6-8592A28630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A4447B4-5F5E-2E23-CD81-082E12791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8E93C8-16C1-13E2-3643-64B5BB219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37305-7ADE-4461-BC01-91BFD56C250D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1C7A8C-6847-17BB-D176-B36285E38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2B4EEB-28E6-E498-AC31-D287EBB18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0CD17-1622-450D-ABDD-E4F1EC4B22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9149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395C17A-B9A9-8CA7-AFE0-1B2BFE3E7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C692F8-73D9-D329-85DF-CF6471E83B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751209-26D8-8521-D97E-B1BCDBFD01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F37305-7ADE-4461-BC01-91BFD56C250D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E8FB75-28FC-1015-73DA-0EACA31E55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1D99BA-A139-6205-83F8-EA92B1B77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CD17-1622-450D-ABDD-E4F1EC4B22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514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C80C73C-400D-EE16-834E-78720F65B16A}"/>
              </a:ext>
            </a:extLst>
          </p:cNvPr>
          <p:cNvSpPr txBox="1"/>
          <p:nvPr/>
        </p:nvSpPr>
        <p:spPr>
          <a:xfrm>
            <a:off x="1524000" y="796413"/>
            <a:ext cx="94782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3F5348-EB3A-F591-D50E-A0E9BDD0E50E}"/>
              </a:ext>
            </a:extLst>
          </p:cNvPr>
          <p:cNvSpPr txBox="1"/>
          <p:nvPr/>
        </p:nvSpPr>
        <p:spPr>
          <a:xfrm>
            <a:off x="619432" y="353961"/>
            <a:ext cx="10933471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200" dirty="0" err="1"/>
              <a:t>import</a:t>
            </a:r>
            <a:r>
              <a:rPr lang="ko-KR" altLang="ko-KR" sz="1200" dirty="0"/>
              <a:t> </a:t>
            </a:r>
            <a:r>
              <a:rPr lang="ko-KR" altLang="ko-KR" sz="1200" dirty="0" err="1"/>
              <a:t>pandas</a:t>
            </a:r>
            <a:r>
              <a:rPr lang="ko-KR" altLang="ko-KR" sz="1200" dirty="0"/>
              <a:t> </a:t>
            </a:r>
            <a:r>
              <a:rPr lang="ko-KR" altLang="ko-KR" sz="1200" dirty="0" err="1"/>
              <a:t>as</a:t>
            </a:r>
            <a:r>
              <a:rPr lang="ko-KR" altLang="ko-KR" sz="1200" dirty="0"/>
              <a:t> </a:t>
            </a:r>
            <a:r>
              <a:rPr lang="ko-KR" altLang="ko-KR" sz="1200" dirty="0" err="1"/>
              <a:t>pd</a:t>
            </a:r>
            <a:endParaRPr lang="ko-KR" altLang="ko-KR" sz="1200" dirty="0"/>
          </a:p>
          <a:p>
            <a:r>
              <a:rPr lang="ko-KR" altLang="ko-KR" sz="1200" dirty="0" err="1"/>
              <a:t>import</a:t>
            </a:r>
            <a:r>
              <a:rPr lang="ko-KR" altLang="ko-KR" sz="1200" dirty="0"/>
              <a:t> </a:t>
            </a:r>
            <a:r>
              <a:rPr lang="ko-KR" altLang="ko-KR" sz="1200" dirty="0" err="1"/>
              <a:t>numpy</a:t>
            </a:r>
            <a:r>
              <a:rPr lang="ko-KR" altLang="ko-KR" sz="1200" dirty="0"/>
              <a:t> </a:t>
            </a:r>
            <a:r>
              <a:rPr lang="ko-KR" altLang="ko-KR" sz="1200" dirty="0" err="1"/>
              <a:t>as</a:t>
            </a:r>
            <a:r>
              <a:rPr lang="ko-KR" altLang="ko-KR" sz="1200" dirty="0"/>
              <a:t> </a:t>
            </a:r>
            <a:r>
              <a:rPr lang="ko-KR" altLang="ko-KR" sz="1200" dirty="0" err="1"/>
              <a:t>np</a:t>
            </a:r>
            <a:endParaRPr lang="ko-KR" altLang="ko-KR" sz="1200" dirty="0"/>
          </a:p>
          <a:p>
            <a:br>
              <a:rPr lang="ko-KR" altLang="ko-KR" sz="1200" dirty="0"/>
            </a:br>
            <a:endParaRPr lang="ko-KR" altLang="ko-KR" sz="1200" dirty="0"/>
          </a:p>
          <a:p>
            <a:r>
              <a:rPr lang="ko-KR" altLang="ko-KR" sz="1200" dirty="0" err="1"/>
              <a:t>n</a:t>
            </a:r>
            <a:r>
              <a:rPr lang="ko-KR" altLang="ko-KR" sz="1200" dirty="0"/>
              <a:t> = 500 # 500줄</a:t>
            </a:r>
          </a:p>
          <a:p>
            <a:r>
              <a:rPr lang="ko-KR" altLang="ko-KR" sz="1200" dirty="0" err="1"/>
              <a:t>np.random.seed</a:t>
            </a:r>
            <a:r>
              <a:rPr lang="ko-KR" altLang="ko-KR" sz="1200" dirty="0"/>
              <a:t>(42) # 랜덤 시작 점 42상태에서 난수 생성</a:t>
            </a:r>
          </a:p>
          <a:p>
            <a:br>
              <a:rPr lang="ko-KR" altLang="ko-KR" sz="1200" dirty="0"/>
            </a:br>
            <a:endParaRPr lang="ko-KR" altLang="ko-KR" sz="1200" dirty="0"/>
          </a:p>
          <a:p>
            <a:r>
              <a:rPr lang="ko-KR" altLang="ko-KR" sz="1200" dirty="0" err="1"/>
              <a:t>df</a:t>
            </a:r>
            <a:r>
              <a:rPr lang="ko-KR" altLang="ko-KR" sz="1200" dirty="0"/>
              <a:t> = </a:t>
            </a:r>
            <a:r>
              <a:rPr lang="ko-KR" altLang="ko-KR" sz="1200" dirty="0" err="1"/>
              <a:t>pd.DataFrame</a:t>
            </a:r>
            <a:r>
              <a:rPr lang="ko-KR" altLang="ko-KR" sz="1200" dirty="0"/>
              <a:t>({</a:t>
            </a:r>
          </a:p>
          <a:p>
            <a:br>
              <a:rPr lang="ko-KR" altLang="ko-KR" sz="1200" dirty="0"/>
            </a:br>
            <a:endParaRPr lang="ko-KR" altLang="ko-KR" sz="1200" dirty="0"/>
          </a:p>
          <a:p>
            <a:r>
              <a:rPr lang="ko-KR" altLang="ko-KR" sz="1200" dirty="0"/>
              <a:t>    # 시간: 1시간 간격의 데이터 생성</a:t>
            </a:r>
          </a:p>
          <a:p>
            <a:r>
              <a:rPr lang="ko-KR" altLang="ko-KR" sz="1200" dirty="0"/>
              <a:t>    '</a:t>
            </a:r>
            <a:r>
              <a:rPr lang="ko-KR" altLang="ko-KR" sz="1200" dirty="0" err="1"/>
              <a:t>time</a:t>
            </a:r>
            <a:r>
              <a:rPr lang="ko-KR" altLang="ko-KR" sz="1200" dirty="0"/>
              <a:t>': </a:t>
            </a:r>
            <a:r>
              <a:rPr lang="ko-KR" altLang="ko-KR" sz="1200" dirty="0" err="1"/>
              <a:t>pd.date_range</a:t>
            </a:r>
            <a:r>
              <a:rPr lang="ko-KR" altLang="ko-KR" sz="1200" dirty="0"/>
              <a:t>('2026-06-08', </a:t>
            </a:r>
            <a:r>
              <a:rPr lang="ko-KR" altLang="ko-KR" sz="1200" dirty="0" err="1"/>
              <a:t>periods</a:t>
            </a:r>
            <a:r>
              <a:rPr lang="ko-KR" altLang="ko-KR" sz="1200" dirty="0"/>
              <a:t>=</a:t>
            </a:r>
            <a:r>
              <a:rPr lang="ko-KR" altLang="ko-KR" sz="1200" dirty="0" err="1"/>
              <a:t>n</a:t>
            </a:r>
            <a:r>
              <a:rPr lang="ko-KR" altLang="ko-KR" sz="1200" dirty="0"/>
              <a:t>, </a:t>
            </a:r>
            <a:r>
              <a:rPr lang="ko-KR" altLang="ko-KR" sz="1200" dirty="0" err="1"/>
              <a:t>freq</a:t>
            </a:r>
            <a:r>
              <a:rPr lang="ko-KR" altLang="ko-KR" sz="1200" dirty="0"/>
              <a:t>='</a:t>
            </a:r>
            <a:r>
              <a:rPr lang="ko-KR" altLang="ko-KR" sz="1200" dirty="0" err="1"/>
              <a:t>h</a:t>
            </a:r>
            <a:r>
              <a:rPr lang="ko-KR" altLang="ko-KR" sz="1200" dirty="0"/>
              <a:t>'),</a:t>
            </a:r>
          </a:p>
          <a:p>
            <a:r>
              <a:rPr lang="ko-KR" altLang="ko-KR" sz="1200" dirty="0"/>
              <a:t>    </a:t>
            </a:r>
          </a:p>
          <a:p>
            <a:r>
              <a:rPr lang="ko-KR" altLang="ko-KR" sz="1200" dirty="0"/>
              <a:t>    # 온도(섭씨): 25도 전후 (초여름 날씨 가정)</a:t>
            </a:r>
          </a:p>
          <a:p>
            <a:r>
              <a:rPr lang="ko-KR" altLang="ko-KR" sz="1200" dirty="0"/>
              <a:t>    '</a:t>
            </a:r>
            <a:r>
              <a:rPr lang="ko-KR" altLang="ko-KR" sz="1200" dirty="0" err="1"/>
              <a:t>temperature_c</a:t>
            </a:r>
            <a:r>
              <a:rPr lang="ko-KR" altLang="ko-KR" sz="1200" dirty="0"/>
              <a:t>': </a:t>
            </a:r>
            <a:r>
              <a:rPr lang="ko-KR" altLang="ko-KR" sz="1200" dirty="0" err="1"/>
              <a:t>np.random.normal</a:t>
            </a:r>
            <a:r>
              <a:rPr lang="ko-KR" altLang="ko-KR" sz="1200" dirty="0"/>
              <a:t>(25, 3, </a:t>
            </a:r>
            <a:r>
              <a:rPr lang="ko-KR" altLang="ko-KR" sz="1200" dirty="0" err="1"/>
              <a:t>n</a:t>
            </a:r>
            <a:r>
              <a:rPr lang="ko-KR" altLang="ko-KR" sz="1200" dirty="0"/>
              <a:t>), </a:t>
            </a:r>
          </a:p>
          <a:p>
            <a:r>
              <a:rPr lang="ko-KR" altLang="ko-KR" sz="1200" dirty="0"/>
              <a:t>    </a:t>
            </a:r>
          </a:p>
          <a:p>
            <a:r>
              <a:rPr lang="ko-KR" altLang="ko-KR" sz="1200" dirty="0"/>
              <a:t>    # 습도(%): 60% 전후 (일반적인 습도)</a:t>
            </a:r>
          </a:p>
          <a:p>
            <a:r>
              <a:rPr lang="ko-KR" altLang="ko-KR" sz="1200" dirty="0"/>
              <a:t>    '</a:t>
            </a:r>
            <a:r>
              <a:rPr lang="ko-KR" altLang="ko-KR" sz="1200" dirty="0" err="1"/>
              <a:t>humidity_percent</a:t>
            </a:r>
            <a:r>
              <a:rPr lang="ko-KR" altLang="ko-KR" sz="1200" dirty="0"/>
              <a:t>': </a:t>
            </a:r>
            <a:r>
              <a:rPr lang="ko-KR" altLang="ko-KR" sz="1200" dirty="0" err="1"/>
              <a:t>np.random.normal</a:t>
            </a:r>
            <a:r>
              <a:rPr lang="ko-KR" altLang="ko-KR" sz="1200" dirty="0"/>
              <a:t>(60, 10, </a:t>
            </a:r>
            <a:r>
              <a:rPr lang="ko-KR" altLang="ko-KR" sz="1200" dirty="0" err="1"/>
              <a:t>n</a:t>
            </a:r>
            <a:r>
              <a:rPr lang="ko-KR" altLang="ko-KR" sz="1200" dirty="0"/>
              <a:t>), </a:t>
            </a:r>
          </a:p>
          <a:p>
            <a:r>
              <a:rPr lang="ko-KR" altLang="ko-KR" sz="1200" dirty="0"/>
              <a:t>    </a:t>
            </a:r>
          </a:p>
          <a:p>
            <a:r>
              <a:rPr lang="ko-KR" altLang="ko-KR" sz="1200" dirty="0"/>
              <a:t>    # 풍속(</a:t>
            </a:r>
            <a:r>
              <a:rPr lang="ko-KR" altLang="ko-KR" sz="1200" dirty="0" err="1"/>
              <a:t>m</a:t>
            </a:r>
            <a:r>
              <a:rPr lang="ko-KR" altLang="ko-KR" sz="1200" dirty="0"/>
              <a:t>/</a:t>
            </a:r>
            <a:r>
              <a:rPr lang="ko-KR" altLang="ko-KR" sz="1200" dirty="0" err="1"/>
              <a:t>s</a:t>
            </a:r>
            <a:r>
              <a:rPr lang="ko-KR" altLang="ko-KR" sz="1200" dirty="0"/>
              <a:t>): 3m/</a:t>
            </a:r>
            <a:r>
              <a:rPr lang="ko-KR" altLang="ko-KR" sz="1200" dirty="0" err="1"/>
              <a:t>s</a:t>
            </a:r>
            <a:r>
              <a:rPr lang="ko-KR" altLang="ko-KR" sz="1200" dirty="0"/>
              <a:t> 전후 (나뭇잎이 흔들리는 가벼운 바람 수준)</a:t>
            </a:r>
          </a:p>
          <a:p>
            <a:r>
              <a:rPr lang="ko-KR" altLang="ko-KR" sz="1200" dirty="0"/>
              <a:t>    '</a:t>
            </a:r>
            <a:r>
              <a:rPr lang="ko-KR" altLang="ko-KR" sz="1200" dirty="0" err="1"/>
              <a:t>wind_speed_ms</a:t>
            </a:r>
            <a:r>
              <a:rPr lang="ko-KR" altLang="ko-KR" sz="1200" dirty="0"/>
              <a:t>': </a:t>
            </a:r>
            <a:r>
              <a:rPr lang="ko-KR" altLang="ko-KR" sz="1200" dirty="0" err="1"/>
              <a:t>np.random.normal</a:t>
            </a:r>
            <a:r>
              <a:rPr lang="ko-KR" altLang="ko-KR" sz="1200" dirty="0"/>
              <a:t>(3, 1.5, </a:t>
            </a:r>
            <a:r>
              <a:rPr lang="ko-KR" altLang="ko-KR" sz="1200" dirty="0" err="1"/>
              <a:t>n</a:t>
            </a:r>
            <a:r>
              <a:rPr lang="ko-KR" altLang="ko-KR" sz="1200" dirty="0"/>
              <a:t>)</a:t>
            </a:r>
          </a:p>
          <a:p>
            <a:br>
              <a:rPr lang="ko-KR" altLang="ko-KR" sz="1200" dirty="0"/>
            </a:br>
            <a:endParaRPr lang="ko-KR" altLang="ko-KR" sz="1200" dirty="0"/>
          </a:p>
          <a:p>
            <a:r>
              <a:rPr lang="ko-KR" altLang="ko-KR" sz="1200" dirty="0"/>
              <a:t>    </a:t>
            </a:r>
          </a:p>
          <a:p>
            <a:r>
              <a:rPr lang="ko-KR" altLang="ko-KR" sz="1200" dirty="0"/>
              <a:t>})</a:t>
            </a:r>
          </a:p>
          <a:p>
            <a:br>
              <a:rPr lang="ko-KR" altLang="ko-KR" sz="1200" dirty="0"/>
            </a:br>
            <a:endParaRPr lang="ko-KR" altLang="ko-KR" sz="1200" dirty="0"/>
          </a:p>
          <a:p>
            <a:r>
              <a:rPr lang="ko-KR" altLang="ko-KR" sz="1200" dirty="0" err="1"/>
              <a:t>df</a:t>
            </a:r>
            <a:endParaRPr lang="ko-KR" altLang="ko-KR" sz="1200" dirty="0"/>
          </a:p>
          <a:p>
            <a:r>
              <a:rPr lang="ko-KR" altLang="ko-KR" sz="1200" dirty="0" err="1"/>
              <a:t>print</a:t>
            </a:r>
            <a:r>
              <a:rPr lang="ko-KR" altLang="ko-KR" sz="1200" dirty="0"/>
              <a:t>(</a:t>
            </a:r>
            <a:r>
              <a:rPr lang="ko-KR" altLang="ko-KR" sz="1200" dirty="0" err="1"/>
              <a:t>df.shape</a:t>
            </a:r>
            <a:r>
              <a:rPr lang="ko-KR" altLang="ko-KR" sz="1200" dirty="0"/>
              <a:t>)</a:t>
            </a:r>
          </a:p>
          <a:p>
            <a:r>
              <a:rPr lang="ko-KR" altLang="ko-KR" sz="1200" dirty="0" err="1"/>
              <a:t>df</a:t>
            </a:r>
            <a:endParaRPr lang="ko-KR" altLang="ko-KR" sz="1200" dirty="0"/>
          </a:p>
          <a:p>
            <a:endParaRPr lang="ko-KR" altLang="en-US" sz="9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F369D3-23A5-8355-9791-7AA6BD7CD28C}"/>
              </a:ext>
            </a:extLst>
          </p:cNvPr>
          <p:cNvSpPr txBox="1"/>
          <p:nvPr/>
        </p:nvSpPr>
        <p:spPr>
          <a:xfrm>
            <a:off x="5279923" y="1042634"/>
            <a:ext cx="504394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주제 </a:t>
            </a:r>
            <a:r>
              <a:rPr lang="en-US" altLang="ko-KR" dirty="0">
                <a:solidFill>
                  <a:srgbClr val="FF0000"/>
                </a:solidFill>
              </a:rPr>
              <a:t>:  </a:t>
            </a:r>
            <a:r>
              <a:rPr lang="ko-KR" altLang="en-US" dirty="0">
                <a:solidFill>
                  <a:srgbClr val="FF0000"/>
                </a:solidFill>
              </a:rPr>
              <a:t>초여름 날씨 데이터</a:t>
            </a:r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시간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온도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습도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풍속</a:t>
            </a:r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500</a:t>
            </a:r>
            <a:r>
              <a:rPr lang="ko-KR" altLang="en-US" dirty="0">
                <a:solidFill>
                  <a:srgbClr val="FF0000"/>
                </a:solidFill>
              </a:rPr>
              <a:t>줄 까지 </a:t>
            </a:r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 err="1">
                <a:solidFill>
                  <a:srgbClr val="FF0000"/>
                </a:solidFill>
              </a:rPr>
              <a:t>Random.normal</a:t>
            </a:r>
            <a:r>
              <a:rPr lang="en-US" altLang="ko-KR" dirty="0">
                <a:solidFill>
                  <a:srgbClr val="FF0000"/>
                </a:solidFill>
              </a:rPr>
              <a:t>(loc, scale, size) </a:t>
            </a:r>
          </a:p>
          <a:p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Loc / </a:t>
            </a:r>
            <a:r>
              <a:rPr lang="ko-KR" altLang="en-US" dirty="0">
                <a:solidFill>
                  <a:srgbClr val="FF0000"/>
                </a:solidFill>
              </a:rPr>
              <a:t>평균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Scale / </a:t>
            </a:r>
            <a:r>
              <a:rPr lang="ko-KR" altLang="en-US" dirty="0">
                <a:solidFill>
                  <a:srgbClr val="FF0000"/>
                </a:solidFill>
              </a:rPr>
              <a:t>표준 편차 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n/ </a:t>
            </a:r>
            <a:r>
              <a:rPr lang="ko-KR" altLang="en-US" dirty="0">
                <a:solidFill>
                  <a:srgbClr val="FF0000"/>
                </a:solidFill>
              </a:rPr>
              <a:t>개수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랜덤하게 데이터 생성함 </a:t>
            </a:r>
          </a:p>
        </p:txBody>
      </p:sp>
    </p:spTree>
    <p:extLst>
      <p:ext uri="{BB962C8B-B14F-4D97-AF65-F5344CB8AC3E}">
        <p14:creationId xmlns:p14="http://schemas.microsoft.com/office/powerpoint/2010/main" val="108057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B3D16-D9C4-57C9-2CA1-5AFA77CE4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525C0E-C289-95B2-3F43-9B40C03C7313}"/>
              </a:ext>
            </a:extLst>
          </p:cNvPr>
          <p:cNvSpPr txBox="1"/>
          <p:nvPr/>
        </p:nvSpPr>
        <p:spPr>
          <a:xfrm>
            <a:off x="1524000" y="796413"/>
            <a:ext cx="94782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BE149D-25E0-4A60-1DAC-E629E1785600}"/>
              </a:ext>
            </a:extLst>
          </p:cNvPr>
          <p:cNvSpPr txBox="1"/>
          <p:nvPr/>
        </p:nvSpPr>
        <p:spPr>
          <a:xfrm>
            <a:off x="619432" y="353961"/>
            <a:ext cx="10933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EA5B075-566D-1CE4-7D72-C8117859F5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2804214"/>
              </p:ext>
            </p:extLst>
          </p:nvPr>
        </p:nvGraphicFramePr>
        <p:xfrm>
          <a:off x="2429335" y="580966"/>
          <a:ext cx="6886290" cy="4422576"/>
        </p:xfrm>
        <a:graphic>
          <a:graphicData uri="http://schemas.openxmlformats.org/drawingml/2006/table">
            <a:tbl>
              <a:tblPr/>
              <a:tblGrid>
                <a:gridCol w="1377258">
                  <a:extLst>
                    <a:ext uri="{9D8B030D-6E8A-4147-A177-3AD203B41FA5}">
                      <a16:colId xmlns:a16="http://schemas.microsoft.com/office/drawing/2014/main" val="1816579525"/>
                    </a:ext>
                  </a:extLst>
                </a:gridCol>
                <a:gridCol w="1377258">
                  <a:extLst>
                    <a:ext uri="{9D8B030D-6E8A-4147-A177-3AD203B41FA5}">
                      <a16:colId xmlns:a16="http://schemas.microsoft.com/office/drawing/2014/main" val="1907720661"/>
                    </a:ext>
                  </a:extLst>
                </a:gridCol>
                <a:gridCol w="1377258">
                  <a:extLst>
                    <a:ext uri="{9D8B030D-6E8A-4147-A177-3AD203B41FA5}">
                      <a16:colId xmlns:a16="http://schemas.microsoft.com/office/drawing/2014/main" val="2376823902"/>
                    </a:ext>
                  </a:extLst>
                </a:gridCol>
                <a:gridCol w="1377258">
                  <a:extLst>
                    <a:ext uri="{9D8B030D-6E8A-4147-A177-3AD203B41FA5}">
                      <a16:colId xmlns:a16="http://schemas.microsoft.com/office/drawing/2014/main" val="674656552"/>
                    </a:ext>
                  </a:extLst>
                </a:gridCol>
                <a:gridCol w="1377258">
                  <a:extLst>
                    <a:ext uri="{9D8B030D-6E8A-4147-A177-3AD203B41FA5}">
                      <a16:colId xmlns:a16="http://schemas.microsoft.com/office/drawing/2014/main" val="2955384629"/>
                    </a:ext>
                  </a:extLst>
                </a:gridCol>
              </a:tblGrid>
              <a:tr h="21290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1200">
                        <a:effectLst/>
                      </a:endParaRP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200">
                          <a:effectLst/>
                        </a:rPr>
                        <a:t>time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200">
                          <a:effectLst/>
                        </a:rPr>
                        <a:t>temperature_c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200">
                          <a:effectLst/>
                        </a:rPr>
                        <a:t>humidity_percent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200">
                          <a:effectLst/>
                        </a:rPr>
                        <a:t>wind_speed_ms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3643097"/>
                  </a:ext>
                </a:extLst>
              </a:tr>
              <a:tr h="392552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200" b="0">
                          <a:effectLst/>
                        </a:rPr>
                        <a:t>0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2026-06-08 00:00:00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26.490142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69.261775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5.099033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0548421"/>
                  </a:ext>
                </a:extLst>
              </a:tr>
              <a:tr h="392552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200" b="0">
                          <a:effectLst/>
                        </a:rPr>
                        <a:t>1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2026-06-08 01:00:00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24.585207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79.094166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4.386951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5498742"/>
                  </a:ext>
                </a:extLst>
              </a:tr>
              <a:tr h="392552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200" b="0">
                          <a:effectLst/>
                        </a:rPr>
                        <a:t>2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2026-06-08 02:00:00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26.943066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46.014324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3.089446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8371116"/>
                  </a:ext>
                </a:extLst>
              </a:tr>
              <a:tr h="392552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200" b="0">
                          <a:effectLst/>
                        </a:rPr>
                        <a:t>3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2026-06-08 03:00:00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29.569090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65.629692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2.029595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8474693"/>
                  </a:ext>
                </a:extLst>
              </a:tr>
              <a:tr h="392552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200" b="0">
                          <a:effectLst/>
                        </a:rPr>
                        <a:t>4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2026-06-08 04:00:00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24.297540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53.493574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4.047335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7807848"/>
                  </a:ext>
                </a:extLst>
              </a:tr>
              <a:tr h="21290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200" b="0">
                          <a:effectLst/>
                        </a:rPr>
                        <a:t>...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...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...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...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...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7205166"/>
                  </a:ext>
                </a:extLst>
              </a:tr>
              <a:tr h="392552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200" b="0">
                          <a:effectLst/>
                        </a:rPr>
                        <a:t>495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2026-06-28 15:00:00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26.616730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57.188997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6.009139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6888035"/>
                  </a:ext>
                </a:extLst>
              </a:tr>
              <a:tr h="392552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200" b="0">
                          <a:effectLst/>
                        </a:rPr>
                        <a:t>496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2026-06-28 16:00:00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21.888262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77.976865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6.092255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130814"/>
                  </a:ext>
                </a:extLst>
              </a:tr>
              <a:tr h="392552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200" b="0">
                          <a:effectLst/>
                        </a:rPr>
                        <a:t>497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2026-06-28 17:00:00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24.428984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66.408429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4.812549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9138724"/>
                  </a:ext>
                </a:extLst>
              </a:tr>
              <a:tr h="392552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200" b="0">
                          <a:effectLst/>
                        </a:rPr>
                        <a:t>498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2026-06-28 18:00:00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22.373145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54.288210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4.536094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2144036"/>
                  </a:ext>
                </a:extLst>
              </a:tr>
              <a:tr h="392552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200" b="0">
                          <a:effectLst/>
                        </a:rPr>
                        <a:t>499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2026-06-28 19:00:00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20.851601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>
                          <a:effectLst/>
                        </a:rPr>
                        <a:t>65.725828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dirty="0">
                          <a:effectLst/>
                        </a:rPr>
                        <a:t>3.888790</a:t>
                      </a:r>
                    </a:p>
                  </a:txBody>
                  <a:tcPr marL="33267" marR="33267" marT="16634" marB="166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7482935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600F9182-3EBE-EC09-E646-DA9A338B7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9193" y="58166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Segoe WPC"/>
              </a:rPr>
              <a:t>500 rows × 4 columns</a:t>
            </a: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765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F0217-7035-4EA6-9007-F16D282F8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3A5CDFB-5DFA-5EB9-DF61-D67F45B88780}"/>
              </a:ext>
            </a:extLst>
          </p:cNvPr>
          <p:cNvSpPr txBox="1"/>
          <p:nvPr/>
        </p:nvSpPr>
        <p:spPr>
          <a:xfrm>
            <a:off x="619432" y="353961"/>
            <a:ext cx="10933471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400" dirty="0"/>
              <a:t># 결측 치 : 30 개 무작위로 </a:t>
            </a:r>
            <a:r>
              <a:rPr lang="ko-KR" altLang="ko-KR" sz="1400" dirty="0" err="1"/>
              <a:t>NaN</a:t>
            </a:r>
            <a:r>
              <a:rPr lang="ko-KR" altLang="ko-KR" sz="1400" dirty="0"/>
              <a:t> 처리</a:t>
            </a:r>
          </a:p>
          <a:p>
            <a:r>
              <a:rPr lang="ko-KR" altLang="ko-KR" sz="1400" dirty="0" err="1"/>
              <a:t>idx</a:t>
            </a:r>
            <a:r>
              <a:rPr lang="ko-KR" altLang="ko-KR" sz="1400" dirty="0"/>
              <a:t> = </a:t>
            </a:r>
            <a:r>
              <a:rPr lang="ko-KR" altLang="ko-KR" sz="1400" dirty="0" err="1"/>
              <a:t>np.random.choice</a:t>
            </a:r>
            <a:r>
              <a:rPr lang="ko-KR" altLang="ko-KR" sz="1400" dirty="0"/>
              <a:t>(</a:t>
            </a:r>
            <a:r>
              <a:rPr lang="ko-KR" altLang="ko-KR" sz="1400" dirty="0" err="1"/>
              <a:t>df.index</a:t>
            </a:r>
            <a:r>
              <a:rPr lang="ko-KR" altLang="ko-KR" sz="1400" dirty="0"/>
              <a:t>, </a:t>
            </a:r>
            <a:r>
              <a:rPr lang="ko-KR" altLang="ko-KR" sz="1400" dirty="0" err="1"/>
              <a:t>size</a:t>
            </a:r>
            <a:r>
              <a:rPr lang="ko-KR" altLang="ko-KR" sz="1400" dirty="0"/>
              <a:t>=30, </a:t>
            </a:r>
            <a:r>
              <a:rPr lang="ko-KR" altLang="ko-KR" sz="1400" dirty="0" err="1"/>
              <a:t>replace</a:t>
            </a:r>
            <a:r>
              <a:rPr lang="ko-KR" altLang="ko-KR" sz="1400" dirty="0"/>
              <a:t>=</a:t>
            </a:r>
            <a:r>
              <a:rPr lang="ko-KR" altLang="ko-KR" sz="1400" dirty="0" err="1"/>
              <a:t>False</a:t>
            </a:r>
            <a:r>
              <a:rPr lang="ko-KR" altLang="ko-KR" sz="1400" dirty="0"/>
              <a:t>)</a:t>
            </a:r>
          </a:p>
          <a:p>
            <a:r>
              <a:rPr lang="ko-KR" altLang="ko-KR" sz="1400" dirty="0" err="1"/>
              <a:t>df.loc</a:t>
            </a:r>
            <a:r>
              <a:rPr lang="ko-KR" altLang="ko-KR" sz="1400" dirty="0"/>
              <a:t>[</a:t>
            </a:r>
            <a:r>
              <a:rPr lang="ko-KR" altLang="ko-KR" sz="1400" dirty="0" err="1"/>
              <a:t>idx</a:t>
            </a:r>
            <a:r>
              <a:rPr lang="ko-KR" altLang="ko-KR" sz="1400" dirty="0"/>
              <a:t>, '</a:t>
            </a:r>
            <a:r>
              <a:rPr lang="ko-KR" altLang="ko-KR" sz="1400" dirty="0" err="1"/>
              <a:t>humidity_percent</a:t>
            </a:r>
            <a:r>
              <a:rPr lang="ko-KR" altLang="ko-KR" sz="1400" dirty="0"/>
              <a:t>'] = </a:t>
            </a:r>
            <a:r>
              <a:rPr lang="ko-KR" altLang="ko-KR" sz="1400" dirty="0" err="1"/>
              <a:t>np.nan</a:t>
            </a:r>
            <a:endParaRPr lang="ko-KR" altLang="ko-KR" sz="1400" dirty="0"/>
          </a:p>
          <a:p>
            <a:br>
              <a:rPr lang="ko-KR" altLang="ko-KR" sz="1400" dirty="0"/>
            </a:br>
            <a:endParaRPr lang="ko-KR" altLang="ko-KR" sz="1400" dirty="0"/>
          </a:p>
          <a:p>
            <a:r>
              <a:rPr lang="ko-KR" altLang="ko-KR" sz="1400" dirty="0"/>
              <a:t># 이상치 : 5개를 비정상 고온으로 </a:t>
            </a:r>
          </a:p>
          <a:p>
            <a:r>
              <a:rPr lang="ko-KR" altLang="ko-KR" sz="1400" dirty="0" err="1"/>
              <a:t>df.loc</a:t>
            </a:r>
            <a:r>
              <a:rPr lang="ko-KR" altLang="ko-KR" sz="1400" dirty="0"/>
              <a:t>[</a:t>
            </a:r>
            <a:r>
              <a:rPr lang="ko-KR" altLang="ko-KR" sz="1400" dirty="0" err="1"/>
              <a:t>df.index</a:t>
            </a:r>
            <a:r>
              <a:rPr lang="ko-KR" altLang="ko-KR" sz="1400" dirty="0"/>
              <a:t>[:5], '</a:t>
            </a:r>
            <a:r>
              <a:rPr lang="ko-KR" altLang="ko-KR" sz="1400" dirty="0" err="1"/>
              <a:t>temperature_c</a:t>
            </a:r>
            <a:r>
              <a:rPr lang="ko-KR" altLang="ko-KR" sz="1400" dirty="0"/>
              <a:t>'] = </a:t>
            </a:r>
            <a:r>
              <a:rPr lang="ko-KR" altLang="ko-KR" sz="1400" dirty="0" err="1"/>
              <a:t>df</a:t>
            </a:r>
            <a:r>
              <a:rPr lang="ko-KR" altLang="ko-KR" sz="1400" dirty="0"/>
              <a:t>['</a:t>
            </a:r>
            <a:r>
              <a:rPr lang="ko-KR" altLang="ko-KR" sz="1400" dirty="0" err="1"/>
              <a:t>temperature_c</a:t>
            </a:r>
            <a:r>
              <a:rPr lang="ko-KR" altLang="ko-KR" sz="1400" dirty="0"/>
              <a:t>'] + 15 # 15도 더해서 이상치 생성</a:t>
            </a:r>
          </a:p>
          <a:p>
            <a:br>
              <a:rPr lang="ko-KR" altLang="ko-KR" sz="1400" dirty="0"/>
            </a:br>
            <a:endParaRPr lang="ko-KR" altLang="ko-KR" sz="1400" dirty="0"/>
          </a:p>
          <a:p>
            <a:r>
              <a:rPr lang="ko-KR" altLang="ko-KR" sz="1400" dirty="0"/>
              <a:t># 중복: 앞 3행 통째로 복제해 추가</a:t>
            </a:r>
          </a:p>
          <a:p>
            <a:r>
              <a:rPr lang="ko-KR" altLang="ko-KR" sz="1400" dirty="0" err="1"/>
              <a:t>df</a:t>
            </a:r>
            <a:r>
              <a:rPr lang="ko-KR" altLang="ko-KR" sz="1400" dirty="0"/>
              <a:t> = </a:t>
            </a:r>
            <a:r>
              <a:rPr lang="ko-KR" altLang="ko-KR" sz="1400" dirty="0" err="1"/>
              <a:t>pd.concat</a:t>
            </a:r>
            <a:r>
              <a:rPr lang="ko-KR" altLang="ko-KR" sz="1400" dirty="0"/>
              <a:t>([</a:t>
            </a:r>
            <a:r>
              <a:rPr lang="ko-KR" altLang="ko-KR" sz="1400" dirty="0" err="1"/>
              <a:t>df</a:t>
            </a:r>
            <a:r>
              <a:rPr lang="ko-KR" altLang="ko-KR" sz="1400" dirty="0"/>
              <a:t>, </a:t>
            </a:r>
            <a:r>
              <a:rPr lang="ko-KR" altLang="ko-KR" sz="1400" dirty="0" err="1"/>
              <a:t>df.iloc</a:t>
            </a:r>
            <a:r>
              <a:rPr lang="ko-KR" altLang="ko-KR" sz="1400" dirty="0"/>
              <a:t>[:3]], </a:t>
            </a:r>
            <a:r>
              <a:rPr lang="ko-KR" altLang="ko-KR" sz="1400" dirty="0" err="1"/>
              <a:t>ignore_index</a:t>
            </a:r>
            <a:r>
              <a:rPr lang="ko-KR" altLang="ko-KR" sz="1400" dirty="0"/>
              <a:t>=</a:t>
            </a:r>
            <a:r>
              <a:rPr lang="ko-KR" altLang="ko-KR" sz="1400" dirty="0" err="1"/>
              <a:t>True</a:t>
            </a:r>
            <a:r>
              <a:rPr lang="ko-KR" altLang="ko-KR" sz="1400" dirty="0"/>
              <a:t>)</a:t>
            </a:r>
          </a:p>
          <a:p>
            <a:br>
              <a:rPr lang="ko-KR" altLang="ko-KR" sz="1400" dirty="0"/>
            </a:br>
            <a:endParaRPr lang="ko-KR" altLang="ko-KR" sz="1400" dirty="0"/>
          </a:p>
          <a:p>
            <a:r>
              <a:rPr lang="ko-KR" altLang="ko-KR" sz="1400" dirty="0"/>
              <a:t># 자료형 오류 : 풍속을 문자열로 변환</a:t>
            </a:r>
          </a:p>
          <a:p>
            <a:r>
              <a:rPr lang="ko-KR" altLang="ko-KR" sz="1400" dirty="0" err="1"/>
              <a:t>df</a:t>
            </a:r>
            <a:r>
              <a:rPr lang="ko-KR" altLang="ko-KR" sz="1400" dirty="0"/>
              <a:t>['</a:t>
            </a:r>
            <a:r>
              <a:rPr lang="ko-KR" altLang="ko-KR" sz="1400" dirty="0" err="1"/>
              <a:t>wind_speed_ms</a:t>
            </a:r>
            <a:r>
              <a:rPr lang="ko-KR" altLang="ko-KR" sz="1400" dirty="0"/>
              <a:t>'] = </a:t>
            </a:r>
            <a:r>
              <a:rPr lang="ko-KR" altLang="ko-KR" sz="1400" dirty="0" err="1"/>
              <a:t>df</a:t>
            </a:r>
            <a:r>
              <a:rPr lang="ko-KR" altLang="ko-KR" sz="1400" dirty="0"/>
              <a:t>['</a:t>
            </a:r>
            <a:r>
              <a:rPr lang="ko-KR" altLang="ko-KR" sz="1400" dirty="0" err="1"/>
              <a:t>wind_speed_ms</a:t>
            </a:r>
            <a:r>
              <a:rPr lang="ko-KR" altLang="ko-KR" sz="1400" dirty="0"/>
              <a:t>'].</a:t>
            </a:r>
            <a:r>
              <a:rPr lang="ko-KR" altLang="ko-KR" sz="1400" dirty="0" err="1"/>
              <a:t>astype</a:t>
            </a:r>
            <a:r>
              <a:rPr lang="ko-KR" altLang="ko-KR" sz="1400" dirty="0"/>
              <a:t>(</a:t>
            </a:r>
            <a:r>
              <a:rPr lang="ko-KR" altLang="ko-KR" sz="1400" dirty="0" err="1"/>
              <a:t>str</a:t>
            </a:r>
            <a:r>
              <a:rPr lang="ko-KR" altLang="ko-KR" sz="1400" dirty="0"/>
              <a:t>) + ' </a:t>
            </a:r>
            <a:r>
              <a:rPr lang="ko-KR" altLang="ko-KR" sz="1400" dirty="0" err="1"/>
              <a:t>m</a:t>
            </a:r>
            <a:r>
              <a:rPr lang="ko-KR" altLang="ko-KR" sz="1400" dirty="0"/>
              <a:t>/</a:t>
            </a:r>
            <a:r>
              <a:rPr lang="ko-KR" altLang="ko-KR" sz="1400" dirty="0" err="1"/>
              <a:t>s</a:t>
            </a:r>
            <a:r>
              <a:rPr lang="ko-KR" altLang="ko-KR" sz="1400" dirty="0"/>
              <a:t>'</a:t>
            </a:r>
          </a:p>
          <a:p>
            <a:r>
              <a:rPr lang="ko-KR" altLang="ko-KR" sz="1400" dirty="0" err="1"/>
              <a:t>df.to_csv</a:t>
            </a:r>
            <a:r>
              <a:rPr lang="ko-KR" altLang="ko-KR" sz="1400" dirty="0"/>
              <a:t>('</a:t>
            </a:r>
            <a:r>
              <a:rPr lang="ko-KR" altLang="ko-KR" sz="1400" dirty="0" err="1"/>
              <a:t>weather_data.csv</a:t>
            </a:r>
            <a:r>
              <a:rPr lang="ko-KR" altLang="ko-KR" sz="1400" dirty="0"/>
              <a:t>', </a:t>
            </a:r>
            <a:r>
              <a:rPr lang="ko-KR" altLang="ko-KR" sz="1400" dirty="0" err="1"/>
              <a:t>index</a:t>
            </a:r>
            <a:r>
              <a:rPr lang="ko-KR" altLang="ko-KR" sz="1400" dirty="0"/>
              <a:t>=</a:t>
            </a:r>
            <a:r>
              <a:rPr lang="ko-KR" altLang="ko-KR" sz="1400" dirty="0" err="1"/>
              <a:t>False</a:t>
            </a:r>
            <a:r>
              <a:rPr lang="ko-KR" altLang="ko-KR" sz="1400" dirty="0"/>
              <a:t>) # 저장</a:t>
            </a:r>
          </a:p>
          <a:p>
            <a:endParaRPr lang="ko-KR" alt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9B6792-F8A0-7A70-0110-71635D599E69}"/>
              </a:ext>
            </a:extLst>
          </p:cNvPr>
          <p:cNvSpPr txBox="1"/>
          <p:nvPr/>
        </p:nvSpPr>
        <p:spPr>
          <a:xfrm>
            <a:off x="7944465" y="353961"/>
            <a:ext cx="397223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olidFill>
                  <a:srgbClr val="FF0000"/>
                </a:solidFill>
              </a:rPr>
              <a:t>결측치</a:t>
            </a:r>
            <a:r>
              <a:rPr lang="ko-KR" altLang="en-US" dirty="0">
                <a:solidFill>
                  <a:srgbClr val="FF0000"/>
                </a:solidFill>
              </a:rPr>
              <a:t> 관련 내용 간략하게 설명</a:t>
            </a:r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 err="1">
                <a:solidFill>
                  <a:srgbClr val="FF0000"/>
                </a:solidFill>
              </a:rPr>
              <a:t>df.index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ko-KR" altLang="en-US" dirty="0" err="1">
                <a:solidFill>
                  <a:srgbClr val="FF0000"/>
                </a:solidFill>
              </a:rPr>
              <a:t>모든행번호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인덱스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Size = 30  </a:t>
            </a:r>
            <a:r>
              <a:rPr lang="ko-KR" altLang="en-US" dirty="0">
                <a:solidFill>
                  <a:srgbClr val="FF0000"/>
                </a:solidFill>
              </a:rPr>
              <a:t>랜덤하게 </a:t>
            </a:r>
            <a:r>
              <a:rPr lang="en-US" altLang="ko-KR" dirty="0">
                <a:solidFill>
                  <a:srgbClr val="FF0000"/>
                </a:solidFill>
              </a:rPr>
              <a:t>30</a:t>
            </a:r>
            <a:r>
              <a:rPr lang="ko-KR" altLang="en-US" dirty="0">
                <a:solidFill>
                  <a:srgbClr val="FF0000"/>
                </a:solidFill>
              </a:rPr>
              <a:t>개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Replace = False </a:t>
            </a:r>
            <a:r>
              <a:rPr lang="ko-KR" altLang="en-US" dirty="0">
                <a:solidFill>
                  <a:srgbClr val="FF0000"/>
                </a:solidFill>
              </a:rPr>
              <a:t>중복추출방지</a:t>
            </a:r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ko-KR" dirty="0" err="1">
                <a:solidFill>
                  <a:srgbClr val="FF0000"/>
                </a:solidFill>
              </a:rPr>
              <a:t>df.loc</a:t>
            </a:r>
            <a:r>
              <a:rPr lang="ko-KR" altLang="ko-KR" dirty="0">
                <a:solidFill>
                  <a:srgbClr val="FF0000"/>
                </a:solidFill>
              </a:rPr>
              <a:t>[행, 열]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ko-KR" dirty="0" err="1">
                <a:solidFill>
                  <a:srgbClr val="FF0000"/>
                </a:solidFill>
              </a:rPr>
              <a:t>df.loc</a:t>
            </a:r>
            <a:r>
              <a:rPr lang="ko-KR" altLang="ko-KR" dirty="0">
                <a:solidFill>
                  <a:srgbClr val="FF0000"/>
                </a:solidFill>
              </a:rPr>
              <a:t>[</a:t>
            </a:r>
            <a:r>
              <a:rPr lang="ko-KR" altLang="ko-KR" dirty="0" err="1">
                <a:solidFill>
                  <a:srgbClr val="FF0000"/>
                </a:solidFill>
              </a:rPr>
              <a:t>idx</a:t>
            </a:r>
            <a:r>
              <a:rPr lang="ko-KR" altLang="ko-KR" dirty="0">
                <a:solidFill>
                  <a:srgbClr val="FF0000"/>
                </a:solidFill>
              </a:rPr>
              <a:t>, '</a:t>
            </a:r>
            <a:r>
              <a:rPr lang="ko-KR" altLang="ko-KR" dirty="0" err="1">
                <a:solidFill>
                  <a:srgbClr val="FF0000"/>
                </a:solidFill>
              </a:rPr>
              <a:t>humidity_percent</a:t>
            </a:r>
            <a:r>
              <a:rPr lang="ko-KR" altLang="ko-KR" dirty="0">
                <a:solidFill>
                  <a:srgbClr val="FF0000"/>
                </a:solidFill>
              </a:rPr>
              <a:t>'] = </a:t>
            </a:r>
            <a:r>
              <a:rPr lang="ko-KR" altLang="ko-KR" dirty="0" err="1">
                <a:solidFill>
                  <a:srgbClr val="FF0000"/>
                </a:solidFill>
              </a:rPr>
              <a:t>np.nan</a:t>
            </a:r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 err="1">
                <a:solidFill>
                  <a:srgbClr val="FF0000"/>
                </a:solidFill>
              </a:rPr>
              <a:t>Idx</a:t>
            </a:r>
            <a:r>
              <a:rPr lang="ko-KR" altLang="en-US" dirty="0">
                <a:solidFill>
                  <a:srgbClr val="FF0000"/>
                </a:solidFill>
              </a:rPr>
              <a:t>행 </a:t>
            </a:r>
            <a:r>
              <a:rPr lang="en-US" altLang="ko-KR" dirty="0">
                <a:solidFill>
                  <a:srgbClr val="FF0000"/>
                </a:solidFill>
              </a:rPr>
              <a:t>‘</a:t>
            </a:r>
            <a:r>
              <a:rPr lang="en-US" altLang="ko-KR" dirty="0" err="1">
                <a:solidFill>
                  <a:srgbClr val="FF0000"/>
                </a:solidFill>
              </a:rPr>
              <a:t>humidity_percent</a:t>
            </a:r>
            <a:r>
              <a:rPr lang="en-US" altLang="ko-KR" dirty="0">
                <a:solidFill>
                  <a:srgbClr val="FF0000"/>
                </a:solidFill>
              </a:rPr>
              <a:t>’</a:t>
            </a:r>
            <a:r>
              <a:rPr lang="ko-KR" altLang="en-US" dirty="0">
                <a:solidFill>
                  <a:srgbClr val="FF0000"/>
                </a:solidFill>
              </a:rPr>
              <a:t>열 선택된 </a:t>
            </a:r>
            <a:r>
              <a:rPr lang="en-US" altLang="ko-KR" dirty="0">
                <a:solidFill>
                  <a:srgbClr val="FF0000"/>
                </a:solidFill>
              </a:rPr>
              <a:t>30</a:t>
            </a:r>
            <a:r>
              <a:rPr lang="ko-KR" altLang="en-US" dirty="0">
                <a:solidFill>
                  <a:srgbClr val="FF0000"/>
                </a:solidFill>
              </a:rPr>
              <a:t>곳에 </a:t>
            </a:r>
            <a:r>
              <a:rPr lang="en-US" altLang="ko-KR" dirty="0">
                <a:solidFill>
                  <a:srgbClr val="FF0000"/>
                </a:solidFill>
              </a:rPr>
              <a:t>Not a Number </a:t>
            </a:r>
            <a:r>
              <a:rPr lang="ko-KR" altLang="en-US" dirty="0">
                <a:solidFill>
                  <a:srgbClr val="FF0000"/>
                </a:solidFill>
              </a:rPr>
              <a:t>를 </a:t>
            </a:r>
            <a:r>
              <a:rPr lang="ko-KR" altLang="en-US" dirty="0" err="1">
                <a:solidFill>
                  <a:srgbClr val="FF0000"/>
                </a:solidFill>
              </a:rPr>
              <a:t>접어넣어라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endParaRPr lang="en-US" altLang="ko-KR" dirty="0">
              <a:solidFill>
                <a:srgbClr val="FF0000"/>
              </a:solidFill>
            </a:endParaRPr>
          </a:p>
          <a:p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2377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E1103-5DAF-339F-0945-0519E1A6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9AF8D8-F40B-3DC1-9CC5-DDE98886C810}"/>
              </a:ext>
            </a:extLst>
          </p:cNvPr>
          <p:cNvSpPr txBox="1"/>
          <p:nvPr/>
        </p:nvSpPr>
        <p:spPr>
          <a:xfrm>
            <a:off x="1524000" y="796413"/>
            <a:ext cx="94782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sz="10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2CFA521-33EB-F5FF-00F4-279944B5B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6704" y="0"/>
            <a:ext cx="58985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761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EB67C-C8C1-79E5-8D18-040B685FD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DAAC89-4866-AD9F-C9DB-BB4F21AA496D}"/>
              </a:ext>
            </a:extLst>
          </p:cNvPr>
          <p:cNvSpPr txBox="1"/>
          <p:nvPr/>
        </p:nvSpPr>
        <p:spPr>
          <a:xfrm>
            <a:off x="1524000" y="796413"/>
            <a:ext cx="94782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sz="10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8349733-4E7F-07DD-EBC5-68275712A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6704" y="0"/>
            <a:ext cx="58985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283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E2D1C-7CD6-DDE4-39BA-0C3CA0CA7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1B33AB-E373-259F-DB40-75041B582BD5}"/>
              </a:ext>
            </a:extLst>
          </p:cNvPr>
          <p:cNvSpPr txBox="1"/>
          <p:nvPr/>
        </p:nvSpPr>
        <p:spPr>
          <a:xfrm>
            <a:off x="1524000" y="796413"/>
            <a:ext cx="947829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dirty="0" err="1"/>
              <a:t>df</a:t>
            </a:r>
            <a:r>
              <a:rPr lang="ko-KR" altLang="ko-KR" dirty="0"/>
              <a:t> = </a:t>
            </a:r>
            <a:r>
              <a:rPr lang="ko-KR" altLang="ko-KR" dirty="0" err="1"/>
              <a:t>pd.read_csv</a:t>
            </a:r>
            <a:r>
              <a:rPr lang="ko-KR" altLang="ko-KR" dirty="0"/>
              <a:t>('</a:t>
            </a:r>
            <a:r>
              <a:rPr lang="ko-KR" altLang="ko-KR" dirty="0" err="1"/>
              <a:t>weather_data.csv</a:t>
            </a:r>
            <a:r>
              <a:rPr lang="ko-KR" altLang="ko-KR" dirty="0"/>
              <a:t>') # 불러오기</a:t>
            </a:r>
          </a:p>
          <a:p>
            <a:br>
              <a:rPr lang="ko-KR" altLang="ko-KR" dirty="0"/>
            </a:br>
            <a:endParaRPr lang="ko-KR" altLang="ko-KR" dirty="0"/>
          </a:p>
          <a:p>
            <a:r>
              <a:rPr lang="ko-KR" altLang="ko-KR" dirty="0" err="1"/>
              <a:t>print</a:t>
            </a:r>
            <a:r>
              <a:rPr lang="ko-KR" altLang="ko-KR" dirty="0"/>
              <a:t>(</a:t>
            </a:r>
            <a:r>
              <a:rPr lang="ko-KR" altLang="ko-KR" dirty="0" err="1"/>
              <a:t>df.info</a:t>
            </a:r>
            <a:r>
              <a:rPr lang="ko-KR" altLang="ko-KR" dirty="0"/>
              <a:t>()) # 자료형 결측 개수 한눈에</a:t>
            </a:r>
          </a:p>
          <a:p>
            <a:r>
              <a:rPr lang="ko-KR" altLang="ko-KR" dirty="0" err="1"/>
              <a:t>print</a:t>
            </a:r>
            <a:r>
              <a:rPr lang="ko-KR" altLang="ko-KR" dirty="0"/>
              <a:t>(</a:t>
            </a:r>
            <a:r>
              <a:rPr lang="ko-KR" altLang="ko-KR" dirty="0" err="1"/>
              <a:t>df.isnull</a:t>
            </a:r>
            <a:r>
              <a:rPr lang="ko-KR" altLang="ko-KR" dirty="0"/>
              <a:t>().</a:t>
            </a:r>
            <a:r>
              <a:rPr lang="ko-KR" altLang="ko-KR" dirty="0" err="1"/>
              <a:t>sum</a:t>
            </a:r>
            <a:r>
              <a:rPr lang="ko-KR" altLang="ko-KR" sz="1100" dirty="0"/>
              <a:t>())</a:t>
            </a:r>
            <a:r>
              <a:rPr lang="ko-KR" altLang="ko-KR" dirty="0"/>
              <a:t> # </a:t>
            </a:r>
            <a:r>
              <a:rPr lang="ko-KR" altLang="ko-KR" dirty="0" err="1"/>
              <a:t>결측치</a:t>
            </a:r>
            <a:r>
              <a:rPr lang="ko-KR" altLang="ko-KR" dirty="0"/>
              <a:t> 개수 확인</a:t>
            </a:r>
          </a:p>
          <a:p>
            <a:r>
              <a:rPr lang="ko-KR" altLang="ko-KR" dirty="0" err="1"/>
              <a:t>print</a:t>
            </a:r>
            <a:r>
              <a:rPr lang="ko-KR" altLang="ko-KR" dirty="0"/>
              <a:t>(</a:t>
            </a:r>
            <a:r>
              <a:rPr lang="ko-KR" altLang="ko-KR" dirty="0" err="1"/>
              <a:t>df.duplicated</a:t>
            </a:r>
            <a:r>
              <a:rPr lang="ko-KR" altLang="ko-KR" dirty="0"/>
              <a:t>().</a:t>
            </a:r>
            <a:r>
              <a:rPr lang="ko-KR" altLang="ko-KR" dirty="0" err="1"/>
              <a:t>sum</a:t>
            </a:r>
            <a:r>
              <a:rPr lang="ko-KR" altLang="ko-KR" dirty="0"/>
              <a:t>()) # 중복 개수 확인</a:t>
            </a:r>
          </a:p>
          <a:p>
            <a:r>
              <a:rPr lang="ko-KR" altLang="ko-KR" dirty="0" err="1"/>
              <a:t>print</a:t>
            </a:r>
            <a:r>
              <a:rPr lang="ko-KR" altLang="ko-KR" dirty="0"/>
              <a:t>(</a:t>
            </a:r>
            <a:r>
              <a:rPr lang="ko-KR" altLang="ko-KR" dirty="0" err="1"/>
              <a:t>df.describe</a:t>
            </a:r>
            <a:r>
              <a:rPr lang="ko-KR" altLang="ko-KR" dirty="0"/>
              <a:t>()) # 수치형 데이터 요약 통계량</a:t>
            </a:r>
          </a:p>
        </p:txBody>
      </p:sp>
    </p:spTree>
    <p:extLst>
      <p:ext uri="{BB962C8B-B14F-4D97-AF65-F5344CB8AC3E}">
        <p14:creationId xmlns:p14="http://schemas.microsoft.com/office/powerpoint/2010/main" val="366505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326FA-6774-9770-96B2-4AF0B18F0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0C2C2CA-CFE8-7D63-8397-A3135C21B5F7}"/>
              </a:ext>
            </a:extLst>
          </p:cNvPr>
          <p:cNvSpPr txBox="1"/>
          <p:nvPr/>
        </p:nvSpPr>
        <p:spPr>
          <a:xfrm>
            <a:off x="1524000" y="796413"/>
            <a:ext cx="94782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2A4792-7DA1-289C-5A4A-1362C7E8975B}"/>
              </a:ext>
            </a:extLst>
          </p:cNvPr>
          <p:cNvSpPr txBox="1"/>
          <p:nvPr/>
        </p:nvSpPr>
        <p:spPr>
          <a:xfrm>
            <a:off x="619432" y="353961"/>
            <a:ext cx="10933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36D34EA-B0CD-FCC3-809C-D2ABB5B04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312" y="342469"/>
            <a:ext cx="5563376" cy="61730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B9E836-ED4F-56E0-1E77-0233ACC8924E}"/>
              </a:ext>
            </a:extLst>
          </p:cNvPr>
          <p:cNvSpPr txBox="1"/>
          <p:nvPr/>
        </p:nvSpPr>
        <p:spPr>
          <a:xfrm>
            <a:off x="7413101" y="4493341"/>
            <a:ext cx="2526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수치형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D76036-7D19-EFFC-877A-D87533FA0E46}"/>
              </a:ext>
            </a:extLst>
          </p:cNvPr>
          <p:cNvSpPr txBox="1"/>
          <p:nvPr/>
        </p:nvSpPr>
        <p:spPr>
          <a:xfrm>
            <a:off x="5751871" y="3429000"/>
            <a:ext cx="2035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olidFill>
                  <a:srgbClr val="FF0000"/>
                </a:solidFill>
              </a:rPr>
              <a:t>결측개수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30</a:t>
            </a:r>
            <a:r>
              <a:rPr lang="ko-KR" altLang="en-US" dirty="0">
                <a:solidFill>
                  <a:srgbClr val="FF0000"/>
                </a:solidFill>
              </a:rPr>
              <a:t>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ECF01A-EEA4-0324-B8DB-86DF193ECF47}"/>
              </a:ext>
            </a:extLst>
          </p:cNvPr>
          <p:cNvSpPr txBox="1"/>
          <p:nvPr/>
        </p:nvSpPr>
        <p:spPr>
          <a:xfrm>
            <a:off x="4719484" y="4149213"/>
            <a:ext cx="1376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중복 </a:t>
            </a:r>
            <a:r>
              <a:rPr lang="en-US" altLang="ko-KR" dirty="0">
                <a:solidFill>
                  <a:srgbClr val="FF0000"/>
                </a:solidFill>
              </a:rPr>
              <a:t>3</a:t>
            </a:r>
            <a:r>
              <a:rPr lang="ko-KR" altLang="en-US" dirty="0">
                <a:solidFill>
                  <a:srgbClr val="FF0000"/>
                </a:solidFill>
              </a:rPr>
              <a:t>개</a:t>
            </a:r>
            <a:r>
              <a:rPr lang="en-US" altLang="ko-KR" dirty="0">
                <a:solidFill>
                  <a:srgbClr val="FF0000"/>
                </a:solidFill>
              </a:rPr>
              <a:t>?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C3E7A8-4B0D-F0BC-F346-3438EE7B0F1A}"/>
              </a:ext>
            </a:extLst>
          </p:cNvPr>
          <p:cNvSpPr txBox="1"/>
          <p:nvPr/>
        </p:nvSpPr>
        <p:spPr>
          <a:xfrm>
            <a:off x="6656439" y="473247"/>
            <a:ext cx="28611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503</a:t>
            </a:r>
            <a:r>
              <a:rPr lang="ko-KR" altLang="en-US" dirty="0">
                <a:solidFill>
                  <a:srgbClr val="FF0000"/>
                </a:solidFill>
              </a:rPr>
              <a:t>개 인데 </a:t>
            </a:r>
            <a:r>
              <a:rPr lang="en-US" altLang="ko-KR" dirty="0">
                <a:solidFill>
                  <a:srgbClr val="FF0000"/>
                </a:solidFill>
              </a:rPr>
              <a:t>473</a:t>
            </a:r>
            <a:r>
              <a:rPr lang="ko-KR" altLang="en-US" dirty="0">
                <a:solidFill>
                  <a:srgbClr val="FF0000"/>
                </a:solidFill>
              </a:rPr>
              <a:t>개 </a:t>
            </a:r>
            <a:r>
              <a:rPr lang="ko-KR" altLang="en-US" dirty="0" err="1">
                <a:solidFill>
                  <a:srgbClr val="FF0000"/>
                </a:solidFill>
              </a:rPr>
              <a:t>인거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check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9384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B4958-AB8B-1FFA-9EFD-04762E4B1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8DC721-881D-0697-7161-60544329F3E7}"/>
              </a:ext>
            </a:extLst>
          </p:cNvPr>
          <p:cNvSpPr txBox="1"/>
          <p:nvPr/>
        </p:nvSpPr>
        <p:spPr>
          <a:xfrm>
            <a:off x="1524000" y="796413"/>
            <a:ext cx="94782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sz="1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75AD15-71EB-E9EB-E625-3CF6A169D3E6}"/>
              </a:ext>
            </a:extLst>
          </p:cNvPr>
          <p:cNvSpPr txBox="1"/>
          <p:nvPr/>
        </p:nvSpPr>
        <p:spPr>
          <a:xfrm>
            <a:off x="1189703" y="796413"/>
            <a:ext cx="6096000" cy="2081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ko-KR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결측이</a:t>
            </a: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있는 행 전체 삭제 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df_drop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df.dropna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'-&gt;'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df_drop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425"/>
              </a:lnSpc>
              <a:buNone/>
            </a:pPr>
            <a:b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특정 컬럼 기준으로만 삭제 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df2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df.dropna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subset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humidity_percent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  <a:buNone/>
            </a:pPr>
            <a:b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#결측이 너무 많은 '열' 삭제 (예: 50% 이상 )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df3=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df.dropna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axis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thresh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CC349A-CB15-6715-4D56-4278E7056CA2}"/>
              </a:ext>
            </a:extLst>
          </p:cNvPr>
          <p:cNvSpPr txBox="1"/>
          <p:nvPr/>
        </p:nvSpPr>
        <p:spPr>
          <a:xfrm>
            <a:off x="1356851" y="389572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503 -&gt; 473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5AD4DF-1951-3895-C7D0-B7456B649790}"/>
              </a:ext>
            </a:extLst>
          </p:cNvPr>
          <p:cNvSpPr txBox="1"/>
          <p:nvPr/>
        </p:nvSpPr>
        <p:spPr>
          <a:xfrm>
            <a:off x="7285703" y="589935"/>
            <a:ext cx="3844413" cy="6806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df2 = </a:t>
            </a:r>
            <a:r>
              <a:rPr lang="ko-KR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df.dropna</a:t>
            </a:r>
            <a:r>
              <a:rPr lang="ko-KR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ko-KR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subset</a:t>
            </a:r>
            <a:r>
              <a:rPr lang="ko-KR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=[</a:t>
            </a:r>
            <a:r>
              <a:rPr lang="ko-KR" altLang="ko-KR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ko-KR" altLang="ko-KR" dirty="0" err="1">
                <a:solidFill>
                  <a:srgbClr val="A31515"/>
                </a:solidFill>
                <a:latin typeface="Consolas" panose="020B0609020204030204" pitchFamily="49" charset="0"/>
              </a:rPr>
              <a:t>humidity_percent</a:t>
            </a:r>
            <a:r>
              <a:rPr lang="ko-KR" altLang="ko-KR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ko-KR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</a:p>
          <a:p>
            <a:endParaRPr lang="en-US" altLang="ko-KR" dirty="0"/>
          </a:p>
          <a:p>
            <a:r>
              <a:rPr lang="ko-KR" altLang="ko-KR" dirty="0">
                <a:solidFill>
                  <a:srgbClr val="FF0000"/>
                </a:solidFill>
              </a:rPr>
              <a:t>(예: 기온, 풍속 등)</a:t>
            </a:r>
            <a:r>
              <a:rPr lang="ko-KR" altLang="ko-KR" dirty="0" err="1">
                <a:solidFill>
                  <a:srgbClr val="FF0000"/>
                </a:solidFill>
              </a:rPr>
              <a:t>에</a:t>
            </a:r>
            <a:r>
              <a:rPr lang="ko-KR" altLang="ko-KR" dirty="0">
                <a:solidFill>
                  <a:srgbClr val="FF0000"/>
                </a:solidFill>
              </a:rPr>
              <a:t> </a:t>
            </a:r>
            <a:r>
              <a:rPr lang="ko-KR" altLang="ko-KR" dirty="0" err="1">
                <a:solidFill>
                  <a:srgbClr val="FF0000"/>
                </a:solidFill>
              </a:rPr>
              <a:t>결측치가</a:t>
            </a:r>
            <a:r>
              <a:rPr lang="ko-KR" altLang="ko-KR" dirty="0">
                <a:solidFill>
                  <a:srgbClr val="FF0000"/>
                </a:solidFill>
              </a:rPr>
              <a:t> 있더라도, </a:t>
            </a:r>
            <a:r>
              <a:rPr lang="ko-KR" altLang="ko-KR" b="1" dirty="0" err="1">
                <a:solidFill>
                  <a:srgbClr val="FF0000"/>
                </a:solidFill>
              </a:rPr>
              <a:t>humidity_percent</a:t>
            </a:r>
            <a:r>
              <a:rPr lang="ko-KR" altLang="ko-KR" b="1" dirty="0">
                <a:solidFill>
                  <a:srgbClr val="FF0000"/>
                </a:solidFill>
              </a:rPr>
              <a:t>(습도) 컬럼만 똑바로 채워져 있다면 그 행은 </a:t>
            </a:r>
            <a:r>
              <a:rPr lang="ko-KR" altLang="ko-KR" b="1" dirty="0" err="1">
                <a:solidFill>
                  <a:srgbClr val="FF0000"/>
                </a:solidFill>
              </a:rPr>
              <a:t>살려둡니다</a:t>
            </a:r>
            <a:r>
              <a:rPr lang="ko-KR" altLang="ko-KR" b="1" dirty="0">
                <a:solidFill>
                  <a:srgbClr val="FF0000"/>
                </a:solidFill>
              </a:rPr>
              <a:t>.</a:t>
            </a:r>
            <a:r>
              <a:rPr lang="ko-KR" altLang="ko-KR" dirty="0">
                <a:solidFill>
                  <a:srgbClr val="FF0000"/>
                </a:solidFill>
              </a:rPr>
              <a:t> 반대로 습도 칸이 </a:t>
            </a:r>
            <a:r>
              <a:rPr lang="ko-KR" altLang="ko-KR" dirty="0" err="1">
                <a:solidFill>
                  <a:srgbClr val="FF0000"/>
                </a:solidFill>
              </a:rPr>
              <a:t>비어있는</a:t>
            </a:r>
            <a:r>
              <a:rPr lang="ko-KR" altLang="ko-KR" dirty="0">
                <a:solidFill>
                  <a:srgbClr val="FF0000"/>
                </a:solidFill>
              </a:rPr>
              <a:t> 행만 골라서 삭제합니다.</a:t>
            </a:r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/>
          </a:p>
          <a:p>
            <a:pPr>
              <a:lnSpc>
                <a:spcPts val="1425"/>
              </a:lnSpc>
              <a:buNone/>
            </a:pPr>
            <a:endParaRPr lang="ko-KR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#결측이 너무 많은 '열' 삭제 (예: 50% 이상 )</a:t>
            </a:r>
            <a:endParaRPr lang="ko-KR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df3=</a:t>
            </a:r>
            <a:r>
              <a:rPr lang="ko-KR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df.dropna</a:t>
            </a:r>
            <a:r>
              <a:rPr lang="ko-KR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ko-KR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axis</a:t>
            </a:r>
            <a:r>
              <a:rPr lang="ko-KR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ko-KR" altLang="ko-KR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ko-KR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ko-KR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thresh</a:t>
            </a:r>
            <a:r>
              <a:rPr lang="ko-KR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ko-KR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ko-KR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ko-KR" altLang="ko-KR" dirty="0">
                <a:solidFill>
                  <a:srgbClr val="098658"/>
                </a:solidFill>
                <a:latin typeface="Consolas" panose="020B0609020204030204" pitchFamily="49" charset="0"/>
              </a:rPr>
              <a:t>0.5</a:t>
            </a:r>
            <a:r>
              <a:rPr lang="ko-KR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ko-KR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len</a:t>
            </a:r>
            <a:r>
              <a:rPr lang="ko-KR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ko-KR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df</a:t>
            </a:r>
            <a:r>
              <a:rPr lang="ko-KR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)))</a:t>
            </a:r>
          </a:p>
          <a:p>
            <a:endParaRPr lang="en-US" altLang="ko-KR" dirty="0"/>
          </a:p>
          <a:p>
            <a:r>
              <a:rPr lang="en-US" altLang="ko-KR" dirty="0">
                <a:solidFill>
                  <a:srgbClr val="FF0000"/>
                </a:solidFill>
              </a:rPr>
              <a:t>Axis </a:t>
            </a:r>
            <a:r>
              <a:rPr lang="ko-KR" altLang="en-US" dirty="0">
                <a:solidFill>
                  <a:srgbClr val="FF0000"/>
                </a:solidFill>
              </a:rPr>
              <a:t>열 개준</a:t>
            </a:r>
            <a:r>
              <a:rPr lang="en-US" altLang="ko-KR" dirty="0">
                <a:solidFill>
                  <a:srgbClr val="FF0000"/>
                </a:solidFill>
              </a:rPr>
              <a:t>, thresh </a:t>
            </a:r>
            <a:r>
              <a:rPr lang="ko-KR" altLang="en-US" dirty="0">
                <a:solidFill>
                  <a:srgbClr val="FF0000"/>
                </a:solidFill>
              </a:rPr>
              <a:t>전체 데이터 </a:t>
            </a:r>
            <a:r>
              <a:rPr lang="en-US" altLang="ko-KR" dirty="0">
                <a:solidFill>
                  <a:srgbClr val="FF0000"/>
                </a:solidFill>
              </a:rPr>
              <a:t>50% </a:t>
            </a:r>
          </a:p>
          <a:p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컬럼에 데이터 절반 도 없고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죄다 </a:t>
            </a:r>
            <a:r>
              <a:rPr lang="en-US" altLang="ko-KR" dirty="0" err="1">
                <a:solidFill>
                  <a:srgbClr val="FF0000"/>
                </a:solidFill>
              </a:rPr>
              <a:t>NaN</a:t>
            </a:r>
            <a:r>
              <a:rPr lang="ko-KR" altLang="en-US" dirty="0">
                <a:solidFill>
                  <a:srgbClr val="FF0000"/>
                </a:solidFill>
              </a:rPr>
              <a:t>로 </a:t>
            </a:r>
            <a:r>
              <a:rPr lang="ko-KR" altLang="en-US" dirty="0" err="1">
                <a:solidFill>
                  <a:srgbClr val="FF0000"/>
                </a:solidFill>
              </a:rPr>
              <a:t>가득차있다면</a:t>
            </a:r>
            <a:r>
              <a:rPr lang="ko-KR" altLang="en-US" dirty="0">
                <a:solidFill>
                  <a:srgbClr val="FF0000"/>
                </a:solidFill>
              </a:rPr>
              <a:t> 열 자체 통째로 </a:t>
            </a:r>
            <a:r>
              <a:rPr lang="ko-KR" altLang="en-US" dirty="0" err="1">
                <a:solidFill>
                  <a:srgbClr val="FF0000"/>
                </a:solidFill>
              </a:rPr>
              <a:t>지워버림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22577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CF1ED-66FF-6CA2-72BD-465B39840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983514F-B59D-5BF0-B369-7963DADF9F48}"/>
              </a:ext>
            </a:extLst>
          </p:cNvPr>
          <p:cNvSpPr txBox="1"/>
          <p:nvPr/>
        </p:nvSpPr>
        <p:spPr>
          <a:xfrm>
            <a:off x="1524000" y="796413"/>
            <a:ext cx="94782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sz="1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93579E-9E90-1226-D546-C95C78935586}"/>
              </a:ext>
            </a:extLst>
          </p:cNvPr>
          <p:cNvSpPr txBox="1"/>
          <p:nvPr/>
        </p:nvSpPr>
        <p:spPr>
          <a:xfrm>
            <a:off x="1209368" y="1762219"/>
            <a:ext cx="10284542" cy="3338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평균값으로 채우기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df_mean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df.copy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df_mean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humidity_percent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df_mean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humidity_percent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fillna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df_mean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humidity_percent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mean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중앙값으로 채우기 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df_median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df.copy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df_median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humidity_percent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df_median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humidity_percent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fillna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df_median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humidity_percent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median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ts val="1425"/>
              </a:lnSpc>
              <a:buNone/>
            </a:pPr>
            <a:b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직전 값으로 채우기 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df_ffill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df.copy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df_ffill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humidity_percent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df_ffill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humidity_percent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ffill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962146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3A405-B288-9E8C-6A96-7DF57F310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A119C5-7713-2547-A830-048077518165}"/>
              </a:ext>
            </a:extLst>
          </p:cNvPr>
          <p:cNvSpPr txBox="1"/>
          <p:nvPr/>
        </p:nvSpPr>
        <p:spPr>
          <a:xfrm>
            <a:off x="1524000" y="796413"/>
            <a:ext cx="94782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sz="1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E80FCD-A65A-8C6B-48D9-0499CBCD44D5}"/>
              </a:ext>
            </a:extLst>
          </p:cNvPr>
          <p:cNvSpPr txBox="1"/>
          <p:nvPr/>
        </p:nvSpPr>
        <p:spPr>
          <a:xfrm>
            <a:off x="3048000" y="481470"/>
            <a:ext cx="7846142" cy="3158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"원본 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결측치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개수"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humidity_percent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isnull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ts val="1425"/>
              </a:lnSpc>
              <a:buNone/>
            </a:pPr>
            <a:b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"평균값으로 채운 후 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결측치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개수"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df_mean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humidity_percent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isnull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ts val="1425"/>
              </a:lnSpc>
              <a:buNone/>
            </a:pPr>
            <a:b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"중앙값으로 채운 후 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결측치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개수"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df_median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humidity_percent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isnull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ts val="1425"/>
              </a:lnSpc>
              <a:buNone/>
            </a:pPr>
            <a:b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fill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대체 후 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결측치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개수"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df_ffill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humidity_percent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isnull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ts val="1425"/>
              </a:lnSpc>
              <a:buNone/>
            </a:pPr>
            <a:b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FC05773-F299-7040-06CE-18C71F1A6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3510" y="3933377"/>
            <a:ext cx="3143689" cy="201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97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BA64421-0713-98C2-6F57-20507188ACD3}"/>
              </a:ext>
            </a:extLst>
          </p:cNvPr>
          <p:cNvSpPr txBox="1"/>
          <p:nvPr/>
        </p:nvSpPr>
        <p:spPr>
          <a:xfrm>
            <a:off x="1002890" y="187389"/>
            <a:ext cx="11041625" cy="423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ko-KR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temperature_c</a:t>
            </a: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컬럼에서 </a:t>
            </a:r>
            <a:r>
              <a:rPr lang="ko-KR" altLang="ko-KR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결측치는</a:t>
            </a: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잠시 제외하고 IQR 계산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temp_data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temperature_c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dropna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Q1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temp_data.quantile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0.25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Q3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temp_data.quantile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0.75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IQR = Q3 - Q1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low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Q1 - </a:t>
            </a:r>
            <a:r>
              <a:rPr lang="ko-KR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1.5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IQR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high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Q3 + </a:t>
            </a:r>
            <a:r>
              <a:rPr lang="ko-KR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1.5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IQR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"Q1:"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Q1)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"Q3:"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Q3)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"IQR:"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IQR)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"정상 범위:"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 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low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"~"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high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정상 범위 안의 값만 남기기 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mask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temperature_c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&gt;=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low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&amp; 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temperature_c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&lt;=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high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mask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"원본 행 개수 :"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IQR로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이상치 제거 후 행 개수 :"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"이상치 제거 후 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temperature_c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요약 통계량:"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temperature_c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ts val="1425"/>
              </a:lnSpc>
              <a:buNone/>
            </a:pPr>
            <a:b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D9390E2-7A7F-7845-A7A3-9552D0CA8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0837" y="4543457"/>
            <a:ext cx="6630325" cy="17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388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F2786-50C0-B00A-6F9D-1CB53B194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4A1623-AA9D-53BC-37E1-81C51E3F44F7}"/>
              </a:ext>
            </a:extLst>
          </p:cNvPr>
          <p:cNvSpPr txBox="1"/>
          <p:nvPr/>
        </p:nvSpPr>
        <p:spPr>
          <a:xfrm>
            <a:off x="2851354" y="358762"/>
            <a:ext cx="6096000" cy="2979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ko-KR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ko-KR" altLang="ko-KR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Score로</a:t>
            </a: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이상치 탐지 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temp_data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temperature_c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mean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mean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temperature_c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mean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temperature_c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df_z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df.copy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df_z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df_z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temperature_c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-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mean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/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df_z_clean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df_z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df_z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abs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&lt;= </a:t>
            </a:r>
            <a:r>
              <a:rPr lang="ko-KR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Z-Score로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기준 이상치 제거 후 행 개수 :"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df_z_clean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Z-Score로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이상치 제거 후 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temperature_c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요약 통계량:"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df_z_clean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temperature_c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ts val="1425"/>
              </a:lnSpc>
              <a:buNone/>
            </a:pPr>
            <a:b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72C93ED-B903-DC7A-37AA-05CA6A868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469" y="3152736"/>
            <a:ext cx="6535062" cy="55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961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C5749-4614-405F-A93E-5FCED4C69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1EB158-0F26-DE17-D25A-C537F3CFF150}"/>
              </a:ext>
            </a:extLst>
          </p:cNvPr>
          <p:cNvSpPr txBox="1"/>
          <p:nvPr/>
        </p:nvSpPr>
        <p:spPr>
          <a:xfrm>
            <a:off x="1484670" y="486191"/>
            <a:ext cx="8790039" cy="423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matplotlib.pyplot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시각화로 이상치 확인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matplotlib.pyplot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ko-KR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박스플롯</a:t>
            </a: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이상치가 점으로 튀어나옴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df.boxplot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column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temperature_c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plt.title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Boxplot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of 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Temperature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plt.show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b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#시계열 선 그래프 9999 지점 위로 솟구침 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temperature_c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plot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'Time 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Series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of 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Temperature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plt.xlabel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plt.ylabel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Temperature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(C)'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plt.show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b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이상치 제거 후 다시 확인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temperature_c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plot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'Time 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Series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of 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Temperature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Outliers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Removed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)'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plt.xlabel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plt.ylabel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Temperature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(C)'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plt.show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1136131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4E286-A975-98B8-D692-FCED7FF83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BEDB248-D785-4E33-29DD-75B4E29A8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127" y="1037891"/>
            <a:ext cx="6601746" cy="478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1013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CA1F5-4591-EA40-51AC-30F8D3A06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64F0071-CFAC-AF0A-F2B7-3687D0640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1359" y="0"/>
            <a:ext cx="48092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6165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81BDE-C877-BF0C-3618-089E24073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3BD77E-C2B2-F405-D3C3-0A62C9FC2118}"/>
              </a:ext>
            </a:extLst>
          </p:cNvPr>
          <p:cNvSpPr txBox="1"/>
          <p:nvPr/>
        </p:nvSpPr>
        <p:spPr>
          <a:xfrm>
            <a:off x="1337186" y="772995"/>
            <a:ext cx="8357419" cy="2620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중복 행 제거 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df.duplicated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</a:t>
            </a: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중복 개수 확인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df.drop_duplicates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b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#문자열 -&gt; 숫자 변환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wind_speed_ms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pd.to_numeric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wind_speed_ms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errors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coerce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변환 불가한 값은 </a:t>
            </a:r>
            <a:r>
              <a:rPr lang="ko-KR" altLang="ko-KR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NaN으로</a:t>
            </a: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처리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문자열 -&gt; 날짜 변환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pd.to_datetime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errors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coerce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변환 불가한 값은 </a:t>
            </a:r>
            <a:r>
              <a:rPr lang="ko-KR" altLang="ko-KR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NaT로</a:t>
            </a: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처리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df.dtypes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488CEC5-3C55-384A-94BA-988E64AF2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9677" y="4073955"/>
            <a:ext cx="3962953" cy="189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351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6F297-090A-C1E4-42CD-63D60E81C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E551A6-5FD4-E71E-D80A-9594591CEC2D}"/>
              </a:ext>
            </a:extLst>
          </p:cNvPr>
          <p:cNvSpPr txBox="1"/>
          <p:nvPr/>
        </p:nvSpPr>
        <p:spPr>
          <a:xfrm>
            <a:off x="471947" y="489633"/>
            <a:ext cx="10757707" cy="441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#기준 데이터 선택 : 이상치 제거 후 데이터 사용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df_scale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df_clean.copy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b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#결측치가 남아 있다면 중앙값으로 대체 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df_scale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humidity_percent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df_scale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humidity_percent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fillna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df_scale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humidity_percent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median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ts val="1425"/>
              </a:lnSpc>
              <a:buNone/>
            </a:pPr>
            <a:b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#방법 </a:t>
            </a:r>
            <a:r>
              <a:rPr lang="ko-KR" altLang="ko-KR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ko-KR" altLang="ko-KR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Min-Max</a:t>
            </a: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정규화: 0~1 사이로 스케일링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df_scale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temperature_c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df_scale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temperature_c_scaled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(c -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c.min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/ 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c.max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-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c.min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ts val="1425"/>
              </a:lnSpc>
              <a:buNone/>
            </a:pPr>
            <a:b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방법 </a:t>
            </a:r>
            <a:r>
              <a:rPr lang="ko-KR" altLang="ko-KR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ko-KR" altLang="ko-KR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StandardScaler</a:t>
            </a: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표준화 (숫자형 컬럼만)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sklearn.preprocessing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StandardScaler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scaler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StandardScaler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cols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temperature_c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humidity_percent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 </a:t>
            </a: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ko-KR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wind_speed_ms는</a:t>
            </a: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문자열이므로 제외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df_scale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cols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scaler.fit_transform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df_scale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cols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df_scale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cols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describe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3D000DD-E9C2-05BC-1F24-B6E16214B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7315" y="4588737"/>
            <a:ext cx="2891899" cy="1779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271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8E51D-19AD-32C5-75FF-DF898BA23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343BDB-D584-428C-AF30-865B0C476D2E}"/>
              </a:ext>
            </a:extLst>
          </p:cNvPr>
          <p:cNvSpPr txBox="1"/>
          <p:nvPr/>
        </p:nvSpPr>
        <p:spPr>
          <a:xfrm>
            <a:off x="0" y="560440"/>
            <a:ext cx="11975689" cy="3518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clean_pipeline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pd.read_csv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1)자료형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wind_speed_ms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pd.to_numeric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wind_speed_ms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errors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coerce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변환 불가한 값은 </a:t>
            </a:r>
            <a:r>
              <a:rPr lang="ko-KR" altLang="ko-KR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NaN으로</a:t>
            </a: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처리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pd.to_datetime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errors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coerce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변환 불가한 값은 </a:t>
            </a:r>
            <a:r>
              <a:rPr lang="ko-KR" altLang="ko-KR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NaT로</a:t>
            </a: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처리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종복 /3 ) 이상치(IQR)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df.drop_duplicates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중복 제거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Q1, Q3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temperature_c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quantile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ko-KR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0.25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0.75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iqr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Q3 - Q1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temperature_c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&gt;= Q1 - </a:t>
            </a:r>
            <a:r>
              <a:rPr lang="ko-KR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1.5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iqr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&amp; 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temperature_c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&lt;= Q3 + </a:t>
            </a:r>
            <a:r>
              <a:rPr lang="ko-KR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1.5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iqr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)]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4)</a:t>
            </a:r>
            <a:r>
              <a:rPr lang="ko-KR" altLang="ko-KR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결측치</a:t>
            </a: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처리 : 중앙값으로 대체   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humidity_percent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humidity_percent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fillna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humidity_percent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median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df.to_csv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weather_data_cleaned.csv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6261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7B45678-820F-66A8-22E5-6C6405A65929}"/>
              </a:ext>
            </a:extLst>
          </p:cNvPr>
          <p:cNvSpPr txBox="1"/>
          <p:nvPr/>
        </p:nvSpPr>
        <p:spPr>
          <a:xfrm>
            <a:off x="639097" y="526301"/>
            <a:ext cx="6096000" cy="1543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clean_pipeline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weather_data.csv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검증 모든 문제가 사려졌는지 확인</a:t>
            </a:r>
            <a:endParaRPr lang="ko-KR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df.isnull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df.duplicated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temperature_c</a:t>
            </a:r>
            <a:r>
              <a:rPr lang="ko-KR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df.dtypes</a:t>
            </a:r>
            <a:r>
              <a:rPr lang="ko-KR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6FDA617-CE91-86ED-2769-1AE234A16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831" y="3010806"/>
            <a:ext cx="4172532" cy="242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9744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DD9B149-E5AE-97D5-12CF-14F9D31C6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6751"/>
            <a:ext cx="12192000" cy="5724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1957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2248</TotalTime>
  <Words>1987</Words>
  <Application>Microsoft Office PowerPoint</Application>
  <PresentationFormat>와이드스크린</PresentationFormat>
  <Paragraphs>279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4" baseType="lpstr">
      <vt:lpstr>맑은 고딕</vt:lpstr>
      <vt:lpstr>Arial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SMART</dc:creator>
  <cp:lastModifiedBy>SMART</cp:lastModifiedBy>
  <cp:revision>5</cp:revision>
  <dcterms:created xsi:type="dcterms:W3CDTF">2026-06-11T10:57:47Z</dcterms:created>
  <dcterms:modified xsi:type="dcterms:W3CDTF">2026-06-13T00:27:54Z</dcterms:modified>
</cp:coreProperties>
</file>