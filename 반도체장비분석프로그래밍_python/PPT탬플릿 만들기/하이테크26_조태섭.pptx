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8" r:id="rId4"/>
    <p:sldId id="271" r:id="rId5"/>
    <p:sldId id="273" r:id="rId6"/>
    <p:sldId id="270" r:id="rId7"/>
    <p:sldId id="269" r:id="rId8"/>
    <p:sldId id="274" r:id="rId9"/>
    <p:sldId id="275" r:id="rId10"/>
    <p:sldId id="276" r:id="rId11"/>
    <p:sldId id="262" r:id="rId12"/>
    <p:sldId id="279" r:id="rId13"/>
    <p:sldId id="278" r:id="rId14"/>
    <p:sldId id="27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31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60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62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8648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0350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5675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632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808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7630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8742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6241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027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9Kb2_XDQGLY" TargetMode="External"/><Relationship Id="rId5" Type="http://schemas.openxmlformats.org/officeDocument/2006/relationships/image" Target="../media/image4.jpeg"/><Relationship Id="rId4" Type="http://schemas.openxmlformats.org/officeDocument/2006/relationships/hyperlink" Target="https://www.youtube.com/shorts/9Kb2_XDQGLY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E4GA9Lo9r0w" TargetMode="External"/><Relationship Id="rId5" Type="http://schemas.openxmlformats.org/officeDocument/2006/relationships/hyperlink" Target="https://www.youtube.com/watch?v=E4GA9Lo9r0w" TargetMode="Externa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959E061-33A6-416C-9F64-5D6BB079FA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B38603-4C06-4970-B235-2571D8D66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7BE18-4F3A-4B5C-8021-542893C35D71}"/>
              </a:ext>
            </a:extLst>
          </p:cNvPr>
          <p:cNvSpPr>
            <a:spLocks noGrp="1"/>
          </p:cNvSpPr>
          <p:nvPr/>
        </p:nvSpPr>
        <p:spPr>
          <a:xfrm>
            <a:off x="4476750" y="0"/>
            <a:ext cx="95250" cy="68580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3B2412-9ABA-4E2A-9157-0313B6600DA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38100" cy="68580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43E948-2C7E-45C3-9B9C-F490B4454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2667931"/>
            <a:ext cx="3390900" cy="119828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464E988-165A-4C69-A1A9-3A8E96949A45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838200" cy="4762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F09246-4431-4AAA-9F90-294E8E2020E5}"/>
              </a:ext>
            </a:extLst>
          </p:cNvPr>
          <p:cNvSpPr>
            <a:spLocks noGrp="1"/>
          </p:cNvSpPr>
          <p:nvPr/>
        </p:nvSpPr>
        <p:spPr>
          <a:xfrm>
            <a:off x="5124450" y="1233487"/>
            <a:ext cx="5905500" cy="1381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반도체</a:t>
            </a:r>
            <a:r>
              <a:rPr sz="3600" b="1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3600" b="1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3600" b="1" dirty="0" smtClean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36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 dirty="0" err="1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프로그래밍</a:t>
            </a:r>
            <a:endParaRPr sz="3600" b="1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1F2868-E3AB-43E0-8C04-273E735ECAE0}"/>
              </a:ext>
            </a:extLst>
          </p:cNvPr>
          <p:cNvSpPr>
            <a:spLocks noGrp="1"/>
          </p:cNvSpPr>
          <p:nvPr/>
        </p:nvSpPr>
        <p:spPr>
          <a:xfrm>
            <a:off x="5219700" y="2794405"/>
            <a:ext cx="5867400" cy="1038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1. CVD </a:t>
            </a:r>
            <a:r>
              <a:rPr lang="ko-KR" alt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장비 조사</a:t>
            </a:r>
            <a:endParaRPr lang="en-US" altLang="ko-KR" sz="1600" dirty="0" smtClean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2. </a:t>
            </a:r>
            <a:r>
              <a:rPr lang="ko-KR" altLang="en-US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데이터 종류</a:t>
            </a:r>
            <a:endParaRPr lang="en-US" altLang="ko-KR" sz="1600" b="0" dirty="0" smtClean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3. </a:t>
            </a:r>
            <a:r>
              <a:rPr lang="ko-KR" alt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바이브코딩을 통한 시뮬레이터 제작</a:t>
            </a:r>
            <a:endParaRPr lang="en-US" altLang="ko-KR" sz="1600" dirty="0" smtClean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4. </a:t>
            </a:r>
            <a:r>
              <a:rPr lang="ko-KR" altLang="en-US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예상되는 출력 </a:t>
            </a:r>
            <a:r>
              <a:rPr lang="ko-KR" alt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데이터</a:t>
            </a:r>
            <a:endParaRPr sz="1600" b="0" dirty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D334CA-B638-4638-9D4D-1A703A5C3D69}"/>
              </a:ext>
            </a:extLst>
          </p:cNvPr>
          <p:cNvSpPr>
            <a:spLocks noGrp="1"/>
          </p:cNvSpPr>
          <p:nvPr/>
        </p:nvSpPr>
        <p:spPr>
          <a:xfrm>
            <a:off x="5219700" y="4248150"/>
            <a:ext cx="4953000" cy="9525"/>
          </a:xfrm>
          <a:prstGeom prst="rect">
            <a:avLst/>
          </a:prstGeom>
          <a:solidFill>
            <a:srgbClr val="C9D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FAB924-8E60-4381-A75F-B98CE69DE50F}"/>
              </a:ext>
            </a:extLst>
          </p:cNvPr>
          <p:cNvSpPr>
            <a:spLocks noGrp="1"/>
          </p:cNvSpPr>
          <p:nvPr/>
        </p:nvSpPr>
        <p:spPr>
          <a:xfrm>
            <a:off x="5257799" y="4495800"/>
            <a:ext cx="374313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275" dirty="0" err="1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조태섭</a:t>
            </a:r>
            <a:r>
              <a:rPr sz="1275" b="0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75" b="0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ko-KR" altLang="en-US" sz="1275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반도체장비소프트웨어과</a:t>
            </a:r>
            <a:r>
              <a:rPr sz="1275" b="0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75" b="0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en-US" sz="1275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2026-06-29</a:t>
            </a:r>
            <a:endParaRPr sz="1275" b="0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481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709863" y="1600200"/>
            <a:ext cx="64609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CVD </a:t>
            </a:r>
            <a:r>
              <a:rPr lang="ko-KR" altLang="en-US" b="1" dirty="0" err="1"/>
              <a:t>장비란</a:t>
            </a:r>
            <a:r>
              <a:rPr lang="en-US" altLang="ko-KR" b="1" dirty="0"/>
              <a:t>?</a:t>
            </a:r>
          </a:p>
          <a:p>
            <a:r>
              <a:rPr lang="en-US" altLang="ko-KR" b="1" dirty="0"/>
              <a:t>CVD(Chemical Vapor Deposition, </a:t>
            </a:r>
            <a:r>
              <a:rPr lang="ko-KR" altLang="en-US" b="1" dirty="0"/>
              <a:t>화학 기상 </a:t>
            </a:r>
            <a:r>
              <a:rPr lang="ko-KR" altLang="en-US" b="1" dirty="0" err="1"/>
              <a:t>증착</a:t>
            </a:r>
            <a:r>
              <a:rPr lang="en-US" altLang="ko-KR" b="1" dirty="0"/>
              <a:t>)</a:t>
            </a:r>
            <a:r>
              <a:rPr lang="ko-KR" altLang="en-US" dirty="0"/>
              <a:t> 장비는 </a:t>
            </a:r>
            <a:r>
              <a:rPr lang="ko-KR" altLang="en-US" b="1" dirty="0"/>
              <a:t>가스를 화학 반응시켜 웨이퍼 표면에 매우 얇은 박막</a:t>
            </a:r>
            <a:r>
              <a:rPr lang="en-US" altLang="ko-KR" b="1" dirty="0"/>
              <a:t>(Thin Film)</a:t>
            </a:r>
            <a:r>
              <a:rPr lang="ko-KR" altLang="en-US" b="1" dirty="0"/>
              <a:t>을 형성하는 반도체 제조 장비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709863" y="3530978"/>
            <a:ext cx="64609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쉽게 말하면,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특수한 가스를 </a:t>
            </a:r>
            <a:r>
              <a:rPr kumimoji="0" lang="ko-KR" altLang="ko-K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챔버</a:t>
            </a: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안에 넣고 열이나 </a:t>
            </a:r>
            <a:r>
              <a:rPr kumimoji="0" lang="ko-KR" altLang="ko-K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플라즈마를</a:t>
            </a: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이용해 반응시켜 웨이퍼 위에 원하는 막을 입히는 장비</a:t>
            </a: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입니다.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7544801" y="1268820"/>
            <a:ext cx="31161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1. 웨이퍼 제조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2. 산화(</a:t>
            </a:r>
            <a:r>
              <a:rPr lang="ko-KR" altLang="en-US" dirty="0" err="1"/>
              <a:t>Oxidation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3. 포토(</a:t>
            </a:r>
            <a:r>
              <a:rPr lang="ko-KR" altLang="en-US" dirty="0" err="1"/>
              <a:t>Photo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4. </a:t>
            </a:r>
            <a:r>
              <a:rPr lang="ko-KR" altLang="en-US" dirty="0" err="1"/>
              <a:t>식각</a:t>
            </a:r>
            <a:r>
              <a:rPr lang="ko-KR" altLang="en-US" dirty="0"/>
              <a:t>(</a:t>
            </a:r>
            <a:r>
              <a:rPr lang="ko-KR" altLang="en-US" dirty="0" err="1"/>
              <a:t>Etching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⭐ 5. </a:t>
            </a:r>
            <a:r>
              <a:rPr lang="ko-KR" altLang="en-US" dirty="0" err="1">
                <a:solidFill>
                  <a:srgbClr val="FF0000"/>
                </a:solidFill>
              </a:rPr>
              <a:t>증착</a:t>
            </a:r>
            <a:r>
              <a:rPr lang="ko-KR" altLang="en-US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Deposition</a:t>
            </a:r>
            <a:r>
              <a:rPr lang="ko-KR" altLang="en-US" dirty="0">
                <a:solidFill>
                  <a:srgbClr val="FF0000"/>
                </a:solidFill>
              </a:rPr>
              <a:t>)  ← PECVD 사용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6. </a:t>
            </a:r>
            <a:r>
              <a:rPr lang="ko-KR" altLang="en-US" dirty="0" err="1"/>
              <a:t>이온주입</a:t>
            </a:r>
            <a:r>
              <a:rPr lang="ko-KR" altLang="en-US" dirty="0"/>
              <a:t>(</a:t>
            </a:r>
            <a:r>
              <a:rPr lang="ko-KR" altLang="en-US" dirty="0" err="1"/>
              <a:t>Ion</a:t>
            </a:r>
            <a:r>
              <a:rPr lang="ko-KR" altLang="en-US" dirty="0"/>
              <a:t> </a:t>
            </a:r>
            <a:r>
              <a:rPr lang="ko-KR" altLang="en-US" dirty="0" err="1"/>
              <a:t>Implantation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7. </a:t>
            </a:r>
            <a:r>
              <a:rPr lang="ko-KR" altLang="en-US" dirty="0" err="1"/>
              <a:t>금속배선</a:t>
            </a:r>
            <a:r>
              <a:rPr lang="ko-KR" altLang="en-US" dirty="0"/>
              <a:t>(</a:t>
            </a:r>
            <a:r>
              <a:rPr lang="ko-KR" altLang="en-US" dirty="0" err="1"/>
              <a:t>Metalization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8. 검사(</a:t>
            </a:r>
            <a:r>
              <a:rPr lang="ko-KR" altLang="en-US" dirty="0" err="1"/>
              <a:t>Test</a:t>
            </a:r>
            <a:r>
              <a:rPr lang="ko-KR" altLang="en-US" dirty="0"/>
              <a:t>/</a:t>
            </a:r>
            <a:r>
              <a:rPr lang="ko-KR" altLang="en-US" dirty="0" err="1"/>
              <a:t>Inspection</a:t>
            </a:r>
            <a:r>
              <a:rPr lang="ko-KR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312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sp>
        <p:nvSpPr>
          <p:cNvPr id="28" name="직사각형 27"/>
          <p:cNvSpPr/>
          <p:nvPr/>
        </p:nvSpPr>
        <p:spPr>
          <a:xfrm>
            <a:off x="644692" y="161228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국내에서 </a:t>
            </a:r>
            <a:r>
              <a:rPr lang="en-US" altLang="ko-KR" b="1" dirty="0"/>
              <a:t>CVD(</a:t>
            </a:r>
            <a:r>
              <a:rPr lang="ko-KR" altLang="en-US" b="1" dirty="0" err="1"/>
              <a:t>증착</a:t>
            </a:r>
            <a:r>
              <a:rPr lang="en-US" altLang="ko-KR" b="1" dirty="0"/>
              <a:t>) </a:t>
            </a:r>
            <a:r>
              <a:rPr lang="ko-KR" altLang="en-US" b="1" dirty="0"/>
              <a:t>장비를 대표적으로 개발</a:t>
            </a:r>
            <a:r>
              <a:rPr lang="en-US" altLang="ko-KR" b="1" dirty="0"/>
              <a:t>·</a:t>
            </a:r>
            <a:r>
              <a:rPr lang="ko-KR" altLang="en-US" b="1" dirty="0"/>
              <a:t>공급하는 기업</a:t>
            </a:r>
            <a:r>
              <a:rPr lang="ko-KR" altLang="en-US" dirty="0"/>
              <a:t>은 다음과 같습니다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1. </a:t>
            </a:r>
            <a:r>
              <a:rPr lang="ko-KR" altLang="en-US" b="1" dirty="0"/>
              <a:t>원익</a:t>
            </a:r>
            <a:r>
              <a:rPr lang="en-US" altLang="ko-KR" b="1" dirty="0"/>
              <a:t>IPS ⭐⭐⭐⭐⭐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국내 </a:t>
            </a:r>
            <a:r>
              <a:rPr lang="ko-KR" altLang="en-US" b="1" dirty="0" err="1"/>
              <a:t>증착</a:t>
            </a:r>
            <a:r>
              <a:rPr lang="ko-KR" altLang="en-US" b="1" dirty="0"/>
              <a:t> 장비 대표 기업</a:t>
            </a:r>
            <a:r>
              <a:rPr lang="ko-KR" alt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주력 장비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PECVD</a:t>
            </a:r>
            <a:r>
              <a:rPr lang="en-US" altLang="ko-K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Metal CVD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주요 고객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삼성전자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</a:t>
            </a:r>
            <a:r>
              <a:rPr lang="ko-KR" altLang="en-US" dirty="0"/>
              <a:t>하이닉스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특징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국내에서 가장 폭넓은 </a:t>
            </a:r>
            <a:r>
              <a:rPr lang="ko-KR" altLang="en-US" dirty="0" err="1"/>
              <a:t>증착</a:t>
            </a:r>
            <a:r>
              <a:rPr lang="ko-KR" altLang="en-US" dirty="0"/>
              <a:t> 장비 포트폴리오를 보유한 기업 중 하나입니다</a:t>
            </a:r>
            <a:r>
              <a:rPr lang="en-US" altLang="ko-KR" dirty="0"/>
              <a:t>.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55" y="1132598"/>
            <a:ext cx="5293895" cy="2871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37095" y="4003863"/>
            <a:ext cx="26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 </a:t>
            </a:r>
            <a:r>
              <a:rPr lang="ko-KR" altLang="en-US" dirty="0" smtClean="0"/>
              <a:t>장비  출처 원익</a:t>
            </a:r>
            <a:r>
              <a:rPr lang="en-US" altLang="ko-KR" dirty="0" smtClean="0"/>
              <a:t>IPS</a:t>
            </a:r>
          </a:p>
        </p:txBody>
      </p:sp>
    </p:spTree>
    <p:extLst>
      <p:ext uri="{BB962C8B-B14F-4D97-AF65-F5344CB8AC3E}">
        <p14:creationId xmlns:p14="http://schemas.microsoft.com/office/powerpoint/2010/main" val="367302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55" y="1132598"/>
            <a:ext cx="5293895" cy="2871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37095" y="4003863"/>
            <a:ext cx="26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 </a:t>
            </a:r>
            <a:r>
              <a:rPr lang="ko-KR" altLang="en-US" dirty="0" smtClean="0"/>
              <a:t>장비  출처 원익</a:t>
            </a:r>
            <a:r>
              <a:rPr lang="en-US" altLang="ko-KR" dirty="0" smtClean="0"/>
              <a:t>IPS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009677"/>
              </p:ext>
            </p:extLst>
          </p:nvPr>
        </p:nvGraphicFramePr>
        <p:xfrm>
          <a:off x="838200" y="3086894"/>
          <a:ext cx="6356684" cy="1828800"/>
        </p:xfrm>
        <a:graphic>
          <a:graphicData uri="http://schemas.openxmlformats.org/drawingml/2006/table">
            <a:tbl>
              <a:tblPr/>
              <a:tblGrid>
                <a:gridCol w="3178342">
                  <a:extLst>
                    <a:ext uri="{9D8B030D-6E8A-4147-A177-3AD203B41FA5}">
                      <a16:colId xmlns:a16="http://schemas.microsoft.com/office/drawing/2014/main" val="4191595476"/>
                    </a:ext>
                  </a:extLst>
                </a:gridCol>
                <a:gridCol w="3178342">
                  <a:extLst>
                    <a:ext uri="{9D8B030D-6E8A-4147-A177-3AD203B41FA5}">
                      <a16:colId xmlns:a16="http://schemas.microsoft.com/office/drawing/2014/main" val="3671710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증착 물질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용도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16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SiO₂ (</a:t>
                      </a:r>
                      <a:r>
                        <a:rPr lang="ko-KR" altLang="en-US"/>
                        <a:t>실리콘 산화막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절연막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25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SiN (</a:t>
                      </a:r>
                      <a:r>
                        <a:rPr lang="ko-KR" altLang="en-US"/>
                        <a:t>실리콘 질화막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보호막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절연막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502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절연막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2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Low-k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배선 간 절연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08767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120162"/>
              </p:ext>
            </p:extLst>
          </p:nvPr>
        </p:nvGraphicFramePr>
        <p:xfrm>
          <a:off x="838200" y="3086894"/>
          <a:ext cx="52578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74809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증착</a:t>
                      </a:r>
                      <a:r>
                        <a:rPr lang="ko-KR" altLang="en-US" dirty="0"/>
                        <a:t> 물질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295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SiO₂ (</a:t>
                      </a:r>
                      <a:r>
                        <a:rPr lang="ko-KR" altLang="en-US"/>
                        <a:t>실리콘 산화막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566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SiN (</a:t>
                      </a:r>
                      <a:r>
                        <a:rPr lang="ko-KR" altLang="en-US"/>
                        <a:t>실리콘 질화막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5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86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Low-k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324328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838200" y="129790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PECVD</a:t>
            </a:r>
            <a:r>
              <a:rPr lang="ko-KR" altLang="en-US" b="1" dirty="0"/>
              <a:t>는 무엇을 만드는가</a:t>
            </a:r>
            <a:r>
              <a:rPr lang="en-US" altLang="ko-KR" b="1" dirty="0" smtClean="0"/>
              <a:t>?</a:t>
            </a:r>
          </a:p>
          <a:p>
            <a:endParaRPr lang="en-US" altLang="ko-KR" b="1" dirty="0"/>
          </a:p>
          <a:p>
            <a:r>
              <a:rPr lang="en-US" altLang="ko-KR" dirty="0"/>
              <a:t>PECVD</a:t>
            </a:r>
            <a:r>
              <a:rPr lang="ko-KR" altLang="en-US" dirty="0"/>
              <a:t>는 </a:t>
            </a:r>
            <a:r>
              <a:rPr lang="ko-KR" altLang="en-US" b="1" dirty="0" err="1"/>
              <a:t>절연막</a:t>
            </a:r>
            <a:r>
              <a:rPr lang="en-US" altLang="ko-KR" b="1" dirty="0"/>
              <a:t>(Insulating Film)</a:t>
            </a:r>
            <a:r>
              <a:rPr lang="ko-KR" altLang="en-US" dirty="0"/>
              <a:t>을 만드는 데 가장 많이 사용됩니다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대표적인 박막은 다음과 같습니다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65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sp>
        <p:nvSpPr>
          <p:cNvPr id="10" name="직사각형 9"/>
          <p:cNvSpPr/>
          <p:nvPr/>
        </p:nvSpPr>
        <p:spPr>
          <a:xfrm>
            <a:off x="838200" y="14352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PECVD</a:t>
            </a:r>
            <a:r>
              <a:rPr lang="ko-KR" altLang="en-US" b="1" dirty="0" smtClean="0"/>
              <a:t>는 어떤 공정에서 반복하는가</a:t>
            </a:r>
            <a:r>
              <a:rPr lang="en-US" altLang="ko-KR" b="1" dirty="0" smtClean="0"/>
              <a:t>?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8989595" y="561975"/>
            <a:ext cx="352625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웨이퍼 준비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산화(</a:t>
            </a:r>
            <a:r>
              <a:rPr lang="ko-KR" altLang="en-US" dirty="0" err="1"/>
              <a:t>Oxidation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포토(</a:t>
            </a:r>
            <a:r>
              <a:rPr lang="ko-KR" altLang="en-US" dirty="0" err="1"/>
              <a:t>Photo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 err="1"/>
              <a:t>식각</a:t>
            </a:r>
            <a:r>
              <a:rPr lang="ko-KR" altLang="en-US" dirty="0"/>
              <a:t>(</a:t>
            </a:r>
            <a:r>
              <a:rPr lang="ko-KR" altLang="en-US" dirty="0" err="1"/>
              <a:t>Etching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⭐ PECVD(</a:t>
            </a:r>
            <a:r>
              <a:rPr lang="ko-KR" altLang="en-US" dirty="0" err="1"/>
              <a:t>절연막</a:t>
            </a:r>
            <a:r>
              <a:rPr lang="ko-KR" altLang="en-US" dirty="0"/>
              <a:t> </a:t>
            </a:r>
            <a:r>
              <a:rPr lang="ko-KR" altLang="en-US" dirty="0" err="1"/>
              <a:t>증착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CMP(평탄화)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포토(</a:t>
            </a:r>
            <a:r>
              <a:rPr lang="ko-KR" altLang="en-US" dirty="0" err="1"/>
              <a:t>Photo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 err="1"/>
              <a:t>식각</a:t>
            </a:r>
            <a:r>
              <a:rPr lang="ko-KR" altLang="en-US" dirty="0"/>
              <a:t>(</a:t>
            </a:r>
            <a:r>
              <a:rPr lang="ko-KR" altLang="en-US" dirty="0" err="1"/>
              <a:t>Etching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⭐ PECVD(</a:t>
            </a:r>
            <a:r>
              <a:rPr lang="ko-KR" altLang="en-US" dirty="0" err="1"/>
              <a:t>절연막</a:t>
            </a:r>
            <a:r>
              <a:rPr lang="ko-KR" altLang="en-US" dirty="0"/>
              <a:t> </a:t>
            </a:r>
            <a:r>
              <a:rPr lang="ko-KR" altLang="en-US" dirty="0" err="1"/>
              <a:t>증착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CMP(평탄화)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(반복)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387493" y="361950"/>
            <a:ext cx="180874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포토(</a:t>
            </a:r>
            <a:r>
              <a:rPr lang="ko-KR" altLang="en-US" dirty="0" err="1" smtClean="0"/>
              <a:t>Photo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err="1" smtClean="0"/>
              <a:t>식각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Etching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⭐ PECVD(</a:t>
            </a:r>
            <a:r>
              <a:rPr lang="ko-KR" altLang="en-US" dirty="0" err="1" smtClean="0"/>
              <a:t>절연막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증착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CMP(평탄화)</a:t>
            </a:r>
          </a:p>
          <a:p>
            <a:r>
              <a:rPr lang="ko-KR" altLang="en-US" dirty="0" smtClean="0"/>
              <a:t>      ↓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포토(</a:t>
            </a:r>
            <a:r>
              <a:rPr lang="ko-KR" altLang="en-US" dirty="0" err="1" smtClean="0"/>
              <a:t>Photo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err="1" smtClean="0"/>
              <a:t>식각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Etching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⭐ PECVD(</a:t>
            </a:r>
            <a:r>
              <a:rPr lang="ko-KR" altLang="en-US" dirty="0" err="1" smtClean="0"/>
              <a:t>절연막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증착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CMP(평탄화)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(여러 번 반복)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892803" y="2918233"/>
            <a:ext cx="22941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1층 회로 제작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PECVD(</a:t>
            </a:r>
            <a:r>
              <a:rPr lang="ko-KR" altLang="en-US" dirty="0" err="1"/>
              <a:t>절연막</a:t>
            </a:r>
            <a:r>
              <a:rPr lang="ko-KR" altLang="en-US" dirty="0"/>
              <a:t> 형성)</a:t>
            </a:r>
          </a:p>
          <a:p>
            <a:endParaRPr lang="ko-KR" altLang="en-US" dirty="0"/>
          </a:p>
          <a:p>
            <a:r>
              <a:rPr lang="ko-KR" altLang="en-US" dirty="0"/>
              <a:t>2층 회로 제작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PECVD(</a:t>
            </a:r>
            <a:r>
              <a:rPr lang="ko-KR" altLang="en-US" dirty="0" err="1"/>
              <a:t>절연막</a:t>
            </a:r>
            <a:r>
              <a:rPr lang="ko-KR" altLang="en-US" dirty="0"/>
              <a:t> 형성)</a:t>
            </a:r>
          </a:p>
          <a:p>
            <a:endParaRPr lang="ko-KR" altLang="en-US" dirty="0"/>
          </a:p>
          <a:p>
            <a:r>
              <a:rPr lang="ko-KR" altLang="en-US" dirty="0"/>
              <a:t>3층 회로 제작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PECVD(</a:t>
            </a:r>
            <a:r>
              <a:rPr lang="ko-KR" altLang="en-US" dirty="0" err="1"/>
              <a:t>절연막</a:t>
            </a:r>
            <a:r>
              <a:rPr lang="ko-KR" altLang="en-US" dirty="0"/>
              <a:t> 형성)</a:t>
            </a:r>
          </a:p>
          <a:p>
            <a:endParaRPr lang="ko-KR" altLang="en-US" dirty="0"/>
          </a:p>
          <a:p>
            <a:r>
              <a:rPr lang="ko-KR" altLang="en-US" dirty="0"/>
              <a:t>...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46138" y="2004586"/>
            <a:ext cx="4206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PECVD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'</a:t>
            </a:r>
            <a:r>
              <a:rPr lang="ko-KR" altLang="en-US" dirty="0" err="1">
                <a:solidFill>
                  <a:srgbClr val="FF0000"/>
                </a:solidFill>
              </a:rPr>
              <a:t>식각</a:t>
            </a:r>
            <a:r>
              <a:rPr lang="ko-KR" altLang="en-US" dirty="0">
                <a:solidFill>
                  <a:srgbClr val="FF0000"/>
                </a:solidFill>
              </a:rPr>
              <a:t> 이후 </a:t>
            </a:r>
            <a:r>
              <a:rPr lang="ko-KR" altLang="en-US" dirty="0" err="1">
                <a:solidFill>
                  <a:srgbClr val="FF0000"/>
                </a:solidFill>
              </a:rPr>
              <a:t>절연막을</a:t>
            </a:r>
            <a:r>
              <a:rPr lang="ko-KR" altLang="en-US" dirty="0">
                <a:solidFill>
                  <a:srgbClr val="FF0000"/>
                </a:solidFill>
              </a:rPr>
              <a:t> 형성하고 다음 층 제작을 준비하는 역할</a:t>
            </a:r>
            <a:r>
              <a:rPr lang="en-US" altLang="ko-KR" dirty="0">
                <a:solidFill>
                  <a:srgbClr val="FF0000"/>
                </a:solidFill>
              </a:rPr>
              <a:t>'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60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55" y="1132598"/>
            <a:ext cx="5293895" cy="2871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37095" y="4003863"/>
            <a:ext cx="2689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 </a:t>
            </a:r>
            <a:r>
              <a:rPr lang="ko-KR" altLang="en-US" dirty="0" smtClean="0"/>
              <a:t>장비  출처 원익</a:t>
            </a:r>
            <a:r>
              <a:rPr lang="en-US" altLang="ko-KR" dirty="0" smtClean="0"/>
              <a:t>IPS</a:t>
            </a:r>
          </a:p>
          <a:p>
            <a:r>
              <a:rPr lang="ko-KR" altLang="en-US" dirty="0" err="1" smtClean="0"/>
              <a:t>장비명</a:t>
            </a:r>
            <a:r>
              <a:rPr lang="en-US" altLang="ko-KR" dirty="0" smtClean="0"/>
              <a:t> GEMINI HQ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782053" y="1913021"/>
            <a:ext cx="6713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PECVD</a:t>
            </a:r>
            <a:r>
              <a:rPr lang="ko-KR" altLang="en-US" dirty="0" smtClean="0"/>
              <a:t>는 </a:t>
            </a:r>
            <a:r>
              <a:rPr lang="ko-KR" altLang="en-US" b="1" dirty="0" err="1" smtClean="0"/>
              <a:t>플라즈마로</a:t>
            </a:r>
            <a:r>
              <a:rPr lang="ko-KR" altLang="en-US" b="1" dirty="0" smtClean="0"/>
              <a:t> 소스 가스를 </a:t>
            </a:r>
            <a:r>
              <a:rPr lang="ko-KR" altLang="en-US" dirty="0" smtClean="0"/>
              <a:t>분해하여 </a:t>
            </a:r>
            <a:r>
              <a:rPr lang="ko-KR" altLang="en-US" b="1" dirty="0" err="1" smtClean="0"/>
              <a:t>증착</a:t>
            </a:r>
            <a:r>
              <a:rPr lang="ko-KR" altLang="en-US" b="1" dirty="0" smtClean="0"/>
              <a:t> 공정</a:t>
            </a:r>
            <a:r>
              <a:rPr lang="ko-KR" altLang="en-US" dirty="0" smtClean="0"/>
              <a:t>을 수행하기 위해 만들어졌다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82053" y="3124884"/>
            <a:ext cx="5163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PECVD(Plasma Enhanced Chemical vapor Deposition)</a:t>
            </a:r>
          </a:p>
          <a:p>
            <a:r>
              <a:rPr lang="ko-KR" altLang="en-US" dirty="0" err="1"/>
              <a:t>플라즈마</a:t>
            </a:r>
            <a:r>
              <a:rPr lang="ko-KR" altLang="en-US" dirty="0"/>
              <a:t> 강화 화학 기상 </a:t>
            </a:r>
            <a:r>
              <a:rPr lang="ko-KR" altLang="en-US" dirty="0" err="1"/>
              <a:t>증착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57250" y="4336747"/>
            <a:ext cx="37310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</a:t>
            </a:r>
            <a:r>
              <a:rPr lang="ko-KR" altLang="en-US" dirty="0" smtClean="0"/>
              <a:t>의 하드웨어 구성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가지 요소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진공</a:t>
            </a:r>
            <a:r>
              <a:rPr lang="en-US" altLang="ko-KR" dirty="0" smtClean="0"/>
              <a:t>(Vacuum)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가스공급부</a:t>
            </a:r>
            <a:r>
              <a:rPr lang="en-US" altLang="ko-KR" dirty="0" smtClean="0"/>
              <a:t>(Source Gas)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열</a:t>
            </a:r>
            <a:r>
              <a:rPr lang="en-US" altLang="ko-KR" dirty="0" smtClean="0"/>
              <a:t>(Thermal)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플라즈마</a:t>
            </a:r>
            <a:r>
              <a:rPr lang="en-US" altLang="ko-KR" dirty="0" smtClean="0"/>
              <a:t>(Plasma)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제어 장치</a:t>
            </a:r>
            <a:r>
              <a:rPr lang="en-US" altLang="ko-KR" dirty="0" smtClean="0"/>
              <a:t>(Controller)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385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27350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2. </a:t>
            </a:r>
            <a:r>
              <a:rPr lang="ko-KR" altLang="en-US" sz="3200" dirty="0" smtClean="0"/>
              <a:t>데이터 종류</a:t>
            </a:r>
            <a:endParaRPr lang="ko-KR" altLang="en-US" sz="3200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86386"/>
              </p:ext>
            </p:extLst>
          </p:nvPr>
        </p:nvGraphicFramePr>
        <p:xfrm>
          <a:off x="645695" y="1533525"/>
          <a:ext cx="6043864" cy="3657600"/>
        </p:xfrm>
        <a:graphic>
          <a:graphicData uri="http://schemas.openxmlformats.org/drawingml/2006/table">
            <a:tbl>
              <a:tblPr/>
              <a:tblGrid>
                <a:gridCol w="3021932">
                  <a:extLst>
                    <a:ext uri="{9D8B030D-6E8A-4147-A177-3AD203B41FA5}">
                      <a16:colId xmlns:a16="http://schemas.microsoft.com/office/drawing/2014/main" val="45413707"/>
                    </a:ext>
                  </a:extLst>
                </a:gridCol>
                <a:gridCol w="3021932">
                  <a:extLst>
                    <a:ext uri="{9D8B030D-6E8A-4147-A177-3AD203B41FA5}">
                      <a16:colId xmlns:a16="http://schemas.microsoft.com/office/drawing/2014/main" val="3100035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센서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0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Chamber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챔버 압력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74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Heater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온도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566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RF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플라즈마 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38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SiH₄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 err="1"/>
                        <a:t>실란</a:t>
                      </a:r>
                      <a:r>
                        <a:rPr lang="ko-KR" altLang="en-US" b="1" dirty="0"/>
                        <a:t>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704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NH₃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암모니아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2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N₂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질소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Process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공정 시간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90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Film Thickness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박막 두께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81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Uniformity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막 균일도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87251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98666" y="1445020"/>
            <a:ext cx="37310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</a:t>
            </a:r>
            <a:r>
              <a:rPr lang="ko-KR" altLang="en-US" dirty="0" smtClean="0"/>
              <a:t>의 하드웨어 구성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가지 요소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진공</a:t>
            </a:r>
            <a:r>
              <a:rPr lang="en-US" altLang="ko-KR" dirty="0" smtClean="0"/>
              <a:t>(Vacuum)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가스공급부</a:t>
            </a:r>
            <a:r>
              <a:rPr lang="en-US" altLang="ko-KR" dirty="0" smtClean="0"/>
              <a:t>(Source Gas)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열</a:t>
            </a:r>
            <a:r>
              <a:rPr lang="en-US" altLang="ko-KR" dirty="0" smtClean="0"/>
              <a:t>(Thermal)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플라즈마</a:t>
            </a:r>
            <a:r>
              <a:rPr lang="en-US" altLang="ko-KR" dirty="0" smtClean="0"/>
              <a:t>(Plasma)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제어 장치</a:t>
            </a:r>
            <a:r>
              <a:rPr lang="en-US" altLang="ko-KR" dirty="0" smtClean="0"/>
              <a:t>(Controller)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559" y="3331077"/>
            <a:ext cx="5005136" cy="2964947"/>
          </a:xfrm>
          <a:prstGeom prst="rect">
            <a:avLst/>
          </a:prstGeom>
        </p:spPr>
      </p:pic>
      <p:cxnSp>
        <p:nvCxnSpPr>
          <p:cNvPr id="12" name="직선 화살표 연결선 11"/>
          <p:cNvCxnSpPr/>
          <p:nvPr/>
        </p:nvCxnSpPr>
        <p:spPr>
          <a:xfrm flipH="1">
            <a:off x="4908884" y="1937084"/>
            <a:ext cx="2213811" cy="10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5414211" y="2245393"/>
            <a:ext cx="1744580" cy="85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4287369" y="2448927"/>
            <a:ext cx="2835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5281863" y="2793833"/>
            <a:ext cx="1916803" cy="4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4908885" y="3199346"/>
            <a:ext cx="2425092" cy="678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4887829" y="3176085"/>
            <a:ext cx="2463239" cy="1407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 flipH="1">
            <a:off x="4887828" y="3176085"/>
            <a:ext cx="2463240" cy="1080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H="1">
            <a:off x="4908884" y="3254877"/>
            <a:ext cx="2338366" cy="1797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H="1">
            <a:off x="5638939" y="3214536"/>
            <a:ext cx="1695038" cy="29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5695" y="5512734"/>
            <a:ext cx="68178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실란</a:t>
            </a:r>
            <a:r>
              <a:rPr lang="en-US" altLang="ko-KR" b="1" dirty="0"/>
              <a:t>(</a:t>
            </a:r>
            <a:r>
              <a:rPr lang="en-US" altLang="ko-KR" b="1" dirty="0" err="1"/>
              <a:t>SiH</a:t>
            </a:r>
            <a:r>
              <a:rPr lang="en-US" altLang="ko-KR" b="1" dirty="0"/>
              <a:t>₄)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</a:p>
          <a:p>
            <a:r>
              <a:rPr lang="ko-KR" altLang="en-US" dirty="0" err="1"/>
              <a:t>실란</a:t>
            </a:r>
            <a:r>
              <a:rPr lang="en-US" altLang="ko-KR" dirty="0"/>
              <a:t>(</a:t>
            </a:r>
            <a:r>
              <a:rPr lang="en-US" altLang="ko-KR" dirty="0" err="1"/>
              <a:t>Silane</a:t>
            </a:r>
            <a:r>
              <a:rPr lang="en-US" altLang="ko-KR" dirty="0"/>
              <a:t>, </a:t>
            </a:r>
            <a:r>
              <a:rPr lang="en-US" altLang="ko-KR" b="1" dirty="0" err="1"/>
              <a:t>SiH</a:t>
            </a:r>
            <a:r>
              <a:rPr lang="en-US" altLang="ko-KR" b="1" dirty="0"/>
              <a:t>₄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ko-KR" altLang="en-US" b="1" dirty="0"/>
              <a:t>실리콘</a:t>
            </a:r>
            <a:r>
              <a:rPr lang="en-US" altLang="ko-KR" b="1" dirty="0"/>
              <a:t>(Si)</a:t>
            </a:r>
            <a:r>
              <a:rPr lang="ko-KR" altLang="en-US" b="1" dirty="0"/>
              <a:t>을 포함한 반도체용 </a:t>
            </a:r>
            <a:r>
              <a:rPr lang="ko-KR" altLang="en-US" b="1" dirty="0" err="1"/>
              <a:t>특수가스</a:t>
            </a:r>
            <a:r>
              <a:rPr lang="ko-KR" altLang="en-US" dirty="0" err="1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242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27350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2. </a:t>
            </a:r>
            <a:r>
              <a:rPr lang="ko-KR" altLang="en-US" sz="3200" dirty="0" smtClean="0"/>
              <a:t>데이터 종류</a:t>
            </a:r>
            <a:endParaRPr lang="ko-KR" altLang="en-US" sz="3200" dirty="0"/>
          </a:p>
        </p:txBody>
      </p:sp>
      <p:sp>
        <p:nvSpPr>
          <p:cNvPr id="5" name="직사각형 4"/>
          <p:cNvSpPr/>
          <p:nvPr/>
        </p:nvSpPr>
        <p:spPr>
          <a:xfrm>
            <a:off x="482061" y="114675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장비 선정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대상 장비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PECVD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장비의 역할 및 공정 흐름 조사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주요 구성 요소</a:t>
            </a:r>
            <a:r>
              <a:rPr lang="en-US" altLang="ko-KR" dirty="0"/>
              <a:t>(Chamber, Heater, RF Generator, MFC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파악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462586"/>
              </p:ext>
            </p:extLst>
          </p:nvPr>
        </p:nvGraphicFramePr>
        <p:xfrm>
          <a:off x="573506" y="2568893"/>
          <a:ext cx="4515854" cy="2926080"/>
        </p:xfrm>
        <a:graphic>
          <a:graphicData uri="http://schemas.openxmlformats.org/drawingml/2006/table">
            <a:tbl>
              <a:tblPr/>
              <a:tblGrid>
                <a:gridCol w="2257927">
                  <a:extLst>
                    <a:ext uri="{9D8B030D-6E8A-4147-A177-3AD203B41FA5}">
                      <a16:colId xmlns:a16="http://schemas.microsoft.com/office/drawing/2014/main" val="605727504"/>
                    </a:ext>
                  </a:extLst>
                </a:gridCol>
                <a:gridCol w="2257927">
                  <a:extLst>
                    <a:ext uri="{9D8B030D-6E8A-4147-A177-3AD203B41FA5}">
                      <a16:colId xmlns:a16="http://schemas.microsoft.com/office/drawing/2014/main" val="1770028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입력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28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Chamber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챔버 압력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24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Heater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히터 온도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RF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플라즈마 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58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SiH₄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실란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754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NH₃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암모니아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002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N₂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질소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53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Process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공정 시간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343483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672849"/>
              </p:ext>
            </p:extLst>
          </p:nvPr>
        </p:nvGraphicFramePr>
        <p:xfrm>
          <a:off x="5417016" y="2568893"/>
          <a:ext cx="5839326" cy="2926077"/>
        </p:xfrm>
        <a:graphic>
          <a:graphicData uri="http://schemas.openxmlformats.org/drawingml/2006/table">
            <a:tbl>
              <a:tblPr/>
              <a:tblGrid>
                <a:gridCol w="2919663">
                  <a:extLst>
                    <a:ext uri="{9D8B030D-6E8A-4147-A177-3AD203B41FA5}">
                      <a16:colId xmlns:a16="http://schemas.microsoft.com/office/drawing/2014/main" val="1589327597"/>
                    </a:ext>
                  </a:extLst>
                </a:gridCol>
                <a:gridCol w="2919663">
                  <a:extLst>
                    <a:ext uri="{9D8B030D-6E8A-4147-A177-3AD203B41FA5}">
                      <a16:colId xmlns:a16="http://schemas.microsoft.com/office/drawing/2014/main" val="3085274267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lang="ko-KR" altLang="en-US" dirty="0"/>
                        <a:t>출력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88126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Film Thickness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박막 두께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420159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Deposition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증착 속도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67694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Uniformity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막 균일도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715457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Defect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결함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751226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Yield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수율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831438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Process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정상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748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68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6614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3. </a:t>
            </a:r>
            <a:r>
              <a:rPr lang="ko-KR" altLang="en-US" sz="3200" dirty="0" err="1"/>
              <a:t>바이브</a:t>
            </a:r>
            <a:r>
              <a:rPr lang="ko-KR" altLang="en-US" sz="3200" dirty="0"/>
              <a:t> 코딩으로 시뮬레이터 개발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71167" y="1278851"/>
            <a:ext cx="284954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EX)</a:t>
            </a:r>
          </a:p>
          <a:p>
            <a:endParaRPr lang="en-US" altLang="ko-KR" sz="1400" dirty="0" smtClean="0"/>
          </a:p>
          <a:p>
            <a:r>
              <a:rPr lang="ko-KR" altLang="en-US" sz="1400" dirty="0" err="1" smtClean="0"/>
              <a:t>Input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Pressure</a:t>
            </a:r>
            <a:endParaRPr lang="ko-KR" altLang="en-US" sz="1400" dirty="0"/>
          </a:p>
          <a:p>
            <a:r>
              <a:rPr lang="ko-KR" altLang="en-US" sz="1400" dirty="0" err="1"/>
              <a:t>Temperature</a:t>
            </a:r>
            <a:endParaRPr lang="ko-KR" altLang="en-US" sz="1400" dirty="0"/>
          </a:p>
          <a:p>
            <a:r>
              <a:rPr lang="ko-KR" altLang="en-US" sz="1400" dirty="0" err="1"/>
              <a:t>Gas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Flow</a:t>
            </a:r>
            <a:endParaRPr lang="ko-KR" altLang="en-US" sz="1400" dirty="0"/>
          </a:p>
          <a:p>
            <a:r>
              <a:rPr lang="ko-KR" altLang="en-US" sz="1400" dirty="0"/>
              <a:t>RF Power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↓</a:t>
            </a:r>
          </a:p>
          <a:p>
            <a:endParaRPr lang="ko-KR" altLang="en-US" sz="1400" dirty="0"/>
          </a:p>
          <a:p>
            <a:r>
              <a:rPr lang="ko-KR" altLang="en-US" sz="1400" dirty="0"/>
              <a:t>PECVD Simulator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↓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Output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Thickness</a:t>
            </a:r>
            <a:endParaRPr lang="ko-KR" altLang="en-US" sz="1400" dirty="0"/>
          </a:p>
          <a:p>
            <a:r>
              <a:rPr lang="ko-KR" altLang="en-US" sz="1400" dirty="0" err="1"/>
              <a:t>Uniformity</a:t>
            </a:r>
            <a:endParaRPr lang="ko-KR" altLang="en-US" sz="1400" dirty="0"/>
          </a:p>
          <a:p>
            <a:r>
              <a:rPr lang="ko-KR" altLang="en-US" sz="1400" dirty="0" err="1"/>
              <a:t>Deposition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Rate</a:t>
            </a:r>
            <a:endParaRPr lang="ko-KR" altLang="en-US" sz="1400" dirty="0"/>
          </a:p>
          <a:p>
            <a:r>
              <a:rPr lang="ko-KR" altLang="en-US" sz="1400" dirty="0" err="1"/>
              <a:t>Status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3456002" y="134677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 smtClean="0"/>
              <a:t>입력과 </a:t>
            </a:r>
            <a:r>
              <a:rPr lang="ko-KR" altLang="en-US" b="1" dirty="0"/>
              <a:t>출력의 관계 분석</a:t>
            </a:r>
          </a:p>
          <a:p>
            <a:r>
              <a:rPr lang="ko-KR" altLang="en-US" dirty="0" err="1"/>
              <a:t>입력값이</a:t>
            </a:r>
            <a:r>
              <a:rPr lang="ko-KR" altLang="en-US" dirty="0"/>
              <a:t> </a:t>
            </a:r>
            <a:r>
              <a:rPr lang="ko-KR" altLang="en-US" dirty="0" err="1"/>
              <a:t>출력값에</a:t>
            </a:r>
            <a:r>
              <a:rPr lang="ko-KR" altLang="en-US" dirty="0"/>
              <a:t> 어떤 영향을 미치는지 조사합니다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예시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온도 ↑ → </a:t>
            </a:r>
            <a:r>
              <a:rPr lang="ko-KR" altLang="en-US" dirty="0" err="1"/>
              <a:t>증착</a:t>
            </a:r>
            <a:r>
              <a:rPr lang="ko-KR" altLang="en-US" dirty="0"/>
              <a:t> 속도 증가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RF Power ↑ → </a:t>
            </a:r>
            <a:r>
              <a:rPr lang="ko-KR" altLang="en-US" dirty="0" err="1"/>
              <a:t>플라즈마</a:t>
            </a:r>
            <a:r>
              <a:rPr lang="ko-KR" altLang="en-US" dirty="0"/>
              <a:t> 활성 증가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압력 ↓ → 막 균일도 변화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가스 유량 변화 → 박막 두께 변화</a:t>
            </a:r>
          </a:p>
        </p:txBody>
      </p:sp>
    </p:spTree>
    <p:extLst>
      <p:ext uri="{BB962C8B-B14F-4D97-AF65-F5344CB8AC3E}">
        <p14:creationId xmlns:p14="http://schemas.microsoft.com/office/powerpoint/2010/main" val="221782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4562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4. </a:t>
            </a:r>
            <a:r>
              <a:rPr lang="ko-KR" altLang="en-US" sz="3200" dirty="0" smtClean="0"/>
              <a:t>예상되는 출력 데이터</a:t>
            </a:r>
            <a:r>
              <a:rPr lang="en-US" altLang="ko-KR" sz="3200" dirty="0" smtClean="0"/>
              <a:t> </a:t>
            </a:r>
            <a:endParaRPr lang="ko-KR" altLang="en-US" sz="3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753276"/>
              </p:ext>
            </p:extLst>
          </p:nvPr>
        </p:nvGraphicFramePr>
        <p:xfrm>
          <a:off x="323850" y="1592608"/>
          <a:ext cx="11544300" cy="1906004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73922555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665960533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152124294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1371203076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610111096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659714528"/>
                    </a:ext>
                  </a:extLst>
                </a:gridCol>
              </a:tblGrid>
              <a:tr h="47650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Temp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온도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Pressure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압력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RF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플라즈마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Gas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Flow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가스유량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Thickness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박막 두께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Status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공정결과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984952"/>
                  </a:ext>
                </a:extLst>
              </a:tr>
              <a:tr h="476501">
                <a:tc>
                  <a:txBody>
                    <a:bodyPr/>
                    <a:lstStyle/>
                    <a:p>
                      <a:r>
                        <a:rPr lang="en-US" altLang="ko-KR" sz="1200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65814"/>
                  </a:ext>
                </a:extLst>
              </a:tr>
              <a:tr h="476501">
                <a:tc>
                  <a:txBody>
                    <a:bodyPr/>
                    <a:lstStyle/>
                    <a:p>
                      <a:r>
                        <a:rPr lang="en-US" altLang="ko-KR" sz="1200"/>
                        <a:t>410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/>
                        <a:t>540</a:t>
                      </a:r>
                      <a:endParaRPr lang="en-US" altLang="ko-KR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971930"/>
                  </a:ext>
                </a:extLst>
              </a:tr>
              <a:tr h="476501">
                <a:tc>
                  <a:txBody>
                    <a:bodyPr/>
                    <a:lstStyle/>
                    <a:p>
                      <a:r>
                        <a:rPr lang="en-US" altLang="ko-KR" sz="1200"/>
                        <a:t>390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430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98204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71167" y="403394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데이터 분석 및 </a:t>
            </a:r>
            <a:r>
              <a:rPr lang="en-US" altLang="ko-KR" b="1" dirty="0"/>
              <a:t>AI </a:t>
            </a:r>
            <a:r>
              <a:rPr lang="ko-KR" altLang="en-US" b="1" dirty="0"/>
              <a:t>모델 개발</a:t>
            </a:r>
          </a:p>
          <a:p>
            <a:r>
              <a:rPr lang="ko-KR" altLang="en-US" dirty="0"/>
              <a:t>생성한 </a:t>
            </a:r>
            <a:r>
              <a:rPr lang="ko-KR" altLang="en-US" dirty="0" err="1"/>
              <a:t>데이터셋을</a:t>
            </a:r>
            <a:r>
              <a:rPr lang="ko-KR" altLang="en-US" dirty="0"/>
              <a:t> 활용하여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데이터 시각화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상관관계 분석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이상 탐지</a:t>
            </a:r>
            <a:r>
              <a:rPr lang="en-US" altLang="ko-KR" dirty="0"/>
              <a:t>(Anomaly Detection)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품질 예측</a:t>
            </a:r>
            <a:r>
              <a:rPr lang="en-US" altLang="ko-KR" dirty="0"/>
              <a:t>(Regression)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</a:t>
            </a:r>
            <a:r>
              <a:rPr lang="ko-KR" altLang="en-US" dirty="0"/>
              <a:t> 모델 개발</a:t>
            </a:r>
          </a:p>
        </p:txBody>
      </p:sp>
    </p:spTree>
    <p:extLst>
      <p:ext uri="{BB962C8B-B14F-4D97-AF65-F5344CB8AC3E}">
        <p14:creationId xmlns:p14="http://schemas.microsoft.com/office/powerpoint/2010/main" val="65318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직사각형 7"/>
          <p:cNvSpPr/>
          <p:nvPr/>
        </p:nvSpPr>
        <p:spPr>
          <a:xfrm>
            <a:off x="2827521" y="2161629"/>
            <a:ext cx="4980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https://m.blog.naver.com/euue717/222097529899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27521" y="2685732"/>
            <a:ext cx="5076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https://www.ips.co.kr/ko/mo/business/product.php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827521" y="1632239"/>
            <a:ext cx="2164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https://chatgpt.com/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5547" y="11309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출처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05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hlinkClick r:id="rId4"/>
          </p:cNvPr>
          <p:cNvSpPr/>
          <p:nvPr/>
        </p:nvSpPr>
        <p:spPr>
          <a:xfrm>
            <a:off x="3704928" y="5097197"/>
            <a:ext cx="4782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4"/>
              </a:rPr>
              <a:t>https://www.youtube.com/shorts/9Kb2_XDQGLY</a:t>
            </a:r>
            <a:endParaRPr lang="ko-KR" altLang="en-US" dirty="0"/>
          </a:p>
        </p:txBody>
      </p:sp>
      <p:pic>
        <p:nvPicPr>
          <p:cNvPr id="13" name="9Kb2_XDQGLY"/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522621" y="798345"/>
            <a:ext cx="6580384" cy="37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1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E4GA9Lo9r0w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179912" y="672264"/>
            <a:ext cx="7820526" cy="43990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97442" y="5654842"/>
            <a:ext cx="4985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5"/>
              </a:rPr>
              <a:t>https://www.youtube.com/watch?v=E4GA9Lo9r0w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24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3633537" y="1335505"/>
            <a:ext cx="5118709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dirty="0" smtClean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85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874</Words>
  <Application>Microsoft Office PowerPoint</Application>
  <DocSecurity>0</DocSecurity>
  <PresentationFormat>와이드스크린</PresentationFormat>
  <Paragraphs>264</Paragraphs>
  <Slides>14</Slides>
  <Notes>14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23</cp:revision>
  <dcterms:created xsi:type="dcterms:W3CDTF">2026-06-15T03:24:02Z</dcterms:created>
  <dcterms:modified xsi:type="dcterms:W3CDTF">2026-06-29T07:35:23Z</dcterms:modified>
</cp:coreProperties>
</file>