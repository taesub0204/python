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588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A3D6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6217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바이브코딩 사전설계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PECVD 반도체 증착장비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시뮬레이터 코딩 전 설계 문서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5394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기획서  ·  입출력 데이터 정의서  ·  시나리오 설계서  ·  UI 설계서  ·  기능명세서  ·  로그 설계서  ·  바이브코딩 프롬프트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2026-07-03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640080" y="3794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dirty="0" smtClean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반도체융합대학 반도체장비소프트웨어과 </a:t>
            </a:r>
            <a:r>
              <a:rPr lang="ko-KR" altLang="en-US" sz="2600" dirty="0" err="1" smtClean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조태섭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EQUIPMENT PLANNING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 기획서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PECVD 시뮬레이터 사전설계 · 장비데이터분석프로그래밍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532120" cy="4892040"/>
          </a:xfrm>
          <a:prstGeom prst="roundRect">
            <a:avLst>
              <a:gd name="adj" fmla="val 1495"/>
            </a:avLst>
          </a:prstGeom>
          <a:solidFill>
            <a:srgbClr val="E8F1F5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대상 장비 개요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6112" y="220370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20939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장비명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23160" y="207568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PECVD Simulator (Plasma Enhanced Chemical Vapor Deposition)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6112" y="304495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2935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위치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23160" y="291693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8대 반도체 공정 중 ⑤ 증착(Deposition) 단계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" y="38862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3776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23160" y="375818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플라즈마로 소스 가스를 분해해 웨이퍼 위에 절연 박막(SiO₂, SiN, SiON, Low-k) 형성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" y="472744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423160" y="459943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 수업 학생 / 장비 SW 실습용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112" y="556869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5458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결과물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23160" y="54406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시뮬레이터 + 데이터 로그 CSV + 분석 가능 데이터셋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141732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0A3D62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645920"/>
            <a:ext cx="384048" cy="38404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114032" y="1673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시뮬레이터 개발 목적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629400" y="21488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Pressure, Temperature, RF Power, Gas Flow 값을 입력하면 박막 두께·증착 속도·균일도·공정 상태를 계산하고, 모든 결과를 CSV 로그로 저장하는 프로그램을 만든다.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629400" y="32004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① 입력값 설정 ② 공정 시작/정지 ③ 실시간 그래프 ④ 정상/주의/위험 판정 ⑤ CSV 로그 저장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355080" y="3931920"/>
            <a:ext cx="5257800" cy="2377440"/>
          </a:xfrm>
          <a:prstGeom prst="roundRect">
            <a:avLst>
              <a:gd name="adj" fmla="val 3077"/>
            </a:avLst>
          </a:prstGeom>
          <a:solidFill>
            <a:srgbClr val="E8F1F5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6294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PECVD 반복 공정 흐름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629400" y="457200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7D3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29400" y="457200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(Photo)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799832" y="457200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3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982712" y="457200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7D3D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82712" y="457200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식각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(Etching)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9153144" y="457200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3"/>
                </a:solidFill>
              </a:rPr>
              <a:t>→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9336024" y="457200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336024" y="457200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PECVD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(절연막 증착)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0506456" y="457200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3"/>
                </a:solidFill>
              </a:rPr>
              <a:t>→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10689336" y="4572000"/>
            <a:ext cx="11704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7D3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689336" y="457200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(평탄화)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629400" y="5623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흐름이 층마다 여러 번 반복되며 다층 회로가 완성됨 (강조: PECVD가 매 층 절연막 형성 담당)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I/O DATA SPEC · 1/2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입출력 데이터 정의서 — 입력 데이터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PECVD 시뮬레이터 사전설계 · 장비데이터분석프로그래밍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11109960" cy="384048"/>
          </a:xfrm>
          <a:prstGeom prst="roundRect">
            <a:avLst>
              <a:gd name="adj" fmla="val 14286"/>
            </a:avLst>
          </a:prstGeom>
          <a:solidFill>
            <a:srgbClr val="0A3D6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2588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입력값(공정 파라미터)이 출력값(박막 품질)을 결정하는 인과 구조 — 시뮬레이터의 핵심 로직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입력 변수 (수업 판정 기준 반영)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109960" cy="22860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데이터명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단위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정상 범위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UI 표시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분석 활용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3238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Pressure (챔버 압력)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Torr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0.8 ~ 1.2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슬라이더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Uniformity 계산·압력 이상 탐지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3238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Temperature (히터 온도)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℃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380 ~ 420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슬라이더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Thickness 계산의 핵심 변수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3238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RF Power (플라즈마 출력)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W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250 ~ 350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슬라이더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Thickness 계산·플라즈마 안정성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3238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Gas Flow (SiH₄ 총유량)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sccm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80 ~ 120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슬라이더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유량 변화·이상 주입 시나리오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확장 입력 변수 (장비 조사 심화 — 추가 조사 반영)</a:t>
            </a:r>
            <a:endParaRPr lang="en-US" sz="13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109960" cy="131673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데이터명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단위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정상 범위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</a:rPr>
                        <a:t>NH₃ Flow (암모니아 유량)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</a:rPr>
                        <a:t>sccm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</a:rPr>
                        <a:t>50 ~ 300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</a:rPr>
                        <a:t>SiN 박막 형성 시 질소원 공급, 굴절률에 영향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</a:rPr>
                        <a:t>N₂ Flow (질소 유량)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</a:rPr>
                        <a:t>sccm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</a:rPr>
                        <a:t>100 ~ 1000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</a:rPr>
                        <a:t>희석/캐리어 가스, 플라즈마 안정성 조절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</a:rPr>
                        <a:t>Process Time (공정 시간)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</a:rPr>
                        <a:t>sec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</a:rPr>
                        <a:t>30 ~ 300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</a:rPr>
                        <a:t>길수록 두께 증가, Deposition Rate 산출 기준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48640" y="5989320"/>
            <a:ext cx="11109960" cy="457200"/>
          </a:xfrm>
          <a:prstGeom prst="roundRect">
            <a:avLst>
              <a:gd name="adj" fmla="val 12000"/>
            </a:avLst>
          </a:prstGeom>
          <a:solidFill>
            <a:srgbClr val="FFF4DE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8990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5989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보완 조사 완료: 원본 자료엔 변수명만 있었음 → 수업 판정 기준(정상범위·핵심 4변수)과 국내 PECVD 장비 사양을 참고해 단위·범위 확정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I/O DATA SPEC · 2/2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입출력 데이터 정의서 — 출력 데이터 · 판정 로직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PECVD 시뮬레이터 사전설계 · 장비데이터분석프로그래밍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307238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데이터명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단위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정상 범위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UI 표시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산출/판정 방식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3238"/>
                          </a:solidFill>
                        </a:rPr>
                        <a:t>Output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Thickness (박막 두께)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nm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480 ~ 560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결과 카드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500 + (Temp-400)×2 + (RF-300)×0.5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3238"/>
                          </a:solidFill>
                        </a:rPr>
                        <a:t>Output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Uniformity (막 균일도)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≥ 95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게이지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98 − |Pressure−1.0| × 10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3238"/>
                          </a:solidFill>
                        </a:rPr>
                        <a:t>Output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Deposition Rate (증착 속도)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nm/min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참고값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결과 카드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Thickness ÷ Process Time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3238"/>
                          </a:solidFill>
                        </a:rPr>
                        <a:t>Output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Status (장비 상태)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enum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상태 카드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IDLE / RUNNING / WARNING / FAULT / COMPLETE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3238"/>
                          </a:solidFill>
                        </a:rPr>
                        <a:t>Log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Result (최종 판정)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OK/NG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상태 카드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우측 판정 로직 참조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434840"/>
            <a:ext cx="11109960" cy="2057400"/>
          </a:xfrm>
          <a:prstGeom prst="roundRect">
            <a:avLst>
              <a:gd name="adj" fmla="val 3556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판정 로직 (수업 기준 그대로 적용)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49377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Uniformity ≥ 95%  그리고  480 ≤ Thickness ≤ 560   →   Result = OK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그 외의 경우   →   Result = 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0" y="4617720"/>
            <a:ext cx="0" cy="1737360"/>
          </a:xfrm>
          <a:prstGeom prst="line">
            <a:avLst/>
          </a:prstGeom>
          <a:noFill/>
          <a:ln w="12700">
            <a:solidFill>
              <a:srgbClr val="3D52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43800" y="4572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상태(Status) 단계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43800" y="4864608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→ RUNNING (정상 공정)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(주의: 기준 근접)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(위험: 기준 이탈, Result=NG)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(목표 두께 도달, 자동 정지)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SCENARIO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정상 / 이상 시나리오 설계서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PECVD 시뮬레이터 사전설계 · 장비데이터분석프로그래밍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시나리오 예시: PECVD 증착 공정 (목표 두께 도달까지 총 120초 가정)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611880" cy="2423160"/>
          </a:xfrm>
          <a:prstGeom prst="roundRect">
            <a:avLst>
              <a:gd name="adj" fmla="val 3019"/>
            </a:avLst>
          </a:prstGeom>
          <a:solidFill>
            <a:srgbClr val="EAF7EF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116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2011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0~90초 · 정상 공정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2514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RUNNING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28803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0.8~1.2 Torr, Temp 380~420℃, RF 250~350W 정상범위 유지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Thickness가 선형으로 증가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Uniformity 95% 이상 안정 유지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160520" y="28346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3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97680" y="1828800"/>
            <a:ext cx="3611880" cy="2423160"/>
          </a:xfrm>
          <a:prstGeom prst="roundRect">
            <a:avLst>
              <a:gd name="adj" fmla="val 3019"/>
            </a:avLst>
          </a:prstGeom>
          <a:solidFill>
            <a:srgbClr val="FFF4DE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0116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37760" y="2011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91~110초 · 주의 상태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26280" y="2514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WARNING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26280" y="28803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Flow가 100 → 75sccm으로 저하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Uniformity가 95% 근처까지 흔들림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증가 속도 둔화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7909560" y="28346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3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046720" y="1828800"/>
            <a:ext cx="3611880" cy="2423160"/>
          </a:xfrm>
          <a:prstGeom prst="roundRect">
            <a:avLst>
              <a:gd name="adj" fmla="val 3019"/>
            </a:avLst>
          </a:prstGeom>
          <a:solidFill>
            <a:srgbClr val="FBEAEA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01168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86800" y="2011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111~120초 · 위험/고장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275320" y="2514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FAULT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275320" y="28803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Pressure가 1.4 Torr로 급변 (정상범위 이탈)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Uniformity &lt; 90%로 급락 → Result = 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알람 발생, 장비 자동 정지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48640" y="44348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E8F1F5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645152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34440" y="44348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완료(COMPLETE): 목표 두께(예: 520nm) 도달 또는 Process Time 종료 시 자동 정지, Status = COMPLETE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544068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</p:sp>
      <p:sp>
        <p:nvSpPr>
          <p:cNvPr id="29" name="Text 23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판정 요약  </a:t>
            </a: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Uniformity ≥ 95%  그리고  480 ≤ Thickness ≤ 560  →  OK   /   그 외  →  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UI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화면 설계서 — 시뮬레이터 대시보드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PECVD 시뮬레이터 사전설계 · 장비데이터분석프로그래밍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406640" cy="4937760"/>
          </a:xfrm>
          <a:prstGeom prst="roundRect">
            <a:avLst>
              <a:gd name="adj" fmla="val 1111"/>
            </a:avLst>
          </a:prstGeom>
          <a:solidFill>
            <a:srgbClr val="1B2A4A"/>
          </a:solidFill>
          <a:ln/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5087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PECVD Simulator — Control Panel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06640" y="1554480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Shape 8"/>
          <p:cNvSpPr/>
          <p:nvPr/>
        </p:nvSpPr>
        <p:spPr>
          <a:xfrm>
            <a:off x="7150608" y="155448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Shape 9"/>
          <p:cNvSpPr/>
          <p:nvPr/>
        </p:nvSpPr>
        <p:spPr>
          <a:xfrm>
            <a:off x="6894576" y="1554480"/>
            <a:ext cx="128016" cy="12801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1965960"/>
            <a:ext cx="3246120" cy="4160520"/>
          </a:xfrm>
          <a:prstGeom prst="roundRect">
            <a:avLst>
              <a:gd name="adj" fmla="val 1408"/>
            </a:avLst>
          </a:prstGeom>
          <a:solidFill>
            <a:srgbClr val="23345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입력 제어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377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(Torr)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60120" y="2615184"/>
            <a:ext cx="2788920" cy="54864"/>
          </a:xfrm>
          <a:prstGeom prst="rect">
            <a:avLst/>
          </a:prstGeom>
          <a:solidFill>
            <a:srgbClr val="3D5273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7369" y="2551176"/>
            <a:ext cx="182880" cy="1828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8712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(℃)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60120" y="3108960"/>
            <a:ext cx="2788920" cy="54864"/>
          </a:xfrm>
          <a:prstGeom prst="rect">
            <a:avLst/>
          </a:prstGeom>
          <a:solidFill>
            <a:srgbClr val="3D5273"/>
          </a:solidFill>
          <a:ln/>
        </p:spPr>
      </p:sp>
      <p:sp>
        <p:nvSpPr>
          <p:cNvPr id="19" name="Shape 17"/>
          <p:cNvSpPr/>
          <p:nvPr/>
        </p:nvSpPr>
        <p:spPr>
          <a:xfrm>
            <a:off x="2097610" y="3044952"/>
            <a:ext cx="182880" cy="1828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3649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Power (W)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60120" y="3602736"/>
            <a:ext cx="2788920" cy="54864"/>
          </a:xfrm>
          <a:prstGeom prst="rect">
            <a:avLst/>
          </a:prstGeom>
          <a:solidFill>
            <a:srgbClr val="3D5273"/>
          </a:solidFill>
          <a:ln/>
        </p:spPr>
      </p:sp>
      <p:sp>
        <p:nvSpPr>
          <p:cNvPr id="22" name="Shape 20"/>
          <p:cNvSpPr/>
          <p:nvPr/>
        </p:nvSpPr>
        <p:spPr>
          <a:xfrm>
            <a:off x="2613980" y="3538728"/>
            <a:ext cx="182880" cy="1828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858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Flow (sccm)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60120" y="4096512"/>
            <a:ext cx="2788920" cy="54864"/>
          </a:xfrm>
          <a:prstGeom prst="rect">
            <a:avLst/>
          </a:prstGeom>
          <a:solidFill>
            <a:srgbClr val="3D5273"/>
          </a:solidFill>
          <a:ln/>
        </p:spPr>
      </p:sp>
      <p:sp>
        <p:nvSpPr>
          <p:cNvPr id="25" name="Shape 23"/>
          <p:cNvSpPr/>
          <p:nvPr/>
        </p:nvSpPr>
        <p:spPr>
          <a:xfrm>
            <a:off x="2366423" y="4032504"/>
            <a:ext cx="182880" cy="1828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120" y="4407408"/>
            <a:ext cx="2788920" cy="292608"/>
          </a:xfrm>
          <a:prstGeom prst="roundRect">
            <a:avLst>
              <a:gd name="adj" fmla="val 15625"/>
            </a:avLst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44074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Start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60120" y="4754880"/>
            <a:ext cx="2788920" cy="292608"/>
          </a:xfrm>
          <a:prstGeom prst="roundRect">
            <a:avLst>
              <a:gd name="adj" fmla="val 15625"/>
            </a:avLst>
          </a:prstGeom>
          <a:solidFill>
            <a:srgbClr val="3D5273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47548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Stop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60120" y="5102352"/>
            <a:ext cx="2788920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1023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Fault Injection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0120" y="5449824"/>
            <a:ext cx="2788920" cy="292608"/>
          </a:xfrm>
          <a:prstGeom prst="roundRect">
            <a:avLst>
              <a:gd name="adj" fmla="val 15625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544982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Save CSV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0120" y="5797296"/>
            <a:ext cx="2788920" cy="292608"/>
          </a:xfrm>
          <a:prstGeom prst="roundRect">
            <a:avLst>
              <a:gd name="adj" fmla="val 15625"/>
            </a:avLst>
          </a:prstGeom>
          <a:solidFill>
            <a:srgbClr val="3D5273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57972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Reset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60520" y="1965960"/>
            <a:ext cx="3566160" cy="1965960"/>
          </a:xfrm>
          <a:prstGeom prst="roundRect">
            <a:avLst>
              <a:gd name="adj" fmla="val 2326"/>
            </a:avLst>
          </a:prstGeom>
          <a:solidFill>
            <a:srgbClr val="23345A"/>
          </a:solidFill>
          <a:ln/>
        </p:spPr>
      </p:sp>
      <p:sp>
        <p:nvSpPr>
          <p:cNvPr id="37" name="Text 35"/>
          <p:cNvSpPr/>
          <p:nvPr/>
        </p:nvSpPr>
        <p:spPr>
          <a:xfrm>
            <a:off x="43434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상태 카드 / 결과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343400" y="2487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520 nm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343400" y="28163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35040" y="2487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97 %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035040" y="28163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43400" y="3172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343400" y="3502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35040" y="3172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035040" y="3502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160520" y="4069080"/>
            <a:ext cx="3566160" cy="2057400"/>
          </a:xfrm>
          <a:prstGeom prst="roundRect">
            <a:avLst>
              <a:gd name="adj" fmla="val 2222"/>
            </a:avLst>
          </a:prstGeom>
          <a:solidFill>
            <a:srgbClr val="23345A"/>
          </a:solidFill>
          <a:ln/>
        </p:spPr>
      </p:sp>
      <p:sp>
        <p:nvSpPr>
          <p:cNvPr id="47" name="Text 45"/>
          <p:cNvSpPr/>
          <p:nvPr/>
        </p:nvSpPr>
        <p:spPr>
          <a:xfrm>
            <a:off x="434340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실시간 그래프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389120" y="3412998"/>
            <a:ext cx="457200" cy="12573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3538728"/>
            <a:ext cx="45720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03520" y="3337560"/>
            <a:ext cx="457200" cy="150876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0" y="3488436"/>
            <a:ext cx="45720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0" y="3186684"/>
            <a:ext cx="457200" cy="100584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75120" y="3287268"/>
            <a:ext cx="45720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83880" y="1371600"/>
            <a:ext cx="3474720" cy="4937760"/>
          </a:xfrm>
          <a:prstGeom prst="roundRect">
            <a:avLst>
              <a:gd name="adj" fmla="val 2105"/>
            </a:avLst>
          </a:prstGeom>
          <a:solidFill>
            <a:srgbClr val="E8F1F5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41248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 구성요소 설계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41248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입력 제어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412480" y="22219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Pressure/Temp/RF/Gas Flow 슬라이더, 정상범위 밖 입력 시 경고색 표시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412480" y="2834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 버튼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412480" y="30906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· Stop · Fault Injection · Save CSV · Reset (5개)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41248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상태 카드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412480" y="39593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IDLE/RUNNING/WARNING/FAULT/COMPLETE + Result(OK/NG) 표시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41248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실시간 그래프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412480" y="48280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시간에 따른 Thickness·Uniformity 변화 라인 차트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412480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로그 테이블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8412480" y="56967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timestamp·input·output·status 누적 표시 (다음 슬라이드 참고)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FUNCTIONAL SPEC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기능명세서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PECVD 시뮬레이터 사전설계 · 장비데이터분석프로그래밍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하나가 무슨 일을 하는지 먼저 글로 정의한다 (수업 표준 양식)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09960" cy="351129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기능명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사용자 동작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처리 내용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출력/화면 변화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공정 시작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Start 버튼 클릭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입력값(Pressure/Temp/RF/Gas Flow) 읽기, 타이머 시작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Status = RUNNING, 그래프·로그 생성 시작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공정 정지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Stop 버튼 클릭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타이머 중지, 현재 데이터 저장 가능 상태로 전환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Status = STOPPED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이상 주입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Fault Injection 클릭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Pressure 급변 또는 Gas Flow 저하 시나리오 강제 적용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Status = WARNING / FAULT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로그 저장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Save CSV 클릭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현재 로그 DataFrame을 CSV로 저장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pecvd_log.csv 생성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리셋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Reset 버튼 클릭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입력값 / 그래프 / 로그 초기화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Status = IDLE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62356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E8F1F5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판정 로직  </a:t>
            </a: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Uniformity ≥ 95% and 480 ≤ Thickness ≤ 560 → OK,  그 외 → NG  (if문/함수로 구현)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LOG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로그 설계서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PECVD 시뮬레이터 사전설계 · 장비데이터분석프로그래밍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로그 스키마 (1행 = 1회 시뮬레이션 실행)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09960" cy="405993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예시 값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timestamp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datetime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2026-07-03 14:22:01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데이터 생성 시각 (자동 기록)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equipment_id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PECVD-01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장비 ID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pressure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1.0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챔버 압력 (Torr)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temp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400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히터 온도 (℃)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rf_power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300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RF 플라즈마 출력 (W)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gas_flow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가스 유량 (sccm)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thickness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520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박막 두께 (nm)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uniformity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97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막 균일도 (%)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deposition_rate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130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증착 속도 (nm/min)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enum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RUNNING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장비 상태 5단계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result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enum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최종 품질 판정 (OK/NG)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548640" y="566928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값: IDLE · RUNNING · WARNING · FAULT · COMPLETE     |     result 값: OK · 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6016752"/>
            <a:ext cx="5440680" cy="548640"/>
          </a:xfrm>
          <a:prstGeom prst="roundRect">
            <a:avLst>
              <a:gd name="adj" fmla="val 13333"/>
            </a:avLst>
          </a:prstGeom>
          <a:solidFill>
            <a:srgbClr val="E8F1F5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60167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형식  </a:t>
            </a: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(equipment_log.csv) 자동 저장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72200" y="6016752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E8F1F5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60167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계획  </a:t>
            </a: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 분석·이상탐지·품질예측(Regression) 학습 데이터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VIBE CODING PROMPT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바이브코딩 프롬프트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PECVD 시뮬레이터 사전설계 · 장비데이터분석프로그래밍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11109960" cy="5166360"/>
          </a:xfrm>
          <a:prstGeom prst="roundRect">
            <a:avLst>
              <a:gd name="adj" fmla="val 1416"/>
            </a:avLst>
          </a:prstGeom>
          <a:solidFill>
            <a:srgbClr val="1B2A4A"/>
          </a:solidFill>
          <a:ln/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/ ChatGPT에 입력할 실전 프롬프트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1828800"/>
            <a:ext cx="10561320" cy="4434840"/>
          </a:xfrm>
          <a:prstGeom prst="roundRect">
            <a:avLst>
              <a:gd name="adj" fmla="val 1237"/>
            </a:avLst>
          </a:prstGeom>
          <a:solidFill>
            <a:srgbClr val="0F2038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1965960"/>
            <a:ext cx="101041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너는 Python Streamlit 기반 반도체 장비 시뮬레이터 개발자다.</a:t>
            </a: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[장비] 장비명: PECVD Simulator</a:t>
            </a: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목적: Pressure, Temperature, RF Power, Gas Flow를 입력하여</a:t>
            </a: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Thickness, Uniformity, Deposition Rate, Status를 출력한다.</a:t>
            </a: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[입력 데이터] pressure(Torr,0.8~1.2), temp(℃,380~420),</a:t>
            </a: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rf_power(W,250~350), gas_flow(sccm,80~120)</a:t>
            </a: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[출력 데이터]</a:t>
            </a: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thickness(nm) = 500 + (temp-400)*2 + (rf_power-300)*0.5</a:t>
            </a: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uniformity(%) = 98 - abs(pressure-1.0)*10</a:t>
            </a: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deposition_rate(nm/min) = thickness / process_time</a:t>
            </a: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status(IDLE/RUNNING/WARNING/FAULT/COMPLETE), result(OK/NG)</a:t>
            </a: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[판정 로직] uniformity&gt;=95 and 480&lt;=thickness&lt;=560 → "OK", 그 외 → "NG"</a:t>
            </a: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[UI] 사이드바 입력 슬라이더, Start/Stop/Fault Injection/Save CSV/Reset 버튼,</a:t>
            </a: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실시간 그래프, 로그 테이블</a:t>
            </a: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[저장] equipment_log.csv로 timestamp, equipment_id, input, output, status, result 저장</a:t>
            </a: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endParaRPr lang="en-US" sz="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초보자가 VS Code에서 바로 실행 가능하게, 주석 포함 전체 소스와 실행 방법을 함께 작성해줘.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1428</Words>
  <Application>Microsoft Office PowerPoint</Application>
  <PresentationFormat>와이드스크린</PresentationFormat>
  <Paragraphs>322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PECVD 시뮬레이터 사전설계</dc:title>
  <dc:subject>PptxGenJS Presentation</dc:subject>
  <dc:creator>Student</dc:creator>
  <cp:lastModifiedBy>user</cp:lastModifiedBy>
  <cp:revision>2</cp:revision>
  <dcterms:created xsi:type="dcterms:W3CDTF">2026-07-03T05:20:07Z</dcterms:created>
  <dcterms:modified xsi:type="dcterms:W3CDTF">2026-07-03T05:59:55Z</dcterms:modified>
</cp:coreProperties>
</file>