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4" r:id="rId8"/>
    <p:sldId id="265" r:id="rId9"/>
    <p:sldId id="261" r:id="rId10"/>
    <p:sldId id="266" r:id="rId11"/>
    <p:sldId id="262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65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48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9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98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85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4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7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46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41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27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4E261-16A8-4B04-AEA8-9431CE08433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17E2B-B2E3-4280-958E-50085A3C0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9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1631" y="1230923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장비명</a:t>
            </a:r>
            <a:r>
              <a:rPr lang="en-US" altLang="ko-KR" dirty="0" smtClean="0"/>
              <a:t>: PECVD </a:t>
            </a:r>
            <a:r>
              <a:rPr lang="ko-KR" altLang="en-US" dirty="0" smtClean="0"/>
              <a:t>장비 시뮬레이터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31631" y="2409874"/>
            <a:ext cx="507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공정 역할</a:t>
            </a:r>
            <a:r>
              <a:rPr lang="en-US" altLang="ko-KR" dirty="0" smtClean="0"/>
              <a:t>: </a:t>
            </a:r>
            <a:r>
              <a:rPr lang="ko-KR" altLang="en-US" dirty="0" smtClean="0"/>
              <a:t> 이 장비가 반도체 공정에서 하는 일</a:t>
            </a:r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31631" y="1843482"/>
            <a:ext cx="858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개발 목적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장비 동작을 제어하고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데이터를 생성</a:t>
            </a:r>
            <a:r>
              <a:rPr lang="en-US" altLang="ko-KR" dirty="0" smtClean="0"/>
              <a:t>·</a:t>
            </a:r>
            <a:r>
              <a:rPr lang="ko-KR" altLang="en-US" dirty="0" smtClean="0"/>
              <a:t>저장</a:t>
            </a:r>
            <a:r>
              <a:rPr lang="en-US" altLang="ko-KR" dirty="0" smtClean="0"/>
              <a:t>·</a:t>
            </a:r>
            <a:r>
              <a:rPr lang="ko-KR" altLang="en-US" dirty="0" smtClean="0"/>
              <a:t>분석하기 위한 시뮬레이터</a:t>
            </a:r>
          </a:p>
          <a:p>
            <a:endParaRPr lang="en-US" altLang="ko-KR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031631" y="3056205"/>
            <a:ext cx="627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사용자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학생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장비 엔지니어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공정 엔지니어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 분석가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31630" y="3622597"/>
            <a:ext cx="765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최종 결과물 </a:t>
            </a:r>
            <a:r>
              <a:rPr lang="en-US" altLang="ko-KR" dirty="0" smtClean="0"/>
              <a:t>:  UI </a:t>
            </a:r>
            <a:r>
              <a:rPr lang="ko-KR" altLang="en-US" dirty="0" smtClean="0"/>
              <a:t>시뮬레이터 </a:t>
            </a:r>
            <a:r>
              <a:rPr lang="en-US" altLang="ko-KR" dirty="0" smtClean="0"/>
              <a:t>+ </a:t>
            </a:r>
            <a:r>
              <a:rPr lang="ko-KR" altLang="en-US" dirty="0" smtClean="0"/>
              <a:t>데이터 로그 </a:t>
            </a:r>
            <a:r>
              <a:rPr lang="en-US" altLang="ko-KR" dirty="0" smtClean="0"/>
              <a:t>CSV + </a:t>
            </a:r>
            <a:r>
              <a:rPr lang="ko-KR" altLang="en-US" dirty="0" smtClean="0"/>
              <a:t>분석 가능 데이터 셋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315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4969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입출력 데이터 정의서</a:t>
            </a:r>
            <a:r>
              <a:rPr lang="en-US" altLang="ko-KR" dirty="0" smtClean="0"/>
              <a:t>(Input/Output/Log </a:t>
            </a:r>
            <a:r>
              <a:rPr lang="ko-KR" altLang="en-US" dirty="0" smtClean="0"/>
              <a:t>컬럼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입력 데이터 정의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16347"/>
              </p:ext>
            </p:extLst>
          </p:nvPr>
        </p:nvGraphicFramePr>
        <p:xfrm>
          <a:off x="0" y="1250070"/>
          <a:ext cx="12192000" cy="5621837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37811039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34295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366354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654397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220514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52009836"/>
                    </a:ext>
                  </a:extLst>
                </a:gridCol>
              </a:tblGrid>
              <a:tr h="21068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데이터명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단위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정상범위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표시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분석활용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486611"/>
                  </a:ext>
                </a:extLst>
              </a:tr>
              <a:tr h="7333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Chamber Pressure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챔버 압력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Torr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1.5 ~ 2.5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스핀박스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그래프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압력 변동에 따른 플라즈마 밀도 및 균일도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(Uniformity)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영향 분석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656418"/>
                  </a:ext>
                </a:extLst>
              </a:tr>
              <a:tr h="7333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Heater Temperature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히터 온도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°C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300.0 ~ 400.0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슬라이더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수치 텍스트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온도 변화와 화학 반응 속도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증착 속도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간의 상관성 회귀 분석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494959"/>
                  </a:ext>
                </a:extLst>
              </a:tr>
              <a:tr h="86531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RF Power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플라즈마 출력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 ~ 500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스핀박스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그래프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플라즈마 에너지 세기와 증착 속도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(Depletion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효과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간 비선형 모델링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366522"/>
                  </a:ext>
                </a:extLst>
              </a:tr>
              <a:tr h="7333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SiH₄ Flow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실란 가스 유량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sccm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40.0 ~ 80.0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스핀박스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가스 애니메이션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메인 소스 가스 주입량에 따른 박막 성장 속도 제어 분석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81474"/>
                  </a:ext>
                </a:extLst>
              </a:tr>
              <a:tr h="7333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NH₃ Flow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암모니아 가스 유량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sccm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100.0 ~ 200.0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스핀박스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가스 유량 비율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(SiH₄/NH₃)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변경에 따른 박막 특성 최적화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(DOE)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42057"/>
                  </a:ext>
                </a:extLst>
              </a:tr>
              <a:tr h="86531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N₂ Flow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질소 유량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sccm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300.0 ~ 800.0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스핀박스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캐리어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퍼지 가스가 챔버 내 기류 안정성 및 압력 유지에 미치는 영향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121956"/>
                  </a:ext>
                </a:extLst>
              </a:tr>
              <a:tr h="7333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 Time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시간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 ~ 120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타이머 설정창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카운트다운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시간 경과에 따른 누적 박막 두께 성장 분석 및 종점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(EPD) 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제어</a:t>
                      </a:r>
                    </a:p>
                  </a:txBody>
                  <a:tcPr marL="42716" marR="42716" marT="28477" marB="2847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433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278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4969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입출력 데이터 정의서</a:t>
            </a:r>
            <a:r>
              <a:rPr lang="en-US" altLang="ko-KR" dirty="0" smtClean="0"/>
              <a:t>(Input/Output/Log </a:t>
            </a:r>
            <a:r>
              <a:rPr lang="ko-KR" altLang="en-US" dirty="0" smtClean="0"/>
              <a:t>컬럼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출력 데이터 정의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27291"/>
              </p:ext>
            </p:extLst>
          </p:nvPr>
        </p:nvGraphicFramePr>
        <p:xfrm>
          <a:off x="0" y="1250069"/>
          <a:ext cx="12192000" cy="5613414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10230104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08375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38987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634263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188771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32866011"/>
                    </a:ext>
                  </a:extLst>
                </a:gridCol>
              </a:tblGrid>
              <a:tr h="224318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데이터명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단위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정상범위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표시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분석활용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129065"/>
                  </a:ext>
                </a:extLst>
              </a:tr>
              <a:tr h="108954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출력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Film Thickness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박막 두께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Å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목표값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±5%</a:t>
                      </a:r>
                    </a:p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950~1050)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누적 수치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최종 리포트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가상 계측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(Virtual Metrology)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알고리즘 기반 최종 박막 두께 예측 모델 평가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39259"/>
                  </a:ext>
                </a:extLst>
              </a:tr>
              <a:tr h="80113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출력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Deposition Rate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증착 속도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Å/sec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15.0 ~ 25.0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시계열 그래프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제어 변수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파워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온도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유량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독립 변수로 하는 다중 회귀 분석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(MLR)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375212"/>
                  </a:ext>
                </a:extLst>
              </a:tr>
              <a:tr h="945336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출력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Uniformity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막 균일도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%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 3.0%</a:t>
                      </a:r>
                    </a:p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낮을수록 우수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게이지 차트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임계치 라인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통계적 공정 제어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(SPC)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기법을 적용한 공정 산포 및 이상 감지 실습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71481"/>
                  </a:ext>
                </a:extLst>
              </a:tr>
              <a:tr h="80113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출력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Defect Count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결함 수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ea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 ~ 3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결함 카운터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알람 팝업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과출력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고압 등 공정 이상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(Fault)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파티클 발생 간의 상관성 분석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893117"/>
                  </a:ext>
                </a:extLst>
              </a:tr>
              <a:tr h="80113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출력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Yield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%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95.0 ~ 100.0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대형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KPI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대시보드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균일도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·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결함수 데이터를 통합한 최종 생산 수율 예측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ML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모델링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077735"/>
                  </a:ext>
                </a:extLst>
              </a:tr>
              <a:tr h="945336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출력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 Result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상태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Normal</a:t>
                      </a:r>
                    </a:p>
                    <a:p>
                      <a:pPr rtl="0"/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정상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3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색 인디케이터</a:t>
                      </a:r>
                    </a:p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Green/Yellow/Red)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FDC(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이상 감지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모델 </a:t>
                      </a:r>
                      <a:r>
                        <a:rPr lang="ko-KR" altLang="en-US" sz="11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지도학습을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위한 정상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주의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이상 </a:t>
                      </a:r>
                      <a:r>
                        <a:rPr lang="ko-KR" altLang="en-US" sz="11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라벨링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데이터</a:t>
                      </a:r>
                    </a:p>
                  </a:txBody>
                  <a:tcPr marL="46621" marR="46621" marT="31081" marB="3108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35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93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4650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시나리오 설계서</a:t>
            </a:r>
            <a:r>
              <a:rPr lang="en-US" altLang="ko-KR" dirty="0" smtClean="0"/>
              <a:t>:</a:t>
            </a:r>
            <a:r>
              <a:rPr lang="ko-KR" altLang="en-US" dirty="0"/>
              <a:t> </a:t>
            </a:r>
            <a:r>
              <a:rPr lang="ko-KR" altLang="en-US" dirty="0" smtClean="0"/>
              <a:t>정상 이상</a:t>
            </a:r>
            <a:r>
              <a:rPr lang="en-US" altLang="ko-KR" dirty="0"/>
              <a:t> </a:t>
            </a:r>
            <a:r>
              <a:rPr lang="ko-KR" altLang="en-US" dirty="0" smtClean="0"/>
              <a:t>공정 완료 상황</a:t>
            </a:r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13756" y="1363108"/>
            <a:ext cx="1237013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• </a:t>
            </a: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정상 공정: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모든 제어값이 안정 범위 내에 있으며 증착 균일도와 수율(95% 이상)이 최상인 상태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• </a:t>
            </a: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주의 상태: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미세한 파라미터 흔들림으로 균일도가 떨어지고 소량의 결함(1~3개)이 발생하기 시작하는 경보 상태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• </a:t>
            </a: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위험 상태: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변수가 임계치를 이탈하여 막 불량이 심화되고 수율 폭락을 유발하는 위험 직면 상태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• </a:t>
            </a: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고장/알람: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아킹·진공 파괴 등 위험 감지(인터록 발동) 시, 전원(RF)과 가스를 즉시 차단하고 강제 종료되는 상태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• </a:t>
            </a: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공정 완료: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설정된 목표 시간에 도달하여 공정을 안전하게 마감하고 최종 결과 데이터(CSV 로그)를 저장한 상태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6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64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UI </a:t>
            </a:r>
            <a:r>
              <a:rPr lang="ko-KR" altLang="en-US" dirty="0" smtClean="0"/>
              <a:t>화면 설계서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화면 구성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버튼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그래프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29" y="436518"/>
            <a:ext cx="9992140" cy="617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0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26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기능명세서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버튼을 누르면 어떤 일이 일어나는가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269151"/>
              </p:ext>
            </p:extLst>
          </p:nvPr>
        </p:nvGraphicFramePr>
        <p:xfrm>
          <a:off x="944711" y="973070"/>
          <a:ext cx="6127392" cy="4351337"/>
        </p:xfrm>
        <a:graphic>
          <a:graphicData uri="http://schemas.openxmlformats.org/drawingml/2006/table">
            <a:tbl>
              <a:tblPr/>
              <a:tblGrid>
                <a:gridCol w="1021232">
                  <a:extLst>
                    <a:ext uri="{9D8B030D-6E8A-4147-A177-3AD203B41FA5}">
                      <a16:colId xmlns:a16="http://schemas.microsoft.com/office/drawing/2014/main" val="2011916981"/>
                    </a:ext>
                  </a:extLst>
                </a:gridCol>
                <a:gridCol w="1021232">
                  <a:extLst>
                    <a:ext uri="{9D8B030D-6E8A-4147-A177-3AD203B41FA5}">
                      <a16:colId xmlns:a16="http://schemas.microsoft.com/office/drawing/2014/main" val="2818821851"/>
                    </a:ext>
                  </a:extLst>
                </a:gridCol>
                <a:gridCol w="1021232">
                  <a:extLst>
                    <a:ext uri="{9D8B030D-6E8A-4147-A177-3AD203B41FA5}">
                      <a16:colId xmlns:a16="http://schemas.microsoft.com/office/drawing/2014/main" val="2438780611"/>
                    </a:ext>
                  </a:extLst>
                </a:gridCol>
                <a:gridCol w="1021232">
                  <a:extLst>
                    <a:ext uri="{9D8B030D-6E8A-4147-A177-3AD203B41FA5}">
                      <a16:colId xmlns:a16="http://schemas.microsoft.com/office/drawing/2014/main" val="119265713"/>
                    </a:ext>
                  </a:extLst>
                </a:gridCol>
                <a:gridCol w="1021232">
                  <a:extLst>
                    <a:ext uri="{9D8B030D-6E8A-4147-A177-3AD203B41FA5}">
                      <a16:colId xmlns:a16="http://schemas.microsoft.com/office/drawing/2014/main" val="1342844958"/>
                    </a:ext>
                  </a:extLst>
                </a:gridCol>
                <a:gridCol w="1021232">
                  <a:extLst>
                    <a:ext uri="{9D8B030D-6E8A-4147-A177-3AD203B41FA5}">
                      <a16:colId xmlns:a16="http://schemas.microsoft.com/office/drawing/2014/main" val="586611419"/>
                    </a:ext>
                  </a:extLst>
                </a:gridCol>
              </a:tblGrid>
              <a:tr h="40849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 </a:t>
                      </a: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대분류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기능명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상세 설명 및 동작 로직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예상 결과 및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반영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비고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591722"/>
                  </a:ext>
                </a:extLst>
              </a:tr>
              <a:tr h="1367563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F-01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파라미터 제어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변수 설정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7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 변수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압력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온도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RF,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유량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종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시간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수치 입력</a:t>
                      </a:r>
                    </a:p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정상 범위 이탈 시 오입력 방지 알림 가동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스핀박스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슬라이더 수치 반영</a:t>
                      </a:r>
                    </a:p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범위 이탈 시 테두리 색상 경고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중 조작 방지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385951"/>
                  </a:ext>
                </a:extLst>
              </a:tr>
              <a:tr h="1527408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F-02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파라미터 제어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레시피 로드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표준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고속 증착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불량 유도 등 프리셋 설정 로드</a:t>
                      </a:r>
                    </a:p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선택 시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 변수값이 저장된 값으로 일괄 변경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[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레시피 로드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]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콤보박스 선택</a:t>
                      </a:r>
                    </a:p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화면 내 전체 수치 일괄 갱신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실습용 기본 제공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417939"/>
                  </a:ext>
                </a:extLst>
              </a:tr>
              <a:tr h="1047873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F-03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파라미터 제어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레시피 저장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사용자가 설정한 현재 </a:t>
                      </a:r>
                      <a:r>
                        <a:rPr lang="ko-KR" alt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파라미터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조합을 새 </a:t>
                      </a:r>
                      <a:r>
                        <a:rPr lang="ko-KR" alt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프리셋으로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저장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[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저장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]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버튼 클릭 후 이름 지정</a:t>
                      </a:r>
                    </a:p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로드 목록에 추가됨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최적화 레시피 실습용</a:t>
                      </a:r>
                    </a:p>
                  </a:txBody>
                  <a:tcPr marL="66602" marR="66602" marT="44401" marB="44401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882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11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26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기능명세서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버튼을 누르면 어떤 일이 일어나는가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71476"/>
              </p:ext>
            </p:extLst>
          </p:nvPr>
        </p:nvGraphicFramePr>
        <p:xfrm>
          <a:off x="926833" y="973070"/>
          <a:ext cx="4938198" cy="4351338"/>
        </p:xfrm>
        <a:graphic>
          <a:graphicData uri="http://schemas.openxmlformats.org/drawingml/2006/table">
            <a:tbl>
              <a:tblPr/>
              <a:tblGrid>
                <a:gridCol w="823033">
                  <a:extLst>
                    <a:ext uri="{9D8B030D-6E8A-4147-A177-3AD203B41FA5}">
                      <a16:colId xmlns:a16="http://schemas.microsoft.com/office/drawing/2014/main" val="3872768572"/>
                    </a:ext>
                  </a:extLst>
                </a:gridCol>
                <a:gridCol w="823033">
                  <a:extLst>
                    <a:ext uri="{9D8B030D-6E8A-4147-A177-3AD203B41FA5}">
                      <a16:colId xmlns:a16="http://schemas.microsoft.com/office/drawing/2014/main" val="1206086535"/>
                    </a:ext>
                  </a:extLst>
                </a:gridCol>
                <a:gridCol w="823033">
                  <a:extLst>
                    <a:ext uri="{9D8B030D-6E8A-4147-A177-3AD203B41FA5}">
                      <a16:colId xmlns:a16="http://schemas.microsoft.com/office/drawing/2014/main" val="3146778417"/>
                    </a:ext>
                  </a:extLst>
                </a:gridCol>
                <a:gridCol w="823033">
                  <a:extLst>
                    <a:ext uri="{9D8B030D-6E8A-4147-A177-3AD203B41FA5}">
                      <a16:colId xmlns:a16="http://schemas.microsoft.com/office/drawing/2014/main" val="615665088"/>
                    </a:ext>
                  </a:extLst>
                </a:gridCol>
                <a:gridCol w="823033">
                  <a:extLst>
                    <a:ext uri="{9D8B030D-6E8A-4147-A177-3AD203B41FA5}">
                      <a16:colId xmlns:a16="http://schemas.microsoft.com/office/drawing/2014/main" val="3733033157"/>
                    </a:ext>
                  </a:extLst>
                </a:gridCol>
                <a:gridCol w="823033">
                  <a:extLst>
                    <a:ext uri="{9D8B030D-6E8A-4147-A177-3AD203B41FA5}">
                      <a16:colId xmlns:a16="http://schemas.microsoft.com/office/drawing/2014/main" val="802439666"/>
                    </a:ext>
                  </a:extLst>
                </a:gridCol>
              </a:tblGrid>
              <a:tr h="329213"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 </a:t>
                      </a: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대분류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기능명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상세 설명 및 동작 로직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예상 결과 및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반영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비고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187847"/>
                  </a:ext>
                </a:extLst>
              </a:tr>
              <a:tr h="844503">
                <a:tc>
                  <a:txBody>
                    <a:bodyPr/>
                    <a:lstStyle/>
                    <a:p>
                      <a:pPr rtl="0"/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F-04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구동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시작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Start)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1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(1Hz)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시계열 타이머 작동 및 시뮬레이션 연산 가동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[▶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시작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]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버튼 클릭</a:t>
                      </a:r>
                    </a:p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진행률 바 실시간 카운트다운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알고리즘 구동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271211"/>
                  </a:ext>
                </a:extLst>
              </a:tr>
              <a:tr h="1102148">
                <a:tc>
                  <a:txBody>
                    <a:bodyPr/>
                    <a:lstStyle/>
                    <a:p>
                      <a:pPr rtl="0"/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F-05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공정 구동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정지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Stop) / 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완료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연산 타이머 중단 및 현재 진행 시점까지의 데이터 마감</a:t>
                      </a:r>
                    </a:p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설정된 공정 시간 도달 시 자동 완료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상태 표시창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'Completed'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표기</a:t>
                      </a:r>
                    </a:p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최종 수율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두께 리포트 생성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071572"/>
                  </a:ext>
                </a:extLst>
              </a:tr>
              <a:tr h="1230971">
                <a:tc>
                  <a:txBody>
                    <a:bodyPr/>
                    <a:lstStyle/>
                    <a:p>
                      <a:pPr rtl="0"/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F-06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모니터링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트렌드 그래프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시간 흐름에 따른 증착 두께 및 속도 실시간 차트 렌더링</a:t>
                      </a:r>
                    </a:p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하한 임계치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(USL/LSL)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가이드라인 제공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1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 주기로 우측으로 이동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스크롤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마우스 오버 시 수치 툴팁 표시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시각적 이상 감지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234266"/>
                  </a:ext>
                </a:extLst>
              </a:tr>
              <a:tr h="844503">
                <a:tc>
                  <a:txBody>
                    <a:bodyPr/>
                    <a:lstStyle/>
                    <a:p>
                      <a:pPr rtl="0"/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F-07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모니터링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상태 판정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FDC)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변수와 결과 품질에 따른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Normal/Warning/Fault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진단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상태 인디케이터 색상 변환</a:t>
                      </a:r>
                    </a:p>
                    <a:p>
                      <a:pPr rtl="0"/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정상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녹색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주의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황색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고장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적색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수율 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90%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미만 경고</a:t>
                      </a:r>
                    </a:p>
                  </a:txBody>
                  <a:tcPr marL="53676" marR="53676" marT="35784" marB="3578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1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01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26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기능명세서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버튼을 누르면 어떤 일이 일어나는가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838305"/>
              </p:ext>
            </p:extLst>
          </p:nvPr>
        </p:nvGraphicFramePr>
        <p:xfrm>
          <a:off x="931772" y="973070"/>
          <a:ext cx="5342388" cy="4351337"/>
        </p:xfrm>
        <a:graphic>
          <a:graphicData uri="http://schemas.openxmlformats.org/drawingml/2006/table">
            <a:tbl>
              <a:tblPr/>
              <a:tblGrid>
                <a:gridCol w="890398">
                  <a:extLst>
                    <a:ext uri="{9D8B030D-6E8A-4147-A177-3AD203B41FA5}">
                      <a16:colId xmlns:a16="http://schemas.microsoft.com/office/drawing/2014/main" val="3171505455"/>
                    </a:ext>
                  </a:extLst>
                </a:gridCol>
                <a:gridCol w="890398">
                  <a:extLst>
                    <a:ext uri="{9D8B030D-6E8A-4147-A177-3AD203B41FA5}">
                      <a16:colId xmlns:a16="http://schemas.microsoft.com/office/drawing/2014/main" val="857021884"/>
                    </a:ext>
                  </a:extLst>
                </a:gridCol>
                <a:gridCol w="890398">
                  <a:extLst>
                    <a:ext uri="{9D8B030D-6E8A-4147-A177-3AD203B41FA5}">
                      <a16:colId xmlns:a16="http://schemas.microsoft.com/office/drawing/2014/main" val="4177774188"/>
                    </a:ext>
                  </a:extLst>
                </a:gridCol>
                <a:gridCol w="890398">
                  <a:extLst>
                    <a:ext uri="{9D8B030D-6E8A-4147-A177-3AD203B41FA5}">
                      <a16:colId xmlns:a16="http://schemas.microsoft.com/office/drawing/2014/main" val="2129903982"/>
                    </a:ext>
                  </a:extLst>
                </a:gridCol>
                <a:gridCol w="890398">
                  <a:extLst>
                    <a:ext uri="{9D8B030D-6E8A-4147-A177-3AD203B41FA5}">
                      <a16:colId xmlns:a16="http://schemas.microsoft.com/office/drawing/2014/main" val="3695241656"/>
                    </a:ext>
                  </a:extLst>
                </a:gridCol>
                <a:gridCol w="890398">
                  <a:extLst>
                    <a:ext uri="{9D8B030D-6E8A-4147-A177-3AD203B41FA5}">
                      <a16:colId xmlns:a16="http://schemas.microsoft.com/office/drawing/2014/main" val="521566561"/>
                    </a:ext>
                  </a:extLst>
                </a:gridCol>
              </a:tblGrid>
              <a:tr h="356159"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 </a:t>
                      </a: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대분류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기능명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상세 설명 및 동작 로직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예상 결과 및 </a:t>
                      </a:r>
                      <a:r>
                        <a:rPr lang="en-US" altLang="ko-KR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반영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비고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126560"/>
                  </a:ext>
                </a:extLst>
              </a:tr>
              <a:tr h="1331726">
                <a:tc>
                  <a:txBody>
                    <a:bodyPr/>
                    <a:lstStyle/>
                    <a:p>
                      <a:pPr rtl="0"/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F-08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안전 제어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긴급 정지 </a:t>
                      </a:r>
                      <a:r>
                        <a:rPr lang="en-US" altLang="ko-KR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인터록</a:t>
                      </a:r>
                      <a:r>
                        <a:rPr lang="en-US" altLang="ko-KR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클릭 즉시 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RF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차단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(0W)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및 소스 가스 밸브 차단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(0sccm)</a:t>
                      </a:r>
                    </a:p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폭발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아킹 등 치명적 불량 상황 강제 종료 실습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🚨 긴급 정지 버튼 클릭</a:t>
                      </a:r>
                    </a:p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증착 속도 즉시 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멈춤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적색 알람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안전 제어 로직 모사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004293"/>
                  </a:ext>
                </a:extLst>
              </a:tr>
              <a:tr h="1331726">
                <a:tc>
                  <a:txBody>
                    <a:bodyPr/>
                    <a:lstStyle/>
                    <a:p>
                      <a:pPr rtl="0"/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F-09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 로깅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로그 테이블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매초 발생되는 데이터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시간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센서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품질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판정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누적 스태킹</a:t>
                      </a:r>
                    </a:p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이상 상태 발생 행 컬러 하이라이트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하단 표에 행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(Row)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자동 추가</a:t>
                      </a:r>
                    </a:p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황색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(Warning)/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적색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(Fault)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행 강조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원시 데이터 확인용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477643"/>
                  </a:ext>
                </a:extLst>
              </a:tr>
              <a:tr h="1331726">
                <a:tc>
                  <a:txBody>
                    <a:bodyPr/>
                    <a:lstStyle/>
                    <a:p>
                      <a:pPr rtl="0"/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F-10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 로깅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CSV </a:t>
                      </a:r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 다운로드</a:t>
                      </a:r>
                      <a:endParaRPr lang="ko-KR" alt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 표에 쌓인 데이터 셋 전체를 표준 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CSV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형식으로 변환</a:t>
                      </a:r>
                    </a:p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지정된 경로로 파일 저장 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(.csv)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📥 다운로드 버튼 클릭</a:t>
                      </a:r>
                    </a:p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파일명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PECVD_Log_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날짜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.csv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외부 통계 분석 연동</a:t>
                      </a:r>
                    </a:p>
                  </a:txBody>
                  <a:tcPr marL="58069" marR="58069" marT="38713" marB="3871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187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41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14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데이터 로그 설계서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추후 분석 가능한 </a:t>
            </a:r>
            <a:r>
              <a:rPr lang="en-US" altLang="ko-KR" dirty="0" smtClean="0"/>
              <a:t>CVS </a:t>
            </a:r>
            <a:r>
              <a:rPr lang="ko-KR" altLang="en-US" dirty="0" smtClean="0"/>
              <a:t>구조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462630" y="1811984"/>
          <a:ext cx="9266739" cy="4378620"/>
        </p:xfrm>
        <a:graphic>
          <a:graphicData uri="http://schemas.openxmlformats.org/drawingml/2006/table">
            <a:tbl>
              <a:tblPr/>
              <a:tblGrid>
                <a:gridCol w="3088913">
                  <a:extLst>
                    <a:ext uri="{9D8B030D-6E8A-4147-A177-3AD203B41FA5}">
                      <a16:colId xmlns:a16="http://schemas.microsoft.com/office/drawing/2014/main" val="2142335506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1751233330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4285248821"/>
                    </a:ext>
                  </a:extLst>
                </a:gridCol>
              </a:tblGrid>
              <a:tr h="376042"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컬럼명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예시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856321"/>
                  </a:ext>
                </a:extLst>
              </a:tr>
              <a:tr h="617783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timestamp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2026-07-03 14:00:05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 생성 시각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 단위 로깅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580528"/>
                  </a:ext>
                </a:extLst>
              </a:tr>
              <a:tr h="376042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equipment_id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PECVD-01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장비 식별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570740"/>
                  </a:ext>
                </a:extLst>
              </a:tr>
              <a:tr h="376042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pressure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2.0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챔버 내부 압력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(Torr)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804803"/>
                  </a:ext>
                </a:extLst>
              </a:tr>
              <a:tr h="376042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heater_temp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350.5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히터 센서 측정 온도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(°C)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87197"/>
                  </a:ext>
                </a:extLst>
              </a:tr>
              <a:tr h="376042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rf_power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플라즈마 출력 전력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(W)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970248"/>
                  </a:ext>
                </a:extLst>
              </a:tr>
              <a:tr h="617783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sih4_flow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50.0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실란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(SiH₄)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소스 가스 유량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(sccm)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896253"/>
                  </a:ext>
                </a:extLst>
              </a:tr>
              <a:tr h="617783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nh3_flow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150.0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암모니아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(NH₃)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반응 가스 유량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(sccm)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976392"/>
                  </a:ext>
                </a:extLst>
              </a:tr>
              <a:tr h="617783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n2_flow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500.0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질소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(N₂)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퍼지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캐리어 가스 유량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sccm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00725" marR="100725" marT="67150" marB="6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358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60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14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데이터 로그 설계서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추후 분석 가능한 </a:t>
            </a:r>
            <a:r>
              <a:rPr lang="en-US" altLang="ko-KR" dirty="0" smtClean="0"/>
              <a:t>CVS </a:t>
            </a:r>
            <a:r>
              <a:rPr lang="ko-KR" altLang="en-US" dirty="0" smtClean="0"/>
              <a:t>구조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838200" y="1882934"/>
          <a:ext cx="10515600" cy="4236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092229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231195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082447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컬럼명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예시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17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thickness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512.4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누적 증착 박막 두께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(Å)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135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dep_rate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초당 박막 증착 속도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(Å/sec)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96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uniformity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웨이퍼 표면 막 균일도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(%)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34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defect_count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파티클 및 아킹 결함 발생 수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(ea)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51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yield_rate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99.8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품질 기준 예상 수율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(%)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442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NORMAL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장비 구동 상태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NORMAL / WARNING / FAULT)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3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최종 웨이퍼 품질 합격 여부 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(OK / NG)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55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14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5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바이브</a:t>
            </a:r>
            <a:r>
              <a:rPr lang="ko-KR" altLang="en-US" dirty="0" smtClean="0"/>
              <a:t> 코딩 </a:t>
            </a:r>
            <a:r>
              <a:rPr lang="ko-KR" altLang="en-US" dirty="0" err="1" smtClean="0"/>
              <a:t>프로프트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에게 개발 요청할 최종 문장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2338" y="1028343"/>
            <a:ext cx="101490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너는 반도체 장비 소프트웨어 전문가이자 시니어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개발자야</a:t>
            </a:r>
            <a:r>
              <a:rPr lang="en-US" altLang="ko-KR" dirty="0"/>
              <a:t>. React, Tailwind CSS, </a:t>
            </a:r>
            <a:r>
              <a:rPr lang="ko-KR" altLang="en-US" dirty="0"/>
              <a:t>그리고 </a:t>
            </a:r>
            <a:r>
              <a:rPr lang="en-US" altLang="ko-KR" dirty="0" err="1"/>
              <a:t>Recharts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Chart.js)</a:t>
            </a:r>
            <a:r>
              <a:rPr lang="ko-KR" altLang="en-US" dirty="0"/>
              <a:t>를 사용하여 </a:t>
            </a:r>
            <a:r>
              <a:rPr lang="en-US" altLang="ko-KR" dirty="0"/>
              <a:t>'PECVD </a:t>
            </a:r>
            <a:r>
              <a:rPr lang="ko-KR" altLang="en-US" dirty="0"/>
              <a:t>공정 데이터 분석 시뮬레이터</a:t>
            </a:r>
            <a:r>
              <a:rPr lang="en-US" altLang="ko-KR" dirty="0"/>
              <a:t>'</a:t>
            </a:r>
            <a:r>
              <a:rPr lang="ko-KR" altLang="en-US" dirty="0"/>
              <a:t>의 </a:t>
            </a:r>
            <a:r>
              <a:rPr lang="en-US" altLang="ko-KR" dirty="0"/>
              <a:t>UI</a:t>
            </a:r>
            <a:r>
              <a:rPr lang="ko-KR" altLang="en-US" dirty="0"/>
              <a:t>와 동작 </a:t>
            </a:r>
            <a:r>
              <a:rPr lang="ko-KR" altLang="en-US" dirty="0" err="1"/>
              <a:t>로직을</a:t>
            </a:r>
            <a:r>
              <a:rPr lang="ko-KR" altLang="en-US" dirty="0"/>
              <a:t> 하나의 완성된 웹 어플리케이션으로 만들어줘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1. </a:t>
            </a:r>
            <a:r>
              <a:rPr lang="ko-KR" altLang="en-US" b="1" dirty="0"/>
              <a:t>화면 레이아웃 </a:t>
            </a:r>
            <a:r>
              <a:rPr lang="en-US" altLang="ko-KR" b="1" dirty="0"/>
              <a:t>(SEMI HMI </a:t>
            </a:r>
            <a:r>
              <a:rPr lang="ko-KR" altLang="en-US" b="1" dirty="0"/>
              <a:t>표준 </a:t>
            </a:r>
            <a:r>
              <a:rPr lang="en-US" altLang="ko-KR" b="1" dirty="0"/>
              <a:t>3</a:t>
            </a:r>
            <a:r>
              <a:rPr lang="ko-KR" altLang="en-US" b="1" dirty="0"/>
              <a:t>단 구성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화면은 전체적으로 꽉 차는 대시보드 형태로 구성하고 다음 </a:t>
            </a:r>
            <a:r>
              <a:rPr lang="en-US" altLang="ko-KR" dirty="0"/>
              <a:t>4</a:t>
            </a:r>
            <a:r>
              <a:rPr lang="ko-KR" altLang="en-US" dirty="0"/>
              <a:t>개의 영역으로 분리해줘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좌측 패널</a:t>
            </a:r>
            <a:r>
              <a:rPr lang="en-US" altLang="ko-KR" dirty="0"/>
              <a:t>] '</a:t>
            </a:r>
            <a:r>
              <a:rPr lang="ko-KR" altLang="en-US" dirty="0"/>
              <a:t>입력 </a:t>
            </a:r>
            <a:r>
              <a:rPr lang="ko-KR" altLang="en-US" dirty="0" err="1"/>
              <a:t>제어부</a:t>
            </a:r>
            <a:r>
              <a:rPr lang="en-US" altLang="ko-KR" dirty="0"/>
              <a:t>': 7</a:t>
            </a:r>
            <a:r>
              <a:rPr lang="ko-KR" altLang="en-US" dirty="0"/>
              <a:t>개의 공정 변수</a:t>
            </a:r>
            <a:r>
              <a:rPr lang="en-US" altLang="ko-KR" dirty="0"/>
              <a:t>(Input) </a:t>
            </a:r>
            <a:r>
              <a:rPr lang="ko-KR" altLang="en-US" dirty="0"/>
              <a:t>조절 슬라이더</a:t>
            </a:r>
            <a:r>
              <a:rPr lang="en-US" altLang="ko-KR" dirty="0"/>
              <a:t>/</a:t>
            </a:r>
            <a:r>
              <a:rPr lang="ko-KR" altLang="en-US" dirty="0" err="1"/>
              <a:t>스핀박스</a:t>
            </a:r>
            <a:r>
              <a:rPr lang="ko-KR" altLang="en-US" dirty="0"/>
              <a:t> 및 제어 버튼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우측 상단</a:t>
            </a:r>
            <a:r>
              <a:rPr lang="en-US" altLang="ko-KR" dirty="0"/>
              <a:t>] '</a:t>
            </a:r>
            <a:r>
              <a:rPr lang="ko-KR" altLang="en-US" dirty="0"/>
              <a:t>상태 카드</a:t>
            </a:r>
            <a:r>
              <a:rPr lang="en-US" altLang="ko-KR" dirty="0"/>
              <a:t>': </a:t>
            </a:r>
            <a:r>
              <a:rPr lang="ko-KR" altLang="en-US" dirty="0"/>
              <a:t>현재 공정 상태</a:t>
            </a:r>
            <a:r>
              <a:rPr lang="en-US" altLang="ko-KR" dirty="0"/>
              <a:t>(</a:t>
            </a:r>
            <a:r>
              <a:rPr lang="ko-KR" altLang="en-US" dirty="0"/>
              <a:t>정상</a:t>
            </a:r>
            <a:r>
              <a:rPr lang="en-US" altLang="ko-KR" dirty="0"/>
              <a:t>/</a:t>
            </a:r>
            <a:r>
              <a:rPr lang="ko-KR" altLang="en-US" dirty="0"/>
              <a:t>주의</a:t>
            </a:r>
            <a:r>
              <a:rPr lang="en-US" altLang="ko-KR" dirty="0"/>
              <a:t>/</a:t>
            </a:r>
            <a:r>
              <a:rPr lang="ko-KR" altLang="en-US" dirty="0"/>
              <a:t>고장</a:t>
            </a:r>
            <a:r>
              <a:rPr lang="en-US" altLang="ko-KR" dirty="0"/>
              <a:t>) LED </a:t>
            </a:r>
            <a:r>
              <a:rPr lang="ko-KR" altLang="en-US" dirty="0"/>
              <a:t>램프와 핵심 수치</a:t>
            </a:r>
            <a:r>
              <a:rPr lang="en-US" altLang="ko-KR" dirty="0"/>
              <a:t>(</a:t>
            </a:r>
            <a:r>
              <a:rPr lang="ko-KR" altLang="en-US" dirty="0"/>
              <a:t>수율</a:t>
            </a:r>
            <a:r>
              <a:rPr lang="en-US" altLang="ko-KR" dirty="0"/>
              <a:t>, </a:t>
            </a:r>
            <a:r>
              <a:rPr lang="ko-KR" altLang="en-US" dirty="0"/>
              <a:t>두께</a:t>
            </a:r>
            <a:r>
              <a:rPr lang="en-US" altLang="ko-KR" dirty="0"/>
              <a:t>) </a:t>
            </a:r>
            <a:r>
              <a:rPr lang="ko-KR" altLang="en-US" dirty="0"/>
              <a:t>표시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우측 중단</a:t>
            </a:r>
            <a:r>
              <a:rPr lang="en-US" altLang="ko-KR" dirty="0"/>
              <a:t>] '</a:t>
            </a:r>
            <a:r>
              <a:rPr lang="ko-KR" altLang="en-US" dirty="0"/>
              <a:t>실시간 그래프</a:t>
            </a:r>
            <a:r>
              <a:rPr lang="en-US" altLang="ko-KR" dirty="0"/>
              <a:t>': X</a:t>
            </a:r>
            <a:r>
              <a:rPr lang="ko-KR" altLang="en-US" dirty="0"/>
              <a:t>축은 시간</a:t>
            </a:r>
            <a:r>
              <a:rPr lang="en-US" altLang="ko-KR" dirty="0"/>
              <a:t>(sec), Y</a:t>
            </a:r>
            <a:r>
              <a:rPr lang="ko-KR" altLang="en-US" dirty="0"/>
              <a:t>축은 박막 두께</a:t>
            </a:r>
            <a:r>
              <a:rPr lang="en-US" altLang="ko-KR" dirty="0"/>
              <a:t>(Å)</a:t>
            </a:r>
            <a:r>
              <a:rPr lang="ko-KR" altLang="en-US" dirty="0"/>
              <a:t>와 </a:t>
            </a:r>
            <a:r>
              <a:rPr lang="ko-KR" altLang="en-US" dirty="0" err="1"/>
              <a:t>증착</a:t>
            </a:r>
            <a:r>
              <a:rPr lang="ko-KR" altLang="en-US" dirty="0"/>
              <a:t> 속도</a:t>
            </a:r>
            <a:r>
              <a:rPr lang="en-US" altLang="ko-KR" dirty="0"/>
              <a:t>(Å/s)</a:t>
            </a:r>
            <a:r>
              <a:rPr lang="ko-KR" altLang="en-US" dirty="0"/>
              <a:t>를 보여주는 실시간 라인 차트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우측 하단</a:t>
            </a:r>
            <a:r>
              <a:rPr lang="en-US" altLang="ko-KR" dirty="0"/>
              <a:t>] '</a:t>
            </a:r>
            <a:r>
              <a:rPr lang="ko-KR" altLang="en-US" dirty="0"/>
              <a:t>로그 테이블</a:t>
            </a:r>
            <a:r>
              <a:rPr lang="en-US" altLang="ko-KR" dirty="0"/>
              <a:t>': 1</a:t>
            </a:r>
            <a:r>
              <a:rPr lang="ko-KR" altLang="en-US" dirty="0"/>
              <a:t>초마다 생성되는 모든 입</a:t>
            </a:r>
            <a:r>
              <a:rPr lang="en-US" altLang="ko-KR" dirty="0"/>
              <a:t>/</a:t>
            </a:r>
            <a:r>
              <a:rPr lang="ko-KR" altLang="en-US" dirty="0"/>
              <a:t>출력 데이터가 행</a:t>
            </a:r>
            <a:r>
              <a:rPr lang="en-US" altLang="ko-KR" dirty="0"/>
              <a:t>(Row)</a:t>
            </a:r>
            <a:r>
              <a:rPr lang="ko-KR" altLang="en-US" dirty="0"/>
              <a:t>으로 쌓이는 스크롤 가능한 데이터 그리드</a:t>
            </a:r>
          </a:p>
        </p:txBody>
      </p:sp>
    </p:spTree>
    <p:extLst>
      <p:ext uri="{BB962C8B-B14F-4D97-AF65-F5344CB8AC3E}">
        <p14:creationId xmlns:p14="http://schemas.microsoft.com/office/powerpoint/2010/main" val="189514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5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바이브</a:t>
            </a:r>
            <a:r>
              <a:rPr lang="ko-KR" altLang="en-US" dirty="0" smtClean="0"/>
              <a:t> 코딩 </a:t>
            </a:r>
            <a:r>
              <a:rPr lang="ko-KR" altLang="en-US" dirty="0" err="1" smtClean="0"/>
              <a:t>프로프트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에게 개발 요청할 최종 문장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2338" y="1166843"/>
            <a:ext cx="831166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상태</a:t>
            </a:r>
            <a:r>
              <a:rPr lang="en-US" altLang="ko-KR" b="1" dirty="0"/>
              <a:t>(State) </a:t>
            </a:r>
            <a:r>
              <a:rPr lang="ko-KR" altLang="en-US" b="1" dirty="0"/>
              <a:t>변수 및 초기값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입력 변수 </a:t>
            </a:r>
            <a:r>
              <a:rPr lang="en-US" altLang="ko-KR" dirty="0"/>
              <a:t>(Input)]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Chamber Pressure: 2.0 (</a:t>
            </a:r>
            <a:r>
              <a:rPr lang="en-US" altLang="ko-KR" dirty="0" err="1"/>
              <a:t>Torr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Heater Temp: 350 (°C)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RF Power: 300 (W)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SiH4 Flow: 50 (</a:t>
            </a:r>
            <a:r>
              <a:rPr lang="en-US" altLang="ko-KR" dirty="0" err="1"/>
              <a:t>sccm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NH3 Flow: 150 (</a:t>
            </a:r>
            <a:r>
              <a:rPr lang="en-US" altLang="ko-KR" dirty="0" err="1"/>
              <a:t>sccm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N2 Flow: 500 (</a:t>
            </a:r>
            <a:r>
              <a:rPr lang="en-US" altLang="ko-KR" dirty="0" err="1"/>
              <a:t>sccm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Process Time: 60 (sec</a:t>
            </a:r>
            <a:r>
              <a:rPr lang="en-US" altLang="ko-KR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출력 변수 </a:t>
            </a:r>
            <a:r>
              <a:rPr lang="en-US" altLang="ko-KR" dirty="0"/>
              <a:t>(Output)]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Film Thickness: 0 (Å) - </a:t>
            </a:r>
            <a:r>
              <a:rPr lang="ko-KR" altLang="en-US" dirty="0" err="1"/>
              <a:t>누적값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Deposition Rate: 0 (Å/s)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Uniformity: 1.2 (%)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Defect Count: 0 (</a:t>
            </a:r>
            <a:r>
              <a:rPr lang="en-US" altLang="ko-KR" dirty="0" err="1"/>
              <a:t>ea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Yield: 100 (%)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Status: 'IDLE' (</a:t>
            </a:r>
            <a:r>
              <a:rPr lang="ko-KR" altLang="en-US" dirty="0"/>
              <a:t>대기</a:t>
            </a:r>
            <a:r>
              <a:rPr lang="en-US" altLang="ko-KR" dirty="0"/>
              <a:t>) -&gt; </a:t>
            </a:r>
            <a:r>
              <a:rPr lang="ko-KR" altLang="en-US" dirty="0"/>
              <a:t>시작 시 </a:t>
            </a:r>
            <a:r>
              <a:rPr lang="en-US" altLang="ko-KR" dirty="0"/>
              <a:t>'NORMAL'</a:t>
            </a:r>
          </a:p>
        </p:txBody>
      </p:sp>
    </p:spTree>
    <p:extLst>
      <p:ext uri="{BB962C8B-B14F-4D97-AF65-F5344CB8AC3E}">
        <p14:creationId xmlns:p14="http://schemas.microsoft.com/office/powerpoint/2010/main" val="39233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5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바이브</a:t>
            </a:r>
            <a:r>
              <a:rPr lang="ko-KR" altLang="en-US" dirty="0" smtClean="0"/>
              <a:t> 코딩 </a:t>
            </a:r>
            <a:r>
              <a:rPr lang="ko-KR" altLang="en-US" dirty="0" err="1" smtClean="0"/>
              <a:t>프로프트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에게 개발 요청할 최종 문장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2338" y="145628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핵심 동작 </a:t>
            </a:r>
            <a:r>
              <a:rPr lang="ko-KR" altLang="en-US" b="1" dirty="0" err="1"/>
              <a:t>로직</a:t>
            </a:r>
            <a:r>
              <a:rPr lang="ko-KR" altLang="en-US" b="1" dirty="0"/>
              <a:t> </a:t>
            </a:r>
            <a:r>
              <a:rPr lang="en-US" altLang="ko-KR" b="1" dirty="0"/>
              <a:t>(1</a:t>
            </a:r>
            <a:r>
              <a:rPr lang="ko-KR" altLang="en-US" b="1" dirty="0"/>
              <a:t>초 주기 </a:t>
            </a:r>
            <a:r>
              <a:rPr lang="en-US" altLang="ko-KR" b="1" dirty="0"/>
              <a:t>Timer)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공정 시작</a:t>
            </a:r>
            <a:r>
              <a:rPr lang="en-US" altLang="ko-KR" dirty="0"/>
              <a:t>(Start)' </a:t>
            </a:r>
            <a:r>
              <a:rPr lang="ko-KR" altLang="en-US" dirty="0"/>
              <a:t>버튼을 누르면 </a:t>
            </a:r>
            <a:r>
              <a:rPr lang="en-US" altLang="ko-KR" dirty="0"/>
              <a:t>1</a:t>
            </a:r>
            <a:r>
              <a:rPr lang="ko-KR" altLang="en-US" dirty="0"/>
              <a:t>초</a:t>
            </a:r>
            <a:r>
              <a:rPr lang="en-US" altLang="ko-KR" dirty="0"/>
              <a:t>(1000ms)</a:t>
            </a:r>
            <a:r>
              <a:rPr lang="ko-KR" altLang="en-US" dirty="0"/>
              <a:t>마다 </a:t>
            </a:r>
            <a:r>
              <a:rPr lang="en-US" altLang="ko-KR" dirty="0" err="1"/>
              <a:t>setInterval</a:t>
            </a:r>
            <a:r>
              <a:rPr lang="ko-KR" altLang="en-US" dirty="0"/>
              <a:t>이 작동하며 진행 시간</a:t>
            </a:r>
            <a:r>
              <a:rPr lang="en-US" altLang="ko-KR" dirty="0"/>
              <a:t>(sec)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씩 증가함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매초마다 입력 변수들을 바탕으로 아래의 </a:t>
            </a:r>
            <a:r>
              <a:rPr lang="en-US" altLang="ko-KR" dirty="0"/>
              <a:t>[</a:t>
            </a:r>
            <a:r>
              <a:rPr lang="ko-KR" altLang="en-US" dirty="0"/>
              <a:t>상태 판정 </a:t>
            </a:r>
            <a:r>
              <a:rPr lang="ko-KR" altLang="en-US" dirty="0" err="1"/>
              <a:t>로직</a:t>
            </a:r>
            <a:r>
              <a:rPr lang="en-US" altLang="ko-KR" dirty="0"/>
              <a:t>]</a:t>
            </a:r>
            <a:r>
              <a:rPr lang="ko-KR" altLang="en-US" dirty="0"/>
              <a:t>을 거쳐 출력 변수를 계산하고</a:t>
            </a:r>
            <a:r>
              <a:rPr lang="en-US" altLang="ko-KR" dirty="0"/>
              <a:t>, </a:t>
            </a:r>
            <a:r>
              <a:rPr lang="ko-KR" altLang="en-US" dirty="0"/>
              <a:t>그 결과를 </a:t>
            </a:r>
            <a:r>
              <a:rPr lang="en-US" altLang="ko-KR" dirty="0"/>
              <a:t>'</a:t>
            </a:r>
            <a:r>
              <a:rPr lang="ko-KR" altLang="en-US" dirty="0"/>
              <a:t>로그 테이블</a:t>
            </a:r>
            <a:r>
              <a:rPr lang="en-US" altLang="ko-KR" dirty="0"/>
              <a:t>' </a:t>
            </a:r>
            <a:r>
              <a:rPr lang="ko-KR" altLang="en-US" dirty="0"/>
              <a:t>배열에 추가</a:t>
            </a:r>
            <a:r>
              <a:rPr lang="en-US" altLang="ko-KR" dirty="0"/>
              <a:t>(Push)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0622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5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바이브</a:t>
            </a:r>
            <a:r>
              <a:rPr lang="ko-KR" altLang="en-US" dirty="0" smtClean="0"/>
              <a:t> 코딩 </a:t>
            </a:r>
            <a:r>
              <a:rPr lang="ko-KR" altLang="en-US" dirty="0" err="1" smtClean="0"/>
              <a:t>프로프트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에게 개발 요청할 최종 문장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2338" y="1181235"/>
            <a:ext cx="1089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상태 판정 </a:t>
            </a:r>
            <a:r>
              <a:rPr lang="ko-KR" altLang="en-US" b="1" dirty="0" err="1"/>
              <a:t>로직</a:t>
            </a:r>
            <a:r>
              <a:rPr lang="ko-KR" altLang="en-US" b="1" dirty="0"/>
              <a:t> </a:t>
            </a:r>
            <a:r>
              <a:rPr lang="en-US" altLang="ko-KR" b="1" dirty="0"/>
              <a:t>(FDC Engine)</a:t>
            </a:r>
          </a:p>
          <a:p>
            <a:r>
              <a:rPr lang="ko-KR" altLang="en-US" dirty="0"/>
              <a:t>매초 데이터를 계산할 때 다음 조건을 순서대로 검사해줘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[FAULT (</a:t>
            </a:r>
            <a:r>
              <a:rPr lang="ko-KR" altLang="en-US" dirty="0"/>
              <a:t>고장</a:t>
            </a:r>
            <a:r>
              <a:rPr lang="en-US" altLang="ko-KR" dirty="0"/>
              <a:t>/</a:t>
            </a:r>
            <a:r>
              <a:rPr lang="ko-KR" altLang="en-US" dirty="0" err="1"/>
              <a:t>인터록</a:t>
            </a:r>
            <a:r>
              <a:rPr lang="en-US" altLang="ko-KR" dirty="0"/>
              <a:t>)]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  <a:r>
              <a:rPr lang="ko-KR" altLang="en-US" dirty="0"/>
              <a:t>사용자가 </a:t>
            </a:r>
            <a:r>
              <a:rPr lang="en-US" altLang="ko-KR" dirty="0"/>
              <a:t>'</a:t>
            </a:r>
            <a:r>
              <a:rPr lang="ko-KR" altLang="en-US" dirty="0"/>
              <a:t>긴급 정지</a:t>
            </a:r>
            <a:r>
              <a:rPr lang="en-US" altLang="ko-KR" dirty="0"/>
              <a:t>' </a:t>
            </a:r>
            <a:r>
              <a:rPr lang="ko-KR" altLang="en-US" dirty="0"/>
              <a:t>버튼을 눌렀거나</a:t>
            </a:r>
            <a:r>
              <a:rPr lang="en-US" altLang="ko-KR" dirty="0"/>
              <a:t>, Pressure &gt; 3.5 </a:t>
            </a:r>
            <a:r>
              <a:rPr lang="ko-KR" altLang="en-US" dirty="0"/>
              <a:t>이거나 </a:t>
            </a:r>
            <a:r>
              <a:rPr lang="en-US" altLang="ko-KR" dirty="0"/>
              <a:t>Temp &lt; 250 </a:t>
            </a:r>
            <a:r>
              <a:rPr lang="ko-KR" altLang="en-US" dirty="0"/>
              <a:t>인 경우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액션</a:t>
            </a:r>
            <a:r>
              <a:rPr lang="en-US" altLang="ko-KR" dirty="0"/>
              <a:t>: </a:t>
            </a:r>
            <a:r>
              <a:rPr lang="ko-KR" altLang="en-US" dirty="0"/>
              <a:t>상태는 </a:t>
            </a:r>
            <a:r>
              <a:rPr lang="en-US" altLang="ko-KR" dirty="0"/>
              <a:t>'FAULT' (</a:t>
            </a:r>
            <a:r>
              <a:rPr lang="ko-KR" altLang="en-US" dirty="0"/>
              <a:t>적색</a:t>
            </a:r>
            <a:r>
              <a:rPr lang="en-US" altLang="ko-KR" dirty="0"/>
              <a:t>), RF Power</a:t>
            </a:r>
            <a:r>
              <a:rPr lang="ko-KR" altLang="en-US" dirty="0"/>
              <a:t>는 강제로 </a:t>
            </a:r>
            <a:r>
              <a:rPr lang="en-US" altLang="ko-KR" dirty="0"/>
              <a:t>0, </a:t>
            </a:r>
            <a:r>
              <a:rPr lang="ko-KR" altLang="en-US" dirty="0" err="1"/>
              <a:t>증착</a:t>
            </a:r>
            <a:r>
              <a:rPr lang="ko-KR" altLang="en-US" dirty="0"/>
              <a:t> 속도 </a:t>
            </a:r>
            <a:r>
              <a:rPr lang="en-US" altLang="ko-KR" dirty="0"/>
              <a:t>0, </a:t>
            </a:r>
            <a:r>
              <a:rPr lang="ko-KR" altLang="en-US" dirty="0"/>
              <a:t>타이머 즉시 정지</a:t>
            </a:r>
            <a:r>
              <a:rPr lang="en-US" altLang="ko-KR" dirty="0"/>
              <a:t>. </a:t>
            </a:r>
            <a:r>
              <a:rPr lang="ko-KR" altLang="en-US" dirty="0"/>
              <a:t>로그 행 배경색 연한 적색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 startAt="2"/>
            </a:pPr>
            <a:r>
              <a:rPr lang="en-US" altLang="ko-KR" dirty="0"/>
              <a:t>[WARNING (</a:t>
            </a:r>
            <a:r>
              <a:rPr lang="ko-KR" altLang="en-US" dirty="0"/>
              <a:t>주의</a:t>
            </a:r>
            <a:r>
              <a:rPr lang="en-US" altLang="ko-KR" dirty="0"/>
              <a:t>)]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조건</a:t>
            </a:r>
            <a:r>
              <a:rPr lang="en-US" altLang="ko-KR" dirty="0"/>
              <a:t>: Pressure</a:t>
            </a:r>
            <a:r>
              <a:rPr lang="ko-KR" altLang="en-US" dirty="0"/>
              <a:t>가 </a:t>
            </a:r>
            <a:r>
              <a:rPr lang="en-US" altLang="ko-KR" dirty="0"/>
              <a:t>1.5 </a:t>
            </a:r>
            <a:r>
              <a:rPr lang="ko-KR" altLang="en-US" dirty="0"/>
              <a:t>미만이거나 </a:t>
            </a:r>
            <a:r>
              <a:rPr lang="en-US" altLang="ko-KR" dirty="0"/>
              <a:t>2.5 </a:t>
            </a:r>
            <a:r>
              <a:rPr lang="ko-KR" altLang="en-US" dirty="0"/>
              <a:t>초과일 때</a:t>
            </a:r>
            <a:r>
              <a:rPr lang="en-US" altLang="ko-KR" dirty="0"/>
              <a:t>, </a:t>
            </a:r>
            <a:r>
              <a:rPr lang="ko-KR" altLang="en-US" dirty="0"/>
              <a:t>또는 </a:t>
            </a:r>
            <a:r>
              <a:rPr lang="en-US" altLang="ko-KR" dirty="0"/>
              <a:t>RF Power</a:t>
            </a:r>
            <a:r>
              <a:rPr lang="ko-KR" altLang="en-US" dirty="0"/>
              <a:t>가 </a:t>
            </a:r>
            <a:r>
              <a:rPr lang="en-US" altLang="ko-KR" dirty="0"/>
              <a:t>250 </a:t>
            </a:r>
            <a:r>
              <a:rPr lang="ko-KR" altLang="en-US" dirty="0"/>
              <a:t>미만이거나 </a:t>
            </a:r>
            <a:r>
              <a:rPr lang="en-US" altLang="ko-KR" dirty="0"/>
              <a:t>400 </a:t>
            </a:r>
            <a:r>
              <a:rPr lang="ko-KR" altLang="en-US" dirty="0"/>
              <a:t>초과일 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액션</a:t>
            </a:r>
            <a:r>
              <a:rPr lang="en-US" altLang="ko-KR" dirty="0"/>
              <a:t>: </a:t>
            </a:r>
            <a:r>
              <a:rPr lang="ko-KR" altLang="en-US" dirty="0"/>
              <a:t>상태는 </a:t>
            </a:r>
            <a:r>
              <a:rPr lang="en-US" altLang="ko-KR" dirty="0"/>
              <a:t>'WARNING' (</a:t>
            </a:r>
            <a:r>
              <a:rPr lang="ko-KR" altLang="en-US" dirty="0"/>
              <a:t>황색</a:t>
            </a:r>
            <a:r>
              <a:rPr lang="en-US" altLang="ko-KR" dirty="0"/>
              <a:t>), Uniformity</a:t>
            </a:r>
            <a:r>
              <a:rPr lang="ko-KR" altLang="en-US" dirty="0"/>
              <a:t>는 </a:t>
            </a:r>
            <a:r>
              <a:rPr lang="en-US" altLang="ko-KR" dirty="0"/>
              <a:t>3.5~5.0 </a:t>
            </a:r>
            <a:r>
              <a:rPr lang="ko-KR" altLang="en-US" dirty="0"/>
              <a:t>사이의 </a:t>
            </a:r>
            <a:r>
              <a:rPr lang="ko-KR" altLang="en-US" dirty="0" err="1"/>
              <a:t>랜덤값</a:t>
            </a:r>
            <a:r>
              <a:rPr lang="en-US" altLang="ko-KR" dirty="0"/>
              <a:t>, Yield</a:t>
            </a:r>
            <a:r>
              <a:rPr lang="ko-KR" altLang="en-US" dirty="0"/>
              <a:t>는 </a:t>
            </a:r>
            <a:r>
              <a:rPr lang="en-US" altLang="ko-KR" dirty="0"/>
              <a:t>85~94%</a:t>
            </a:r>
            <a:r>
              <a:rPr lang="ko-KR" altLang="en-US" dirty="0"/>
              <a:t>로 하락</a:t>
            </a:r>
            <a:r>
              <a:rPr lang="en-US" altLang="ko-KR" dirty="0"/>
              <a:t>, Defect Count </a:t>
            </a:r>
            <a:r>
              <a:rPr lang="ko-KR" altLang="en-US" dirty="0"/>
              <a:t>랜덤 </a:t>
            </a:r>
            <a:r>
              <a:rPr lang="en-US" altLang="ko-KR" dirty="0"/>
              <a:t>1~2</a:t>
            </a:r>
            <a:r>
              <a:rPr lang="ko-KR" altLang="en-US" dirty="0"/>
              <a:t>개 증가</a:t>
            </a:r>
            <a:r>
              <a:rPr lang="en-US" altLang="ko-KR" dirty="0"/>
              <a:t>. </a:t>
            </a:r>
            <a:r>
              <a:rPr lang="ko-KR" altLang="en-US" dirty="0"/>
              <a:t>로그 행 배경색 연한 황색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 startAt="3"/>
            </a:pPr>
            <a:r>
              <a:rPr lang="en-US" altLang="ko-KR" dirty="0"/>
              <a:t>[NORMAL (</a:t>
            </a:r>
            <a:r>
              <a:rPr lang="ko-KR" altLang="en-US" dirty="0"/>
              <a:t>정상</a:t>
            </a:r>
            <a:r>
              <a:rPr lang="en-US" altLang="ko-KR" dirty="0"/>
              <a:t>)]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  <a:r>
              <a:rPr lang="ko-KR" altLang="en-US" dirty="0"/>
              <a:t>위 조건에 해당하지 않는 모든 정상 범위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액션</a:t>
            </a:r>
            <a:r>
              <a:rPr lang="en-US" altLang="ko-KR" dirty="0"/>
              <a:t>: </a:t>
            </a:r>
            <a:r>
              <a:rPr lang="ko-KR" altLang="en-US" dirty="0"/>
              <a:t>상태는 </a:t>
            </a:r>
            <a:r>
              <a:rPr lang="en-US" altLang="ko-KR" dirty="0"/>
              <a:t>'NORMAL' (</a:t>
            </a:r>
            <a:r>
              <a:rPr lang="ko-KR" altLang="en-US" dirty="0"/>
              <a:t>녹색</a:t>
            </a:r>
            <a:r>
              <a:rPr lang="en-US" altLang="ko-KR" dirty="0"/>
              <a:t>), Deposition Rate</a:t>
            </a:r>
            <a:r>
              <a:rPr lang="ko-KR" altLang="en-US" dirty="0"/>
              <a:t>는 약 </a:t>
            </a:r>
            <a:r>
              <a:rPr lang="en-US" altLang="ko-KR" dirty="0"/>
              <a:t>20.0 (±0.5 </a:t>
            </a:r>
            <a:r>
              <a:rPr lang="ko-KR" altLang="en-US" dirty="0"/>
              <a:t>노이즈</a:t>
            </a:r>
            <a:r>
              <a:rPr lang="en-US" altLang="ko-KR" dirty="0"/>
              <a:t>), Uniformity</a:t>
            </a:r>
            <a:r>
              <a:rPr lang="ko-KR" altLang="en-US" dirty="0"/>
              <a:t>는 </a:t>
            </a:r>
            <a:r>
              <a:rPr lang="en-US" altLang="ko-KR" dirty="0"/>
              <a:t>1.0~1.5 </a:t>
            </a:r>
            <a:r>
              <a:rPr lang="ko-KR" altLang="en-US" dirty="0"/>
              <a:t>유지</a:t>
            </a:r>
            <a:r>
              <a:rPr lang="en-US" altLang="ko-KR" dirty="0"/>
              <a:t>, Yield</a:t>
            </a:r>
            <a:r>
              <a:rPr lang="ko-KR" altLang="en-US" dirty="0"/>
              <a:t>는 </a:t>
            </a:r>
            <a:r>
              <a:rPr lang="en-US" altLang="ko-KR" dirty="0"/>
              <a:t>98~100% </a:t>
            </a:r>
            <a:r>
              <a:rPr lang="ko-KR" altLang="en-US" dirty="0"/>
              <a:t>유지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박막 두께</a:t>
            </a:r>
            <a:r>
              <a:rPr lang="en-US" altLang="ko-KR" dirty="0"/>
              <a:t>(Thickness)</a:t>
            </a:r>
            <a:r>
              <a:rPr lang="ko-KR" altLang="en-US" dirty="0"/>
              <a:t>는 매초 계산된 </a:t>
            </a:r>
            <a:r>
              <a:rPr lang="en-US" altLang="ko-KR" dirty="0"/>
              <a:t>Deposition Rate </a:t>
            </a:r>
            <a:r>
              <a:rPr lang="ko-KR" altLang="en-US" dirty="0"/>
              <a:t>값만큼 계속 누적</a:t>
            </a:r>
            <a:r>
              <a:rPr lang="en-US" altLang="ko-KR" dirty="0"/>
              <a:t>(+) </a:t>
            </a:r>
            <a:r>
              <a:rPr lang="ko-KR" altLang="en-US" dirty="0"/>
              <a:t>되어야 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설정된 </a:t>
            </a:r>
            <a:r>
              <a:rPr lang="en-US" altLang="ko-KR" dirty="0"/>
              <a:t>Process Time</a:t>
            </a:r>
            <a:r>
              <a:rPr lang="ko-KR" altLang="en-US" dirty="0"/>
              <a:t>에 도달하면 상태를 </a:t>
            </a:r>
            <a:r>
              <a:rPr lang="en-US" altLang="ko-KR" dirty="0"/>
              <a:t>'COMPLETED'</a:t>
            </a:r>
            <a:r>
              <a:rPr lang="ko-KR" altLang="en-US" dirty="0"/>
              <a:t>로 변경하고 타이머를 종료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0005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338" y="603738"/>
            <a:ext cx="55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바이브</a:t>
            </a:r>
            <a:r>
              <a:rPr lang="ko-KR" altLang="en-US" dirty="0" smtClean="0"/>
              <a:t> 코딩 </a:t>
            </a:r>
            <a:r>
              <a:rPr lang="ko-KR" altLang="en-US" dirty="0" err="1" smtClean="0"/>
              <a:t>프로프트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에게 개발 요청할 최종 문장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2338" y="127322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5. UI/UX </a:t>
            </a:r>
            <a:r>
              <a:rPr lang="ko-KR" altLang="en-US" b="1" dirty="0"/>
              <a:t>요구사항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버튼 구성</a:t>
            </a:r>
            <a:r>
              <a:rPr lang="en-US" altLang="ko-KR" dirty="0"/>
              <a:t>: [▶ </a:t>
            </a:r>
            <a:r>
              <a:rPr lang="ko-KR" altLang="en-US" dirty="0"/>
              <a:t>공정 시작</a:t>
            </a:r>
            <a:r>
              <a:rPr lang="en-US" altLang="ko-KR" dirty="0"/>
              <a:t>], [■ </a:t>
            </a:r>
            <a:r>
              <a:rPr lang="ko-KR" altLang="en-US" dirty="0"/>
              <a:t>일시 정지</a:t>
            </a:r>
            <a:r>
              <a:rPr lang="en-US" altLang="ko-KR" dirty="0"/>
              <a:t>], [</a:t>
            </a:r>
            <a:r>
              <a:rPr lang="ko-KR" altLang="en-US" dirty="0"/>
              <a:t>🚨 긴급 </a:t>
            </a:r>
            <a:r>
              <a:rPr lang="ko-KR" altLang="en-US" dirty="0" err="1"/>
              <a:t>인터록</a:t>
            </a:r>
            <a:r>
              <a:rPr lang="ko-KR" altLang="en-US" dirty="0"/>
              <a:t> 주입</a:t>
            </a:r>
            <a:r>
              <a:rPr lang="en-US" altLang="ko-KR" dirty="0"/>
              <a:t>], [</a:t>
            </a:r>
            <a:r>
              <a:rPr lang="ko-KR" altLang="en-US" dirty="0"/>
              <a:t>📥 </a:t>
            </a:r>
            <a:r>
              <a:rPr lang="en-US" altLang="ko-KR" dirty="0"/>
              <a:t>CSV </a:t>
            </a:r>
            <a:r>
              <a:rPr lang="ko-KR" altLang="en-US" dirty="0"/>
              <a:t>다운로드</a:t>
            </a:r>
            <a:r>
              <a:rPr lang="en-US" altLang="ko-KR" dirty="0"/>
              <a:t>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CSV </a:t>
            </a:r>
            <a:r>
              <a:rPr lang="ko-KR" altLang="en-US" dirty="0"/>
              <a:t>다운로드 기능</a:t>
            </a:r>
            <a:r>
              <a:rPr lang="en-US" altLang="ko-KR" dirty="0"/>
              <a:t>: </a:t>
            </a:r>
            <a:r>
              <a:rPr lang="ko-KR" altLang="en-US" dirty="0"/>
              <a:t>로그 테이블에 쌓인 배열 데이터를 콤마</a:t>
            </a:r>
            <a:r>
              <a:rPr lang="en-US" altLang="ko-KR" dirty="0"/>
              <a:t>(,)</a:t>
            </a:r>
            <a:r>
              <a:rPr lang="ko-KR" altLang="en-US" dirty="0"/>
              <a:t>로 구분된 </a:t>
            </a:r>
            <a:r>
              <a:rPr lang="en-US" altLang="ko-KR" dirty="0"/>
              <a:t>CSV </a:t>
            </a:r>
            <a:r>
              <a:rPr lang="ko-KR" altLang="en-US" dirty="0"/>
              <a:t>파일로 실제 브라우저에서 다운로드 되도록 구현해줘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디자인</a:t>
            </a:r>
            <a:r>
              <a:rPr lang="en-US" altLang="ko-KR" dirty="0"/>
              <a:t>: </a:t>
            </a:r>
            <a:r>
              <a:rPr lang="ko-KR" altLang="en-US" dirty="0" err="1"/>
              <a:t>다크모드</a:t>
            </a:r>
            <a:r>
              <a:rPr lang="ko-KR" altLang="en-US" dirty="0"/>
              <a:t> 또는 깔끔한 산업용 소프트웨어 테마</a:t>
            </a:r>
            <a:r>
              <a:rPr lang="en-US" altLang="ko-KR" dirty="0"/>
              <a:t>(</a:t>
            </a:r>
            <a:r>
              <a:rPr lang="ko-KR" altLang="en-US" dirty="0"/>
              <a:t>파란색</a:t>
            </a:r>
            <a:r>
              <a:rPr lang="en-US" altLang="ko-KR" dirty="0"/>
              <a:t>/</a:t>
            </a:r>
            <a:r>
              <a:rPr lang="ko-KR" altLang="en-US" dirty="0"/>
              <a:t>회색 계열</a:t>
            </a:r>
            <a:r>
              <a:rPr lang="en-US" altLang="ko-KR" dirty="0"/>
              <a:t>)</a:t>
            </a:r>
            <a:r>
              <a:rPr lang="ko-KR" altLang="en-US" dirty="0"/>
              <a:t>를 사용해줘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 명세를 바탕으로</a:t>
            </a:r>
            <a:r>
              <a:rPr lang="en-US" altLang="ko-KR" dirty="0"/>
              <a:t>, </a:t>
            </a:r>
            <a:r>
              <a:rPr lang="ko-KR" altLang="en-US" dirty="0"/>
              <a:t>에러 없이 브라우저에서 바로 실행 가능한 완전한 </a:t>
            </a:r>
            <a:r>
              <a:rPr lang="en-US" altLang="ko-KR" dirty="0"/>
              <a:t>React </a:t>
            </a:r>
            <a:r>
              <a:rPr lang="ko-KR" altLang="en-US" dirty="0"/>
              <a:t>코드를 작성해줘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9758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1743</Words>
  <Application>Microsoft Office PowerPoint</Application>
  <PresentationFormat>와이드스크린</PresentationFormat>
  <Paragraphs>337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Google Sans Text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</cp:revision>
  <dcterms:created xsi:type="dcterms:W3CDTF">2026-07-03T04:13:34Z</dcterms:created>
  <dcterms:modified xsi:type="dcterms:W3CDTF">2026-07-03T05:56:06Z</dcterms:modified>
</cp:coreProperties>
</file>