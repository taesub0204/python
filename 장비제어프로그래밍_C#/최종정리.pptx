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185622-889E-4D37-B0E4-A5AC8D12F3F7}">
  <a:tblStyle styleId="{ED185622-889E-4D37-B0E4-A5AC8D12F3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ffdbd5d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ffdbd5d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ffdbd5db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ffdbd5db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ffdbd5db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ffdbd5db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ffdbd5db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ffdbd5db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ffdbd5dbb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ffdbd5dbb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ffdbd5dbb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ffdbd5dbb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ffdbd5dbb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ffdbd5dbb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ffdbd5dbb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ffdbd5dbb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ffdbd5dbb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ffdbd5dbb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ffdbd5dbb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ffdbd5dbb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ffdbd5dbb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ffdbd5dbb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ffdbd5dbb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ffdbd5dbb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ffdbd5dbb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ffdbd5dbb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ffdbd5dbb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ffdbd5dbb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ffdbd5dbb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ffdbd5dbb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ffdbd5dbb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ffdbd5dbb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ffdbd5dbb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ffdbd5dbb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02005173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02005173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02005173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02005173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02005173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02005173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020051737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020051737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02005173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02005173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020051737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02005173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02005173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02005173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www.google.com/search?q=https://www.disco.co.jp/kr/products/laser/kabra.html&amp;authuser=1" TargetMode="External"/><Relationship Id="rId6" Type="http://schemas.openxmlformats.org/officeDocument/2006/relationships/hyperlink" Target="https://www.google.com/search?q=https://www.disco.co.jp/kr/products/laser/kabra.html&amp;authuser=1" TargetMode="External"/><Relationship Id="rId7" Type="http://schemas.openxmlformats.org/officeDocument/2006/relationships/hyperlink" Target="https://www.google.com/search?q=https://www.nidec.com/en/nidec-machinetool/product/machine/wire-saw/&amp;authuser=1" TargetMode="External"/><Relationship Id="rId8" Type="http://schemas.openxmlformats.org/officeDocument/2006/relationships/hyperlink" Target="https://www.google.com/search?q=https://www.nidec.com/en/nidec-machinetool/product/machine/wire-saw/&amp;authuser=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63675" y="1810575"/>
            <a:ext cx="5226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>
                <a:solidFill>
                  <a:schemeClr val="dk2"/>
                </a:solidFill>
              </a:rPr>
              <a:t>반도체 8대 공정 Survey</a:t>
            </a:r>
            <a:endParaRPr sz="3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>
                <a:solidFill>
                  <a:schemeClr val="dk2"/>
                </a:solidFill>
              </a:rPr>
              <a:t>실습 장비 구현 방향 설명</a:t>
            </a:r>
            <a:endParaRPr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433550" y="497275"/>
            <a:ext cx="2601300" cy="4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공정 이해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웨이퍼 제조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산화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포토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식각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증착/이온주입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금속배선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EDS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└─ 패키징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187275" y="497275"/>
            <a:ext cx="2601300" cy="4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장비 분석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장비 구조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장비 프로세스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센서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└─ 액추에이터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788575" y="497275"/>
            <a:ext cx="2601300" cy="4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SW 설계 및 실습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State Machine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Interlock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Alarm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├─ Sequence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└─ 2축 로봇 제어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512625" y="1468175"/>
            <a:ext cx="404100" cy="26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5291300" y="1468175"/>
            <a:ext cx="404100" cy="26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472975" y="788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ko" sz="1800">
                <a:solidFill>
                  <a:schemeClr val="dk2"/>
                </a:solidFill>
              </a:rPr>
              <a:t>웨이퍼 제조 공정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94925" y="872475"/>
            <a:ext cx="17289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잉곳 성장 장비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521" y="872478"/>
            <a:ext cx="2788399" cy="156727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11225" y="1520050"/>
            <a:ext cx="5675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국내 관련 기업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SK실트론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국내 최대 실리콘 웨이퍼 제조사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잉곳 성장 및 웨이퍼 생산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S-TECH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국내에서 단결정 잉곳 성장 장비 제조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해외 기업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PVA TePla, Mitsubishi Electric, Ferrotec Holdings 등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148675" y="2571750"/>
            <a:ext cx="248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출처: SK실트론 이미지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2625" y="3251625"/>
            <a:ext cx="1448525" cy="18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7173425" y="4453750"/>
            <a:ext cx="162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출처: S-TECH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429126" y="872475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절단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158026" y="872033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연마 장비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472975" y="788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ko" sz="1800">
                <a:solidFill>
                  <a:schemeClr val="dk2"/>
                </a:solidFill>
              </a:rPr>
              <a:t>웨이퍼 제조 공정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94925" y="872475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잉곳 성장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429126" y="872475"/>
            <a:ext cx="17289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절단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158026" y="872033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연마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827700" y="1734200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926225" y="1744050"/>
            <a:ext cx="567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주요기업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DISCO(세계1위)(일본)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Nidec(일본)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775" y="199650"/>
            <a:ext cx="23812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1950" y="2715225"/>
            <a:ext cx="23812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6148675" y="22432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출처 및 정보:</a:t>
            </a:r>
            <a:r>
              <a:rPr lang="ko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ko" sz="1100" u="sng">
                <a:solidFill>
                  <a:schemeClr val="hlink"/>
                </a:solidFill>
                <a:hlinkClick r:id="rId6"/>
              </a:rPr>
              <a:t>DISCO 공식 홈페이지 - KABRA! zen 제품 페이지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070400" y="46202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출처 및 정보:</a:t>
            </a:r>
            <a:r>
              <a:rPr lang="ko" sz="11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ko" sz="1100" u="sng">
                <a:solidFill>
                  <a:schemeClr val="hlink"/>
                </a:solidFill>
                <a:hlinkClick r:id="rId8"/>
              </a:rPr>
              <a:t>Nidec Machine Tool - 와이어 쏘 장비 소개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985350" y="2766425"/>
            <a:ext cx="44340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1. 와이어 쏘 (Wire Saw / Diamond Wire Saw)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가장 보편적이고 전통적인 방식입니다. 잉곳을 여러 장의 웨이퍼로 동시에 자르는 '다중 절단'에 최적화되어 있습니다.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1044475" y="3892100"/>
            <a:ext cx="4266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2. 레이저 슬라이싱 (Laser Slicing / Laser Dicing)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최근 전력 반도체(SiC, GaN 등) 시장이 커지면서 급부상한 방식입니다. 잉곳을 '깎는' 것이 아니라 '분리'하는 개념에 가깝습니다.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472975" y="788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ko" sz="1800">
                <a:solidFill>
                  <a:schemeClr val="dk2"/>
                </a:solidFill>
              </a:rPr>
              <a:t>웨이퍼 제조 공정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94925" y="872475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잉곳 성장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429126" y="872475"/>
            <a:ext cx="1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절단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158026" y="872033"/>
            <a:ext cx="17289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연마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94925" y="1517450"/>
            <a:ext cx="123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주요기업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694925" y="2049525"/>
            <a:ext cx="4083900" cy="25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웨이퍼 뒷면 연마 (Back Grinding):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DISCO (일본):</a:t>
            </a:r>
            <a:r>
              <a:rPr lang="ko" sz="1100">
                <a:solidFill>
                  <a:schemeClr val="dk1"/>
                </a:solidFill>
              </a:rPr>
              <a:t> 초박형 웨이퍼 연마 장비(DFG 시리즈) 시장 점유율 1위입니다.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ACCRETECH (일본):</a:t>
            </a:r>
            <a:r>
              <a:rPr lang="ko" sz="1100">
                <a:solidFill>
                  <a:schemeClr val="dk1"/>
                </a:solidFill>
              </a:rPr>
              <a:t> 그라인딩 및 정밀 연마 분야의 핵심 기업입니다.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표면 평탄화 (CMP - Chemical Mechanical Polishing):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Applied Materials (미국):</a:t>
            </a:r>
            <a:r>
              <a:rPr lang="ko" sz="1100">
                <a:solidFill>
                  <a:schemeClr val="dk1"/>
                </a:solidFill>
              </a:rPr>
              <a:t> CMP 공정 장비 분야 세계 1위 기업입니다.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EBARA (일본):</a:t>
            </a:r>
            <a:r>
              <a:rPr lang="ko" sz="1100">
                <a:solidFill>
                  <a:schemeClr val="dk1"/>
                </a:solidFill>
              </a:rPr>
              <a:t> 어플라이드와 경쟁하는 CMP 장비 전문 기업입니다.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725" y="199650"/>
            <a:ext cx="23812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6222247" y="3842853"/>
            <a:ext cx="30000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2. CMP 시스템 (CMP System)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웨이퍼 표면을 화학적/물리적으로 평탄하게 만드는 고난도 장비로, 어플라이드 머티어리얼즈(Applied Materials)의 시스템이 전 세계 표준으로 쓰입니다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6301075" y="1517450"/>
            <a:ext cx="30000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1. 웨이퍼 그라인더 (Wafer Grinder)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웨이퍼의 두께를 균일하게 깎아내는 물리적 연마 장비로, 디스코(DISCO)사의 장비가 대표적입니다.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4">
            <a:alphaModFix/>
          </a:blip>
          <a:srcRect b="-16990" l="0" r="0" t="16990"/>
          <a:stretch/>
        </p:blipFill>
        <p:spPr>
          <a:xfrm>
            <a:off x="6789025" y="2906727"/>
            <a:ext cx="1522250" cy="12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472975" y="788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ko" sz="1800">
                <a:solidFill>
                  <a:schemeClr val="dk2"/>
                </a:solidFill>
              </a:rPr>
              <a:t>웨이퍼 제조 공정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694925" y="872475"/>
            <a:ext cx="17289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잉곳 성장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2429126" y="872475"/>
            <a:ext cx="17289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절단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158026" y="872033"/>
            <a:ext cx="1728900" cy="46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연마 장비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709440" y="1448457"/>
            <a:ext cx="215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웨이퍼가 ‘잉곳 장비’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3522640" y="1448457"/>
            <a:ext cx="12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‘절단 장비’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5429240" y="1456107"/>
            <a:ext cx="3685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2"/>
                </a:solidFill>
              </a:rPr>
              <a:t>‘연마 장비’로 순서대로 옮겨지는 과정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012740" y="1565907"/>
            <a:ext cx="364500" cy="22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919340" y="1565907"/>
            <a:ext cx="364500" cy="22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694925" y="2024425"/>
            <a:ext cx="567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실제 상세 이송 흐름 (공정 + 세척 + 검사)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724194" y="2600400"/>
            <a:ext cx="7695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2"/>
                </a:solidFill>
              </a:rPr>
              <a:t>잉곳 성장(Ingot)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b="1" lang="ko" sz="1500">
                <a:solidFill>
                  <a:schemeClr val="dk2"/>
                </a:solidFill>
              </a:rPr>
              <a:t>절단(Slicing)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b="1" lang="ko" sz="1500">
                <a:solidFill>
                  <a:schemeClr val="dk2"/>
                </a:solidFill>
              </a:rPr>
              <a:t>세척(Cleaning)</a:t>
            </a:r>
            <a:r>
              <a:rPr lang="ko" sz="1500">
                <a:solidFill>
                  <a:schemeClr val="dk2"/>
                </a:solidFill>
              </a:rPr>
              <a:t> : 절단 과정에서 발생한 실리콘 가루(슬러지) 제거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b="1" lang="ko" sz="1500">
                <a:solidFill>
                  <a:schemeClr val="dk2"/>
                </a:solidFill>
              </a:rPr>
              <a:t>검사(Inspection)</a:t>
            </a:r>
            <a:r>
              <a:rPr lang="ko" sz="1500">
                <a:solidFill>
                  <a:schemeClr val="dk2"/>
                </a:solidFill>
              </a:rPr>
              <a:t> : 두께 및 균열 확인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b="1" lang="ko" sz="1500">
                <a:solidFill>
                  <a:schemeClr val="dk2"/>
                </a:solidFill>
              </a:rPr>
              <a:t>연마(Grinding/Polishing)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b="1" lang="ko" sz="1500">
                <a:solidFill>
                  <a:schemeClr val="dk2"/>
                </a:solidFill>
              </a:rPr>
              <a:t>세척(Cleaning)</a:t>
            </a:r>
            <a:r>
              <a:rPr lang="ko" sz="1500">
                <a:solidFill>
                  <a:schemeClr val="dk2"/>
                </a:solidFill>
              </a:rPr>
              <a:t> : 연마제(슬러리) 및 미세 입자 제거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2"/>
                </a:solidFill>
              </a:rPr>
              <a:t>[이송]</a:t>
            </a:r>
            <a:r>
              <a:rPr lang="ko" sz="1500">
                <a:solidFill>
                  <a:schemeClr val="dk2"/>
                </a:solidFill>
              </a:rPr>
              <a:t> → </a:t>
            </a:r>
            <a:r>
              <a:rPr b="1" lang="ko" sz="1500">
                <a:solidFill>
                  <a:schemeClr val="dk2"/>
                </a:solidFill>
              </a:rPr>
              <a:t>검사(Metrology)</a:t>
            </a:r>
            <a:r>
              <a:rPr lang="ko" sz="1500">
                <a:solidFill>
                  <a:schemeClr val="dk2"/>
                </a:solidFill>
              </a:rPr>
              <a:t> : 표면 평탄도 및 최종 두께 측정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1572000" y="653150"/>
            <a:ext cx="69057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dk1"/>
                </a:solidFill>
              </a:rPr>
              <a:t>"웨이퍼 제조 공정 전체를 구현하기에는 장비 제약이 있으므로, 본 프로젝트에서는 웨이퍼 제조의 후반부인 </a:t>
            </a:r>
            <a:r>
              <a:rPr b="1" lang="ko" sz="1900">
                <a:solidFill>
                  <a:schemeClr val="dk1"/>
                </a:solidFill>
              </a:rPr>
              <a:t>연마 → 세정 → 검사</a:t>
            </a:r>
            <a:r>
              <a:rPr lang="ko" sz="1900">
                <a:solidFill>
                  <a:schemeClr val="dk1"/>
                </a:solidFill>
              </a:rPr>
              <a:t> 공정을 자동화 대상으로 선정했습니다." </a:t>
            </a:r>
            <a:endParaRPr sz="2200"/>
          </a:p>
        </p:txBody>
      </p:sp>
      <p:graphicFrame>
        <p:nvGraphicFramePr>
          <p:cNvPr id="127" name="Google Shape;127;p19"/>
          <p:cNvGraphicFramePr/>
          <p:nvPr/>
        </p:nvGraphicFramePr>
        <p:xfrm>
          <a:off x="1636795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1303200"/>
                <a:gridCol w="1877225"/>
                <a:gridCol w="3956150"/>
              </a:tblGrid>
              <a:tr h="426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Chamber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공정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설명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연마(Polishing)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표면을 평탄하고 매끄럽게 가공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세정(Cleaning)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연마 후 남은 슬러리와 미세 입자 제거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검사(Inspection)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표면 결함, 두께, 품질 검사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/>
        </p:nvSpPr>
        <p:spPr>
          <a:xfrm>
            <a:off x="2159350" y="95000"/>
            <a:ext cx="47937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FOUP A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(공정 전 웨이퍼 5장)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2축 Robot (X, Z)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┌─────────────────┐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Chamber 1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   연마   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└─────────────────┘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┌─────────────────┐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Chamber 2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   세정   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└─────────────────┘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┌─────────────────┐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Chamber 3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│      검사   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└─────────────────┘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│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     ▼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         FOUP B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/>
              <a:t>      (공정 완료 웨이퍼 5장)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3" name="Google Shape;133;p20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/>
              <a:t>1. 장비 구조 </a:t>
            </a:r>
            <a:endParaRPr b="1"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/>
        </p:nvSpPr>
        <p:spPr>
          <a:xfrm>
            <a:off x="2161325" y="878775"/>
            <a:ext cx="54852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ko" sz="3100">
                <a:solidFill>
                  <a:schemeClr val="dk1"/>
                </a:solidFill>
              </a:rPr>
              <a:t>2. 장비 프로세스</a:t>
            </a:r>
            <a:endParaRPr b="1" sz="3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FOUP A에 웨이퍼 5장 적재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Robot이 웨이퍼 1장 Pick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Chamber 1(연마) 공정 수행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Chamber 2(세정) 공정 수행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Chamber 3(검사) 공정 수행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Robot이 FOUP B에 적재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ko" sz="1900">
                <a:solidFill>
                  <a:schemeClr val="dk1"/>
                </a:solidFill>
              </a:rPr>
              <a:t>모든 웨이퍼 완료 시 종료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p22"/>
          <p:cNvGraphicFramePr/>
          <p:nvPr/>
        </p:nvGraphicFramePr>
        <p:xfrm>
          <a:off x="876775" y="10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4284325"/>
                <a:gridCol w="33518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센서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역할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A 감지 센서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존재 확인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B 감지 센서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존재 확인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감지 센서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유무 확인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Home 센서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로봇 초기 위치 확인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X축 Limit 센서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X축 이동 한계 감지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Z축 Limit 센서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Z축 이동 한계 감지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Door 센서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문 열림/닫힘 확인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 Complete 센서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완료 신호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p22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/>
              <a:t>3. 센서 </a:t>
            </a:r>
            <a:endParaRPr b="1" sz="2300"/>
          </a:p>
        </p:txBody>
      </p:sp>
      <p:sp>
        <p:nvSpPr>
          <p:cNvPr id="145" name="Google Shape;145;p22"/>
          <p:cNvSpPr txBox="1"/>
          <p:nvPr/>
        </p:nvSpPr>
        <p:spPr>
          <a:xfrm>
            <a:off x="1460650" y="213775"/>
            <a:ext cx="7444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"실습 장비는 교육용 장비이므로 별도의 물리적 센서 구성이 많지 않습니다. 위치 확인과 로봇의 위치 정보를 이용하여 제어하도록 설계</a:t>
            </a:r>
            <a:r>
              <a:rPr lang="ko" sz="1700"/>
              <a:t>예정입니다.</a:t>
            </a:r>
            <a:r>
              <a:rPr lang="ko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23"/>
          <p:cNvGraphicFramePr/>
          <p:nvPr/>
        </p:nvGraphicFramePr>
        <p:xfrm>
          <a:off x="789225" y="49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4649225"/>
                <a:gridCol w="32890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액추에이터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역할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X축 서보모터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좌우 이동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Z축 서보모터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상하 이동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Vacuum Gripper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흡착 및 이송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Door 실린더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챔버 문 개폐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연마 모터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연마(</a:t>
                      </a:r>
                      <a:r>
                        <a:rPr lang="ko"/>
                        <a:t>가상</a:t>
                      </a:r>
                      <a:r>
                        <a:rPr lang="ko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세정 노즐(펌프)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세정액 분사(</a:t>
                      </a:r>
                      <a:r>
                        <a:rPr lang="ko"/>
                        <a:t>가상</a:t>
                      </a:r>
                      <a:r>
                        <a:rPr lang="ko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검사 카메라(또는 검사 센서)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검사(</a:t>
                      </a:r>
                      <a:r>
                        <a:rPr lang="ko"/>
                        <a:t>가상</a:t>
                      </a:r>
                      <a:r>
                        <a:rPr lang="ko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51;p23"/>
          <p:cNvSpPr txBox="1"/>
          <p:nvPr/>
        </p:nvSpPr>
        <p:spPr>
          <a:xfrm>
            <a:off x="759600" y="3728850"/>
            <a:ext cx="7624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"FOUP A에 적재된 웨이퍼를 2축 로봇이 한 장씩 연마, 세정, 검사 공정으로 이송하고, 공정이 완료된 웨이퍼는 FOUP B에 적재하는 자동화 시스템입니다." </a:t>
            </a:r>
            <a:endParaRPr sz="1700"/>
          </a:p>
        </p:txBody>
      </p:sp>
      <p:sp>
        <p:nvSpPr>
          <p:cNvPr id="152" name="Google Shape;152;p23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/>
              <a:t>4. 액추에이터 </a:t>
            </a:r>
            <a:endParaRPr b="1" sz="2300"/>
          </a:p>
        </p:txBody>
      </p:sp>
      <p:sp>
        <p:nvSpPr>
          <p:cNvPr id="153" name="Google Shape;153;p23"/>
          <p:cNvSpPr txBox="1"/>
          <p:nvPr/>
        </p:nvSpPr>
        <p:spPr>
          <a:xfrm>
            <a:off x="789225" y="4436850"/>
            <a:ext cx="747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액추에이터란</a:t>
            </a:r>
            <a:r>
              <a:rPr lang="ko">
                <a:solidFill>
                  <a:srgbClr val="FF0000"/>
                </a:solidFill>
              </a:rPr>
              <a:t>?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 </a:t>
            </a:r>
            <a:r>
              <a:rPr lang="ko">
                <a:solidFill>
                  <a:srgbClr val="FF0000"/>
                </a:solidFill>
              </a:rPr>
              <a:t>전기, 공압, 유압 등의 에너지를 받아 기계적인 움직임과 물리적 힘을 만들어내는 구동 장치 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/>
        </p:nvSpPr>
        <p:spPr>
          <a:xfrm>
            <a:off x="3396350" y="973775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READY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UNLOAD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COMPLETE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0" y="71250"/>
            <a:ext cx="300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/>
              <a:t>1. State Machine (</a:t>
            </a:r>
            <a:r>
              <a:rPr b="1" lang="ko" sz="2300"/>
              <a:t>상태머신</a:t>
            </a:r>
            <a:r>
              <a:rPr b="1" lang="ko" sz="2300"/>
              <a:t>)</a:t>
            </a:r>
            <a:endParaRPr b="1"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25"/>
          <p:cNvGraphicFramePr/>
          <p:nvPr/>
        </p:nvGraphicFramePr>
        <p:xfrm>
          <a:off x="1007425" y="98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2492750"/>
                <a:gridCol w="5044850"/>
              </a:tblGrid>
              <a:tr h="37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State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00"/>
                        <a:t>설명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INIT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시스템 초기화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HOME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로봇 원점 복귀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READY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공정 대기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LOAD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FOUP A에서 웨이퍼 픽업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PROCESS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연마 → 세정 → 검사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UNLOAD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FOUP B에 웨이퍼 적재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COMPLETE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00"/>
                        <a:t>모든 웨이퍼 완료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26"/>
          <p:cNvGraphicFramePr/>
          <p:nvPr/>
        </p:nvGraphicFramePr>
        <p:xfrm>
          <a:off x="1256825" y="160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3683750"/>
                <a:gridCol w="33557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조건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설명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A 존재(</a:t>
                      </a:r>
                      <a:r>
                        <a:rPr lang="ko"/>
                        <a:t>웨어퍼 5장</a:t>
                      </a:r>
                      <a:r>
                        <a:rPr lang="ko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시작 가능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B 존재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(웨어퍼 5장)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</a:t>
                      </a:r>
                      <a:r>
                        <a:rPr lang="ko"/>
                        <a:t>여기서 완료 및 언로딩 상태</a:t>
                      </a:r>
                      <a:r>
                        <a:rPr lang="ko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Home 완료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시작 가능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Door 닫힘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각 </a:t>
                      </a:r>
                      <a:r>
                        <a:rPr lang="ko"/>
                        <a:t>공정 시작 가능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완료 신호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다음 챔버 이동 가능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Emergency Stop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모든 동작 정지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6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ko" sz="2300">
                <a:solidFill>
                  <a:schemeClr val="dk1"/>
                </a:solidFill>
              </a:rPr>
              <a:t>2. Interlock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2196950" y="239000"/>
            <a:ext cx="593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인</a:t>
            </a:r>
            <a:r>
              <a:rPr lang="ko" sz="1100">
                <a:solidFill>
                  <a:schemeClr val="dk1"/>
                </a:solidFill>
              </a:rPr>
              <a:t>터록(Interlock)은 </a:t>
            </a:r>
            <a:r>
              <a:rPr b="1" lang="ko" sz="1100">
                <a:solidFill>
                  <a:schemeClr val="dk1"/>
                </a:solidFill>
              </a:rPr>
              <a:t>"특정 조건이 만족되어야 다음 동작을 허용하는 안전 조건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/>
              <a:t>3. Alarm </a:t>
            </a:r>
            <a:endParaRPr b="1" sz="2300"/>
          </a:p>
        </p:txBody>
      </p:sp>
      <p:graphicFrame>
        <p:nvGraphicFramePr>
          <p:cNvPr id="177" name="Google Shape;177;p27"/>
          <p:cNvGraphicFramePr/>
          <p:nvPr/>
        </p:nvGraphicFramePr>
        <p:xfrm>
          <a:off x="936175" y="125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1940850"/>
                <a:gridCol w="5782950"/>
              </a:tblGrid>
              <a:tr h="356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Alarm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내용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A 없음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B 없음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감지 실패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Home 실패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Chamber Door 이상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시간 초과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AL-07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Vacuum 흡착 실패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/>
              <a:t>4. Sequence </a:t>
            </a:r>
            <a:endParaRPr b="1" sz="2300"/>
          </a:p>
        </p:txBody>
      </p:sp>
      <p:sp>
        <p:nvSpPr>
          <p:cNvPr id="183" name="Google Shape;183;p28"/>
          <p:cNvSpPr txBox="1"/>
          <p:nvPr/>
        </p:nvSpPr>
        <p:spPr>
          <a:xfrm>
            <a:off x="2828650" y="888750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START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FOUP A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Robot HOME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Robot Pick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PM1 → PM2 → PM3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(연마 → 세정 → 검사)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FOUP B 적재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남은 웨이퍼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반복 / 종료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/>
        </p:nvSpPr>
        <p:spPr>
          <a:xfrm>
            <a:off x="0" y="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/>
              <a:t>5. 2축 로봇 제어</a:t>
            </a:r>
            <a:endParaRPr b="1" sz="2300"/>
          </a:p>
        </p:txBody>
      </p:sp>
      <p:sp>
        <p:nvSpPr>
          <p:cNvPr id="189" name="Google Shape;189;p29"/>
          <p:cNvSpPr txBox="1"/>
          <p:nvPr/>
        </p:nvSpPr>
        <p:spPr>
          <a:xfrm>
            <a:off x="2042550" y="1369500"/>
            <a:ext cx="51882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chemeClr val="dk1"/>
                </a:solidFill>
              </a:rPr>
              <a:t>2축 로봇 제어</a:t>
            </a:r>
            <a:endParaRPr b="1" sz="23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로봇 원점 복귀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FOUP A에서 웨이퍼 이송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Chamber 1(연마)로 이동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Chamber 2(세정)로 이동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Chamber 3(검사)로 이동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FOUP B로 웨이퍼 이송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모든 웨이퍼 반복 수행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1948450" y="1136600"/>
            <a:ext cx="64254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Program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│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Robot(TR Robot)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FOUP (FOUP A)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FOUP (FOUP B)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Chamber (PM1)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├── Chamber (PM2)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 └── Chamber (PM3)</a:t>
            </a:r>
            <a:endParaRPr sz="2500"/>
          </a:p>
        </p:txBody>
      </p:sp>
      <p:sp>
        <p:nvSpPr>
          <p:cNvPr id="195" name="Google Shape;195;p30"/>
          <p:cNvSpPr txBox="1"/>
          <p:nvPr/>
        </p:nvSpPr>
        <p:spPr>
          <a:xfrm>
            <a:off x="0" y="0"/>
            <a:ext cx="3972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300"/>
              <a:t>해당구조로 클래스 정의 </a:t>
            </a:r>
            <a:endParaRPr sz="2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31"/>
          <p:cNvGraphicFramePr/>
          <p:nvPr/>
        </p:nvGraphicFramePr>
        <p:xfrm>
          <a:off x="314725" y="49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1152525"/>
                <a:gridCol w="3086100"/>
                <a:gridCol w="4524375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UI 영역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구성 요소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역할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상단(Header)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사용자(admin), 시스템명(EQU-KIT), 날짜·시간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현재 로그인 사용자와 시스템 정보를 표시하고 실습 시간을 확인하는 영역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중앙(Process Area)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FOUP A, 2축 Robot(X축·Z축), Blade, Process Station, FOUP B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웨이퍼 이송 과정을 시각적으로 표시하는 영역. Robot 이동, Blade 전진·후진, 웨이퍼 위치를 실시간으로 확인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공정 상태 표시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Idle, Running, Complete, Alarm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장비의 현재 운전 상태와 공정 진행 상태를 표시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장비 상태 표시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Robot 위치, Blade 상태, Wafer 유무, Door 상태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실습 장비의 주요 동작 상태를 실시간으로 표시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하단(Status Area)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FOUP A 상태, Process Station 상태, FOUP B 상태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각 위치의 웨이퍼 존재 여부와 공정 완료 상태를 표시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우측(Control Panel)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HOME, LOAD, START, STOP, RESET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초기화, 웨이퍼 적재, 공정 시작·정지 및 시스템 초기화를 수행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부가 기능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AUTO / MANUAL 모드, Alarm Reset, Exit System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자동·수동 운전 전환, 알람 해제 및 프로그램 종료 기능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00" y="121975"/>
            <a:ext cx="86316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Google Shape;210;p33"/>
          <p:cNvGraphicFramePr/>
          <p:nvPr/>
        </p:nvGraphicFramePr>
        <p:xfrm>
          <a:off x="546550" y="101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426550"/>
                <a:gridCol w="1252125"/>
                <a:gridCol w="2146500"/>
                <a:gridCol w="1761225"/>
                <a:gridCol w="2641850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순서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버튼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기능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Robot 동작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화면(HMI) 변화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①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Login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사용자 로그인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User 정보 표시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②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HOME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장비 초기화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Home 이동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= HOME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③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LOAD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A의 웨이퍼 로딩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Robot 대기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= Loaded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④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WAFER SET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처리할 웨이퍼 선택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대기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Ready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⑤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START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시작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Pick &amp; Place 시작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Status = Running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⑥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STOP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일시 정지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즉시 정지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Status = Stop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⑦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RESET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Alarm 및 상태 초기화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Home 복귀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Alarm 해제, Idle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⑧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UNLOAD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처리 완료 웨이퍼 배출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FOUP B 이동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Status = Complete → Idle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34"/>
          <p:cNvGraphicFramePr/>
          <p:nvPr/>
        </p:nvGraphicFramePr>
        <p:xfrm>
          <a:off x="1384075" y="119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295275"/>
                <a:gridCol w="1038225"/>
                <a:gridCol w="3810000"/>
                <a:gridCol w="1409700"/>
              </a:tblGrid>
              <a:tr h="41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순서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로그 항목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기록 내용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목적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①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Login Log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로그인 사용자 및 로그인 시간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사용자 이력 관리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②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Operation Log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HOME, LOAD, START, STOP, RESET, UNLOAD 실행 시간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장비 운전 이력 관리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③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 Log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Pick, Wafer Place, Process Complete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공정 진행 이력 추적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④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Alarm Log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Alarm 발생/해제 시간 및 내용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장애 원인 분석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⑤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System Log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프로그램 시작/종료, 시스템 상태 변경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시스템 운영 이력 관리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34"/>
          <p:cNvSpPr txBox="1"/>
          <p:nvPr/>
        </p:nvSpPr>
        <p:spPr>
          <a:xfrm>
            <a:off x="304800" y="304800"/>
            <a:ext cx="30000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ko" sz="1300"/>
              <a:t>② Event / Operation Log</a:t>
            </a:r>
            <a:endParaRPr b="1" sz="1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p35"/>
          <p:cNvGraphicFramePr/>
          <p:nvPr/>
        </p:nvGraphicFramePr>
        <p:xfrm>
          <a:off x="428300" y="81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{ED185622-889E-4D37-B0E4-A5AC8D12F3F7}</a:tableStyleId>
              </a:tblPr>
              <a:tblGrid>
                <a:gridCol w="1473000"/>
                <a:gridCol w="1772200"/>
                <a:gridCol w="2209475"/>
                <a:gridCol w="3337250"/>
              </a:tblGrid>
              <a:tr h="34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Time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Category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Message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Result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09:30:01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Login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Admin Login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Success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09:30:15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Operation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HOME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Complete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09:30:28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Operation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LOAD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Success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09:30:40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Operation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SET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#01 Selected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09:31:00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START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Running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09:31:12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Pick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Complete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09:31:35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Wafer Place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Complete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09:31:50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Process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UNLOAD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Complete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/>
        </p:nvSpPr>
        <p:spPr>
          <a:xfrm>
            <a:off x="3527550" y="1960825"/>
            <a:ext cx="2088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5100">
                <a:solidFill>
                  <a:schemeClr val="dk2"/>
                </a:solidFill>
              </a:rPr>
              <a:t>Q &amp; A</a:t>
            </a:r>
            <a:endParaRPr sz="5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인터록이나 로그에 관련해서 세부 정리 필요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