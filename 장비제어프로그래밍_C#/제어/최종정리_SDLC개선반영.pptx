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1" r:id="rId26"/>
    <p:sldId id="282" r:id="rId27"/>
    <p:sldId id="283" r:id="rId28"/>
    <p:sldId id="284" r:id="rId29"/>
    <p:sldId id="279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185622-889E-4D37-B0E4-A5AC8D12F3F7}">
  <a:tblStyle styleId="{ED185622-889E-4D37-B0E4-A5AC8D12F3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59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ffdbd5d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ffdbd5d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ffdbd5db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ffdbd5db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fdbd5db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fdbd5db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ffdbd5dbb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ffdbd5dbb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ffdbd5dbb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ffdbd5dbb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ffdbd5dbb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ffdbd5dbb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ffdbd5dbb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ffdbd5dbb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ffdbd5dbb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ffdbd5dbb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fdbd5dbb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ffdbd5dbb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ffdbd5dbb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ffdbd5dbb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ffdbd5dbb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ffdbd5dbb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ffdbd5dbb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ffdbd5dbb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ffdbd5dbb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ffdbd5dbb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ffdbd5dbb_0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ffdbd5dbb_0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fdbd5dbb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ffdbd5dbb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ffdbd5dbb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ffdbd5dbb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ffdbd5dbb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ffdbd5dbb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02005173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02005173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02005173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02005173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02005173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02005173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020051737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020051737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020051737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020051737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020051737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020051737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02005173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02005173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oogle.com/search?q=https://www.nidec.com/en/nidec-machinetool/product/machine/wire-saw/&amp;authuser=1" TargetMode="External"/><Relationship Id="rId5" Type="http://schemas.openxmlformats.org/officeDocument/2006/relationships/hyperlink" Target="https://www.google.com/search?q=https://www.disco.co.jp/kr/products/laser/kabra.html&amp;authuser=1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49535" y="1810575"/>
            <a:ext cx="5226300" cy="2200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 dirty="0">
                <a:solidFill>
                  <a:schemeClr val="dk2"/>
                </a:solidFill>
              </a:rPr>
              <a:t>반도체 8대 공정 Survey</a:t>
            </a:r>
            <a:endParaRPr sz="3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 dirty="0">
                <a:solidFill>
                  <a:schemeClr val="dk2"/>
                </a:solidFill>
              </a:rPr>
              <a:t>실습 장비 구현 방향 </a:t>
            </a:r>
            <a:r>
              <a:rPr lang="ko" sz="3500" dirty="0" smtClean="0">
                <a:solidFill>
                  <a:schemeClr val="dk2"/>
                </a:solidFill>
              </a:rPr>
              <a:t>설명</a:t>
            </a:r>
            <a:endParaRPr lang="en-US" altLang="ko" sz="3500" dirty="0" smtClean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500" dirty="0" smtClean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 err="1" smtClean="0">
                <a:solidFill>
                  <a:schemeClr val="dk2"/>
                </a:solidFill>
              </a:rPr>
              <a:t>폴리텍</a:t>
            </a:r>
            <a:r>
              <a:rPr lang="ko-KR" altLang="en-US" sz="1100" dirty="0" smtClean="0">
                <a:solidFill>
                  <a:schemeClr val="dk2"/>
                </a:solidFill>
              </a:rPr>
              <a:t> 반도체융합대학 </a:t>
            </a:r>
            <a:endParaRPr lang="en-US" altLang="ko-KR" sz="1100" dirty="0" smtClean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 smtClean="0">
                <a:solidFill>
                  <a:schemeClr val="dk2"/>
                </a:solidFill>
              </a:rPr>
              <a:t>반도체장비소프트웨어과 </a:t>
            </a:r>
            <a:r>
              <a:rPr lang="ko-KR" altLang="en-US" sz="1100" dirty="0" err="1" smtClean="0">
                <a:solidFill>
                  <a:schemeClr val="dk2"/>
                </a:solidFill>
              </a:rPr>
              <a:t>조태섭</a:t>
            </a:r>
            <a:endParaRPr lang="en-US"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33550" y="497275"/>
            <a:ext cx="2601300" cy="4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공정 이해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│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웨이퍼 제조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산화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포토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식각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증착/이온주입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금속배선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EDS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└─ 패키징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187275" y="497275"/>
            <a:ext cx="2601300" cy="4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장비 분석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│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장비 구조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장비 프로세스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센서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└─ 액추에이터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788575" y="497275"/>
            <a:ext cx="2601300" cy="4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SW 설계 및 실습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│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State Machine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Interlock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Alarm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Sequence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└─ 2축 로봇 제어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512625" y="1468175"/>
            <a:ext cx="404100" cy="266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5291300" y="1468175"/>
            <a:ext cx="404100" cy="266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1" name="Google Shape;3001;p26"/>
          <p:cNvGraphicFramePr/>
          <p:nvPr/>
        </p:nvGraphicFramePr>
        <p:xfrm>
          <a:off x="460000" y="1330000"/>
          <a:ext cx="7700000" cy="24175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단계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본 프로젝트 적용 내용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① 요구사항 분석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반도체 8대 공정 조사 → 장비 제약 고려하여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자동화 대상 선정 (연마 → 세정 → 검사)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② 설계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State Machine · Interlock · Alarm · Sequence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클래스 구조 설계 · SEMI E95 HMI 화면 설계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③ 구현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2축 로봇 제어(EtherCAT) · 챔버/도어/진공 IO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WinForms 기반 HMI · 로그(log4net) 구현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④ 테스트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실기 시연으로 전체 사이클 동작 검증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(FOUP A → PM1 → PM2 → PM3 → FOUP B)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⑤ 유지보수 / 개선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시연 피드백 반영 — 축 초기화 로직 개선,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인터록 정리(4가지), 로봇 동작 경로 최적화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02" name="Google Shape;3002;p26"/>
          <p:cNvSpPr txBox="1"/>
          <p:nvPr/>
        </p:nvSpPr>
        <p:spPr>
          <a:xfrm>
            <a:off x="0" y="0"/>
            <a:ext cx="72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개발 프로세스 — 소프트웨어 개발 생명주기 (SDLC)</a:t>
            </a:r>
            <a:endParaRPr sz="2300" b="1"/>
          </a:p>
        </p:txBody>
      </p:sp>
      <p:sp>
        <p:nvSpPr>
          <p:cNvPr id="3003" name="Google Shape;3003;p26"/>
          <p:cNvSpPr txBox="1"/>
          <p:nvPr/>
        </p:nvSpPr>
        <p:spPr>
          <a:xfrm>
            <a:off x="460000" y="640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반도체 실습 장비 개발을 소프트웨어 공학의 5단계(SDLC)로 나누어 진행했습니다.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521" y="872478"/>
            <a:ext cx="2788399" cy="156727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11225" y="1520050"/>
            <a:ext cx="56757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국내 관련 기업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SK실트론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국내 최대 실리콘 웨이퍼 제조사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잉곳 성장 및 웨이퍼 생산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S-TECH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국내에서 단결정 잉곳 성장 장비 제조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해외 기업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PVA TePla, Mitsubishi Electric, Ferrotec Holdings 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148675" y="2571750"/>
            <a:ext cx="248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출처: SK실트론 이미지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2625" y="3251625"/>
            <a:ext cx="1448525" cy="18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173425" y="4453750"/>
            <a:ext cx="162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출처: S-TECH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827700" y="1734200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926225" y="1744050"/>
            <a:ext cx="5675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주요기업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DISCO(세계1위)(일본)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Nidec(일본)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775" y="199650"/>
            <a:ext cx="23812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950" y="2715225"/>
            <a:ext cx="2381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148675" y="2243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출처 및 정보:</a:t>
            </a:r>
            <a:r>
              <a:rPr lang="ko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ko" sz="1100" u="sng">
                <a:solidFill>
                  <a:schemeClr val="hlink"/>
                </a:solidFill>
                <a:hlinkClick r:id="rId5"/>
              </a:rPr>
              <a:t>DISCO 공식 홈페이지 - KABRA! zen 제품 페이지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070400" y="4620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출처 및 정보:</a:t>
            </a:r>
            <a:r>
              <a:rPr lang="ko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ko" sz="1100" u="sng">
                <a:solidFill>
                  <a:schemeClr val="hlink"/>
                </a:solidFill>
                <a:hlinkClick r:id="rId6"/>
              </a:rPr>
              <a:t>Nidec Machine Tool - 와이어 쏘 장비 소개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985350" y="2766425"/>
            <a:ext cx="4434000" cy="9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1. 와이어 쏘 (Wire Saw / Diamond Wire Saw)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가장 보편적이고 전통적인 방식입니다. 잉곳을 여러 장의 웨이퍼로 동시에 자르는 '다중 절단'에 최적화되어 있습니다.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044475" y="3892100"/>
            <a:ext cx="4266600" cy="9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2. 레이저 슬라이싱 (Laser Slicing / Laser Dicing)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최근 전력 반도체(SiC, GaN 등) 시장이 커지면서 급부상한 방식입니다. 잉곳을 '깎는' 것이 아니라 '분리'하는 개념에 가깝습니다.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94925" y="1517450"/>
            <a:ext cx="123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주요기업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94925" y="2049525"/>
            <a:ext cx="4083900" cy="2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웨이퍼 뒷면 연마 (Back Grinding):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 b="1">
                <a:solidFill>
                  <a:schemeClr val="dk1"/>
                </a:solidFill>
              </a:rPr>
              <a:t>DISCO (일본):</a:t>
            </a:r>
            <a:r>
              <a:rPr lang="ko" sz="1100">
                <a:solidFill>
                  <a:schemeClr val="dk1"/>
                </a:solidFill>
              </a:rPr>
              <a:t> 초박형 웨이퍼 연마 장비(DFG 시리즈) 시장 점유율 1위입니다.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 b="1">
                <a:solidFill>
                  <a:schemeClr val="dk1"/>
                </a:solidFill>
              </a:rPr>
              <a:t>ACCRETECH (일본):</a:t>
            </a:r>
            <a:r>
              <a:rPr lang="ko" sz="1100">
                <a:solidFill>
                  <a:schemeClr val="dk1"/>
                </a:solidFill>
              </a:rPr>
              <a:t> 그라인딩 및 정밀 연마 분야의 핵심 기업입니다.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표면 평탄화 (CMP - Chemical Mechanical Polishing):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 b="1">
                <a:solidFill>
                  <a:schemeClr val="dk1"/>
                </a:solidFill>
              </a:rPr>
              <a:t>Applied Materials (미국):</a:t>
            </a:r>
            <a:r>
              <a:rPr lang="ko" sz="1100">
                <a:solidFill>
                  <a:schemeClr val="dk1"/>
                </a:solidFill>
              </a:rPr>
              <a:t> CMP 공정 장비 분야 세계 1위 기업입니다.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 b="1">
                <a:solidFill>
                  <a:schemeClr val="dk1"/>
                </a:solidFill>
              </a:rPr>
              <a:t>EBARA (일본):</a:t>
            </a:r>
            <a:r>
              <a:rPr lang="ko" sz="1100">
                <a:solidFill>
                  <a:schemeClr val="dk1"/>
                </a:solidFill>
              </a:rPr>
              <a:t> 어플라이드와 경쟁하는 CMP 장비 전문 기업입니다.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725" y="199650"/>
            <a:ext cx="2381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6222247" y="3842853"/>
            <a:ext cx="30000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2. CMP 시스템 (CMP System)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웨이퍼 표면을 화학적/물리적으로 평탄하게 만드는 고난도 장비로, 어플라이드 머티어리얼즈(Applied Materials)의 시스템이 전 세계 표준으로 쓰입니다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301075" y="1517450"/>
            <a:ext cx="3000000" cy="1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1. 웨이퍼 그라인더 (Wafer Grinder)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웨이퍼의 두께를 균일하게 깎아내는 물리적 연마 장비로, 디스코(DISCO)사의 장비가 대표적입니다.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4">
            <a:alphaModFix/>
          </a:blip>
          <a:srcRect t="16990" b="-16990"/>
          <a:stretch/>
        </p:blipFill>
        <p:spPr>
          <a:xfrm>
            <a:off x="6789025" y="2906727"/>
            <a:ext cx="1522250" cy="12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709440" y="1448457"/>
            <a:ext cx="215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웨이퍼가 ‘잉곳 장비’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522640" y="1448457"/>
            <a:ext cx="12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‘절단 장비’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5429240" y="1456107"/>
            <a:ext cx="3685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2"/>
                </a:solidFill>
              </a:rPr>
              <a:t>‘연마 장비’로 순서대로 옮겨지는 과정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012740" y="1565907"/>
            <a:ext cx="364500" cy="22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919340" y="1565907"/>
            <a:ext cx="364500" cy="22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694925" y="20244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실제 상세 이송 흐름 (공정 + 세척 + 검사)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724194" y="2600400"/>
            <a:ext cx="76956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</a:rPr>
              <a:t>잉곳 성장(Ingot)</a:t>
            </a:r>
            <a:endParaRPr sz="15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lang="ko" sz="1500" b="1">
                <a:solidFill>
                  <a:schemeClr val="dk2"/>
                </a:solidFill>
              </a:rPr>
              <a:t>절단(Slicing)</a:t>
            </a:r>
            <a:endParaRPr sz="15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lang="ko" sz="1500" b="1">
                <a:solidFill>
                  <a:schemeClr val="dk2"/>
                </a:solidFill>
              </a:rPr>
              <a:t>세척(Cleaning)</a:t>
            </a:r>
            <a:r>
              <a:rPr lang="ko" sz="1500">
                <a:solidFill>
                  <a:schemeClr val="dk2"/>
                </a:solidFill>
              </a:rPr>
              <a:t> : 절단 과정에서 발생한 실리콘 가루(슬러지) 제거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lang="ko" sz="1500" b="1">
                <a:solidFill>
                  <a:schemeClr val="dk2"/>
                </a:solidFill>
              </a:rPr>
              <a:t>검사(Inspection)</a:t>
            </a:r>
            <a:r>
              <a:rPr lang="ko" sz="1500">
                <a:solidFill>
                  <a:schemeClr val="dk2"/>
                </a:solidFill>
              </a:rPr>
              <a:t> : 두께 및 균열 확인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lang="ko" sz="1500" b="1">
                <a:solidFill>
                  <a:schemeClr val="dk2"/>
                </a:solidFill>
              </a:rPr>
              <a:t>연마(Grinding/Polishing)</a:t>
            </a:r>
            <a:endParaRPr sz="15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lang="ko" sz="1500" b="1">
                <a:solidFill>
                  <a:schemeClr val="dk2"/>
                </a:solidFill>
              </a:rPr>
              <a:t>세척(Cleaning)</a:t>
            </a:r>
            <a:r>
              <a:rPr lang="ko" sz="1500">
                <a:solidFill>
                  <a:schemeClr val="dk2"/>
                </a:solidFill>
              </a:rPr>
              <a:t> : 연마제(슬러리) 및 미세 입자 제거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lang="ko" sz="1500" b="1">
                <a:solidFill>
                  <a:schemeClr val="dk2"/>
                </a:solidFill>
              </a:rPr>
              <a:t>검사(Metrology)</a:t>
            </a:r>
            <a:r>
              <a:rPr lang="ko" sz="1500">
                <a:solidFill>
                  <a:schemeClr val="dk2"/>
                </a:solidFill>
              </a:rPr>
              <a:t> : 표면 평탄도 및 최종 두께 측정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1572000" y="653150"/>
            <a:ext cx="69057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dk1"/>
                </a:solidFill>
              </a:rPr>
              <a:t>"웨이퍼 제조 공정 전체를 구현하기에는 장비 제약이 있으므로, 본 프로젝트에서는 웨이퍼 제조의 후반부인 </a:t>
            </a:r>
            <a:r>
              <a:rPr lang="ko" sz="1900" b="1">
                <a:solidFill>
                  <a:schemeClr val="dk1"/>
                </a:solidFill>
              </a:rPr>
              <a:t>연마 → 세정 → 검사</a:t>
            </a:r>
            <a:r>
              <a:rPr lang="ko" sz="1900">
                <a:solidFill>
                  <a:schemeClr val="dk1"/>
                </a:solidFill>
              </a:rPr>
              <a:t> 공정을 자동화 대상으로 선정했습니다." </a:t>
            </a:r>
            <a:endParaRPr sz="2200"/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1636795" y="1981200"/>
          <a:ext cx="7136575" cy="2487925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30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Chamber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공정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설명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연마(Polishing)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표면을 평탄하고 매끄럽게 가공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세정(Cleaning)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연마 후 남은 슬러리와 미세 입자 제거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검사(Inspection)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표면 결함, 두께, 품질 검사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2159350" y="95000"/>
            <a:ext cx="4793700" cy="49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FOUP A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(공정 전 웨이퍼 5장)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2축 Robot (X, Z)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┌─────────────────┐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Chamber 1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   연마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└─────────────────┘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┌─────────────────┐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Chamber 2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   세정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└─────────────────┘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┌─────────────────┐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Chamber 3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   검사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└─────────────────┘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FOUP B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(공정 완료 웨이퍼 5장)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33" name="Google Shape;133;p20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1. 장비 구조 </a:t>
            </a:r>
            <a:endParaRPr sz="23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2161325" y="878775"/>
            <a:ext cx="5485200" cy="3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ko" sz="3100" b="1">
                <a:solidFill>
                  <a:schemeClr val="dk1"/>
                </a:solidFill>
              </a:rPr>
              <a:t>2. 장비 프로세스</a:t>
            </a:r>
            <a:endParaRPr sz="31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FOUP A에 웨이퍼 5장 적재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Robot이 웨이퍼 1장 Pick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Chamber 1(연마) 공정 수행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Chamber 2(세정) 공정 수행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Chamber 3(검사) 공정 수행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Robot이 FOUP B에 적재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모든 웨이퍼 완료 시 종료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22"/>
          <p:cNvGraphicFramePr/>
          <p:nvPr/>
        </p:nvGraphicFramePr>
        <p:xfrm>
          <a:off x="876775" y="1043050"/>
          <a:ext cx="7636200" cy="3545316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42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센서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역할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감지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존재 확인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감지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존재 확인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감지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유무 확인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Home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로봇 초기 위치 확인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X축 Limit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X축 이동 한계 감지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Z축 Limit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Z축 이동 한계 감지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문 열림/닫힘 확인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 Complete 센서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완료 신호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4" name="Google Shape;144;p22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3. 센서 </a:t>
            </a:r>
            <a:endParaRPr sz="2300" b="1"/>
          </a:p>
        </p:txBody>
      </p:sp>
      <p:sp>
        <p:nvSpPr>
          <p:cNvPr id="145" name="Google Shape;145;p22"/>
          <p:cNvSpPr txBox="1"/>
          <p:nvPr/>
        </p:nvSpPr>
        <p:spPr>
          <a:xfrm>
            <a:off x="1460650" y="213775"/>
            <a:ext cx="7444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"실습 장비는 교육용 장비이므로 별도의 물리적 센서 구성이 많지 않습니다. 위치 확인과 로봇의 위치 정보를 이용하여 제어하도록 설계예정입니다.</a:t>
            </a:r>
            <a:r>
              <a:rPr lang="ko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23"/>
          <p:cNvGraphicFramePr/>
          <p:nvPr/>
        </p:nvGraphicFramePr>
        <p:xfrm>
          <a:off x="789225" y="492350"/>
          <a:ext cx="7938300" cy="3149106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464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액추에이터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역할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X축 서보모터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좌우 이동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Z축 서보모터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상하 이동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Vacuum Gripper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흡착 및 이송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실린더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챔버 문 개폐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연마 모터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연마(가상)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세정 노즐(펌프)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세정액 분사(가상)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검사 카메라(또는 검사 센서)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검사(가상)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1" name="Google Shape;151;p23"/>
          <p:cNvSpPr txBox="1"/>
          <p:nvPr/>
        </p:nvSpPr>
        <p:spPr>
          <a:xfrm>
            <a:off x="759600" y="3728850"/>
            <a:ext cx="7624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"FOUP A에 적재된 웨이퍼를 2축 로봇이 한 장씩 연마, 세정, 검사 공정으로 이송하고, 공정이 완료된 웨이퍼는 FOUP B에 적재하는 자동화 시스템입니다." </a:t>
            </a:r>
            <a:endParaRPr sz="1700"/>
          </a:p>
        </p:txBody>
      </p:sp>
      <p:sp>
        <p:nvSpPr>
          <p:cNvPr id="152" name="Google Shape;152;p23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4. 액추에이터 </a:t>
            </a:r>
            <a:endParaRPr sz="2300" b="1"/>
          </a:p>
        </p:txBody>
      </p:sp>
      <p:sp>
        <p:nvSpPr>
          <p:cNvPr id="153" name="Google Shape;153;p23"/>
          <p:cNvSpPr txBox="1"/>
          <p:nvPr/>
        </p:nvSpPr>
        <p:spPr>
          <a:xfrm>
            <a:off x="789225" y="4436850"/>
            <a:ext cx="747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액추에이터란?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 전기, 공압, 유압 등의 에너지를 받아 기계적인 움직임과 물리적 힘을 만들어내는 구동 장치 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3396350" y="973775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PROCESS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UNLOAD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COMPLETE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0" y="71250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1. State Machine (상태머신)</a:t>
            </a:r>
            <a:endParaRPr sz="23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5"/>
          <p:cNvGraphicFramePr/>
          <p:nvPr/>
        </p:nvGraphicFramePr>
        <p:xfrm>
          <a:off x="1007425" y="987925"/>
          <a:ext cx="7537600" cy="3397518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249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/>
                        <a:t>State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/>
                        <a:t>설명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INIT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시스템 초기화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HOME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로봇 원점 복귀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READY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공정 대기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LOAD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FOUP A에서 웨이퍼 픽업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PROCESS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연마 → 세정 → 검사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UNLOAD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FOUP B에 웨이퍼 적재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COMPLETE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모든 웨이퍼 완료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26"/>
          <p:cNvGraphicFramePr/>
          <p:nvPr/>
        </p:nvGraphicFramePr>
        <p:xfrm>
          <a:off x="1256825" y="1601200"/>
          <a:ext cx="7039475" cy="2752896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368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조건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설명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존재(웨어퍼 5장)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시작 가능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존재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(웨어퍼 5장)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(여기서 완료 및 언로딩 상태)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Home 완료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시작 가능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닫힘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각 공정 시작 가능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완료 신호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다음 챔버 이동 가능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Emergency Stop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모든 동작 정지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0" name="Google Shape;170;p26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ko" sz="2300" b="1">
                <a:solidFill>
                  <a:schemeClr val="dk1"/>
                </a:solidFill>
              </a:rPr>
              <a:t>2. Interlock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196950" y="239000"/>
            <a:ext cx="5936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인터록(Interlock)은 </a:t>
            </a:r>
            <a:r>
              <a:rPr lang="ko" sz="1100" b="1">
                <a:solidFill>
                  <a:schemeClr val="dk1"/>
                </a:solidFill>
              </a:rPr>
              <a:t>"특정 조건이 만족되어야 다음 동작을 허용하는 안전 조건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3. Alarm </a:t>
            </a:r>
            <a:endParaRPr sz="2300" b="1"/>
          </a:p>
        </p:txBody>
      </p:sp>
      <p:graphicFrame>
        <p:nvGraphicFramePr>
          <p:cNvPr id="177" name="Google Shape;177;p27"/>
          <p:cNvGraphicFramePr/>
          <p:nvPr/>
        </p:nvGraphicFramePr>
        <p:xfrm>
          <a:off x="936175" y="1256850"/>
          <a:ext cx="7723800" cy="3149106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9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Alarm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내용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없음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AL-02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없음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AL-03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감지 실패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AL-04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Home 실패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이상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AL-06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시간 초과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AL-07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Vacuum 흡착 실패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4. Sequence </a:t>
            </a:r>
            <a:endParaRPr sz="2300" b="1"/>
          </a:p>
        </p:txBody>
      </p:sp>
      <p:sp>
        <p:nvSpPr>
          <p:cNvPr id="183" name="Google Shape;183;p28"/>
          <p:cNvSpPr txBox="1"/>
          <p:nvPr/>
        </p:nvSpPr>
        <p:spPr>
          <a:xfrm>
            <a:off x="2828650" y="88875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FOUP A 확인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Robot HOME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Robot Pick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PM1 → PM2 → PM3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(연마 → 세정 → 검사)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FOUP B 적재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남은 웨이퍼 확인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반복 / 종료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5. 2축 로봇 제어</a:t>
            </a:r>
            <a:endParaRPr sz="2300" b="1"/>
          </a:p>
        </p:txBody>
      </p:sp>
      <p:sp>
        <p:nvSpPr>
          <p:cNvPr id="189" name="Google Shape;189;p29"/>
          <p:cNvSpPr txBox="1"/>
          <p:nvPr/>
        </p:nvSpPr>
        <p:spPr>
          <a:xfrm>
            <a:off x="2042550" y="1369500"/>
            <a:ext cx="5188200" cy="2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2300" b="1">
                <a:solidFill>
                  <a:schemeClr val="dk1"/>
                </a:solidFill>
              </a:rPr>
              <a:t>2축 로봇 제어</a:t>
            </a:r>
            <a:endParaRPr sz="23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로봇 원점 복귀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FOUP A에서 웨이퍼 이송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Chamber 1(연마)로 이동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Chamber 2(세정)로 이동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Chamber 3(검사)로 이동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FOUP B로 웨이퍼 이송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모든 웨이퍼 반복 수행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1948450" y="1136600"/>
            <a:ext cx="64254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Program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│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Robot(TR Robot)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FOUP (FOUP A)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FOUP (FOUP B)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Chamber (PM1)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Chamber (PM2)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└── Chamber (PM3)</a:t>
            </a:r>
            <a:endParaRPr sz="2500"/>
          </a:p>
        </p:txBody>
      </p:sp>
      <p:sp>
        <p:nvSpPr>
          <p:cNvPr id="195" name="Google Shape;195;p30"/>
          <p:cNvSpPr txBox="1"/>
          <p:nvPr/>
        </p:nvSpPr>
        <p:spPr>
          <a:xfrm>
            <a:off x="0" y="0"/>
            <a:ext cx="3972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/>
              <a:t>해당구조로 클래스 정의 </a:t>
            </a:r>
            <a:endParaRPr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31"/>
          <p:cNvGraphicFramePr/>
          <p:nvPr/>
        </p:nvGraphicFramePr>
        <p:xfrm>
          <a:off x="314725" y="497325"/>
          <a:ext cx="8763000" cy="4154946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UI 영역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구성 요소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역할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상단(Header)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사용자(admin), 시스템명(EQU-KIT), 날짜·시간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현재 로그인 사용자와 시스템 정보를 표시하고 실습 시간을 확인하는 영역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중앙(Process Area)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FOUP A, 2축 Robot(X축·Z축), Blade, Process Station, FOUP B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이송 과정을 시각적으로 표시하는 영역. Robot 이동, Blade 전진·후진, 웨이퍼 위치를 실시간으로 확인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공정 상태 표시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Idle, Running, Complete, Alarm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장비의 현재 운전 상태와 공정 진행 상태를 표시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장비 상태 표시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Robot 위치, Blade 상태, Wafer 유무, Door 상태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실습 장비의 주요 동작 상태를 실시간으로 표시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하단(Status Area)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FOUP A 상태, Process Station 상태, FOUP B 상태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각 위치의 웨이퍼 존재 여부와 공정 완료 상태를 표시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조작부(Operation)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HOME, INIT, WAFER SET, START, STOP, 수동조작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초기화, 웨이퍼 적재, 공정 시작·정지 및 시스템 초기화를 수행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시스템 제어(하단)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AUTO/MANUAL, ALARM RESET, 로그 저장, EXIT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자동·수동 운전 전환, 알람 해제 및 프로그램 종료 기능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00" y="121975"/>
            <a:ext cx="86316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33"/>
          <p:cNvGraphicFramePr/>
          <p:nvPr/>
        </p:nvGraphicFramePr>
        <p:xfrm>
          <a:off x="546550" y="1019500"/>
          <a:ext cx="8228250" cy="3951462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42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순서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버튼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기능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Robot 동작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화면(HMI) 변화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①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Login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사용자 로그인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User 정보 표시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②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HOME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장비 초기화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 이동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= HOME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③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INIT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웨이퍼 로딩 + 축 원점 초기화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대기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= Loaded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④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WAFER SET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처리할 웨이퍼 선택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대기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Ready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⑤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START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시작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Pick &amp; Place 시작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Status = Running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⑥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STOP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일시 정지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즉시 정지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Status = Stop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⑦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ALARM RESET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및 상태 초기화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(재호밍은 INIT)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해제, Idle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⑧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UNLOAD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처리 완료 웨이퍼 배출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이동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Status = Complete → Idle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34"/>
          <p:cNvGraphicFramePr/>
          <p:nvPr/>
        </p:nvGraphicFramePr>
        <p:xfrm>
          <a:off x="1384075" y="1191600"/>
          <a:ext cx="6553200" cy="3402912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순서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로그 항목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기록 내용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목적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①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Login Log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로그인 사용자 및 로그인 시간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사용자 이력 관리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②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 Log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HOME, LOAD, START, STOP, RESET, UNLOAD 실행 시간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장비 운전 이력 관리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③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 Log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Pick, Wafer Place, Process Complete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진행 이력 추적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④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Log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발생/해제 시간 및 내용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장애 원인 분석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⑤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System Log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프로그램 시작/종료, 시스템 상태 변경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시스템 운영 이력 관리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6" name="Google Shape;216;p34"/>
          <p:cNvSpPr txBox="1"/>
          <p:nvPr/>
        </p:nvSpPr>
        <p:spPr>
          <a:xfrm>
            <a:off x="304800" y="304800"/>
            <a:ext cx="3000000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ko" sz="1300" b="1"/>
              <a:t>② Event / Operation Log</a:t>
            </a:r>
            <a:endParaRPr sz="13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35"/>
          <p:cNvGraphicFramePr/>
          <p:nvPr/>
        </p:nvGraphicFramePr>
        <p:xfrm>
          <a:off x="428300" y="815475"/>
          <a:ext cx="8791925" cy="3545316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4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Time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Category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Message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Result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09:30:01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Login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Admin Login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Success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09:30:15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09:30:28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LOAD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Success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09:30:40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SET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#01 Selected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09:31:00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START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Running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09:31:12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Pick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09:31:35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Place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09:31:50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UNLOAD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oogle Shape;3101;p26"/>
          <p:cNvGraphicFramePr/>
          <p:nvPr/>
        </p:nvGraphicFramePr>
        <p:xfrm>
          <a:off x="460000" y="1330000"/>
          <a:ext cx="7700000" cy="13028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/>
                        <a:t>구분</a:t>
                      </a:r>
                      <a:endParaRPr sz="10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/>
                        <a:t>현상 (문제점)</a:t>
                      </a:r>
                      <a:endParaRPr sz="10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/>
                        <a:t>개선 방향</a:t>
                      </a:r>
                      <a:endParaRPr sz="10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/>
                        <a:t>① 축 초기화</a:t>
                      </a:r>
                      <a:endParaRPr sz="10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STOP/초기화 후 X·Z축이 초기값(0,0)으로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복귀하지 않음</a:t>
                      </a:r>
                      <a:endParaRPr sz="10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LOAD → INIT 개명, 초기화 로직 개선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(호밍 전 사전 이동 + 도달값 검증·재보정)</a:t>
                      </a:r>
                      <a:endParaRPr sz="10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/>
                        <a:t>② 인터록 정리</a:t>
                      </a:r>
                      <a:endParaRPr sz="10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과도한 인터록으로 불필요한 알람 발생</a:t>
                      </a:r>
                      <a:endParaRPr sz="10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충돌 방지에 꼭 필요한 핵심 4가지만 유지</a:t>
                      </a:r>
                      <a:endParaRPr sz="10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/>
                        <a:t>③ 로봇 동작</a:t>
                      </a:r>
                      <a:endParaRPr sz="10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Pick 후 안착 위치를 여러 번 경유하는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불필요한 동작 발생</a:t>
                      </a:r>
                      <a:endParaRPr sz="10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블레이드 후진 → X축 이동 → 상황별 Z축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이동으로 경로 단순화</a:t>
                      </a:r>
                      <a:endParaRPr sz="10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02" name="Google Shape;3102;p26"/>
          <p:cNvSpPr txBox="1"/>
          <p:nvPr/>
        </p:nvSpPr>
        <p:spPr>
          <a:xfrm>
            <a:off x="0" y="0"/>
            <a:ext cx="72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⑤ 유지보수 — 시연 후 개선 (3가지)</a:t>
            </a:r>
            <a:endParaRPr sz="2300" b="1"/>
          </a:p>
        </p:txBody>
      </p:sp>
      <p:sp>
        <p:nvSpPr>
          <p:cNvPr id="3103" name="Google Shape;3103;p26"/>
          <p:cNvSpPr txBox="1"/>
          <p:nvPr/>
        </p:nvSpPr>
        <p:spPr>
          <a:xfrm>
            <a:off x="460000" y="640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테스트(시연)에서 드러난 문제를 유지보수 단계에서 반영했습니다.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p28"/>
          <p:cNvSpPr txBox="1"/>
          <p:nvPr/>
        </p:nvSpPr>
        <p:spPr>
          <a:xfrm>
            <a:off x="0" y="71250"/>
            <a:ext cx="72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개선 ① 축 초기화 로직 (LOAD → INIT)</a:t>
            </a:r>
            <a:endParaRPr sz="2300" b="1"/>
          </a:p>
        </p:txBody>
      </p:sp>
      <p:sp>
        <p:nvSpPr>
          <p:cNvPr id="3202" name="Google Shape;3202;p28"/>
          <p:cNvSpPr txBox="1"/>
          <p:nvPr/>
        </p:nvSpPr>
        <p:spPr>
          <a:xfrm>
            <a:off x="2900000" y="880000"/>
            <a:ext cx="34000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[ INIT 버튼 초기화 시퀀스 ]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서보 모터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드라이브 준비 대기 (1.5초)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이송 파라미터(속도·가감속) 적용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근처로 직접 사전 이동  ★핵심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(원점에서 멀면 호밍이 극저속이라 우회)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Z축 → X축 원점 복귀 (호밍)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파라미터 재적용 + 최종 (0,0) 미세 정렬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도달값 검증 → 편차 크면 최대 3회 재보정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READY (X≈0, Z≈0 확인 완료)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1" name="Google Shape;3301;p26"/>
          <p:cNvGraphicFramePr/>
          <p:nvPr>
            <p:extLst>
              <p:ext uri="{D42A27DB-BD31-4B8C-83A1-F6EECF244321}">
                <p14:modId xmlns:p14="http://schemas.microsoft.com/office/powerpoint/2010/main" val="1369745732"/>
              </p:ext>
            </p:extLst>
          </p:nvPr>
        </p:nvGraphicFramePr>
        <p:xfrm>
          <a:off x="900000" y="1500000"/>
          <a:ext cx="7100000" cy="13203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번호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유지할 인터록 (충돌 방지)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1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블레이드 전진 상태에서 X축 좌우 이동 금지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2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dirty="0"/>
                        <a:t>블레이드 전진 상태에서 Z축 상하 이동 </a:t>
                      </a:r>
                      <a:r>
                        <a:rPr lang="ko" sz="1100" dirty="0" smtClean="0"/>
                        <a:t>금지</a:t>
                      </a:r>
                      <a:r>
                        <a:rPr lang="en-US" altLang="ko" sz="1100" dirty="0" smtClean="0"/>
                        <a:t>(Chamber</a:t>
                      </a:r>
                      <a:r>
                        <a:rPr lang="en-US" altLang="ko-KR" sz="1100" dirty="0" smtClean="0"/>
                        <a:t>,</a:t>
                      </a:r>
                      <a:r>
                        <a:rPr lang="en-US" altLang="ko-KR" sz="1100" baseline="0" dirty="0" smtClean="0"/>
                        <a:t> FOUP</a:t>
                      </a:r>
                      <a:r>
                        <a:rPr lang="ko-KR" altLang="en-US" sz="1100" baseline="0" dirty="0" smtClean="0"/>
                        <a:t>는 예외</a:t>
                      </a:r>
                      <a:r>
                        <a:rPr lang="en-US" altLang="ko-KR" sz="1100" baseline="0" dirty="0" smtClean="0"/>
                        <a:t>)</a:t>
                      </a:r>
                      <a:endParaRPr sz="1100" dirty="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3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챔버 도어가 열린 상태에서만 블레이드 전진 허용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4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dirty="0"/>
                        <a:t>챔버 도어가 열린 상태에서만 블레이드 후진 허용</a:t>
                      </a:r>
                      <a:endParaRPr sz="1100" dirty="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02" name="Google Shape;3302;p26"/>
          <p:cNvSpPr txBox="1"/>
          <p:nvPr/>
        </p:nvSpPr>
        <p:spPr>
          <a:xfrm>
            <a:off x="0" y="0"/>
            <a:ext cx="72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개선 ② 인터록 정리 — 핵심 4가지</a:t>
            </a:r>
            <a:endParaRPr sz="2300" b="1"/>
          </a:p>
        </p:txBody>
      </p:sp>
      <p:sp>
        <p:nvSpPr>
          <p:cNvPr id="3303" name="Google Shape;3303;p26"/>
          <p:cNvSpPr txBox="1"/>
          <p:nvPr/>
        </p:nvSpPr>
        <p:spPr>
          <a:xfrm>
            <a:off x="460000" y="640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과도한 인터록을 정리하고, 충돌 방지에 꼭 필요한 아래 4가지만 유지합니다.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01" name="Google Shape;3401;p26"/>
          <p:cNvGraphicFramePr/>
          <p:nvPr/>
        </p:nvGraphicFramePr>
        <p:xfrm>
          <a:off x="900000" y="1500000"/>
          <a:ext cx="7100000" cy="13203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현재 동작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개선 동작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① 웨이퍼 Pick 후 블레이드 후진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① 웨이퍼 Pick 후 블레이드 후진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② Z축 안착 위치로 이동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② X축 이동 (목적지로 바로)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③ X축 이동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③ 각 상황에 맞게 Z축 이동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/>
                        <a:t>→ 불필요한 Z축 왕복 발생</a:t>
                      </a:r>
                      <a:endParaRPr sz="1100" b="1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→ 이동 단계 축소, 사이클 시간 단축</a:t>
                      </a:r>
                      <a:endParaRPr sz="1100"/>
                    </a:p>
                  </a:txBody>
                  <a:tcPr marL="91425" marR="91425" marT="45700" marB="457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02" name="Google Shape;3402;p26"/>
          <p:cNvSpPr txBox="1"/>
          <p:nvPr/>
        </p:nvSpPr>
        <p:spPr>
          <a:xfrm>
            <a:off x="0" y="0"/>
            <a:ext cx="72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 b="1"/>
              <a:t>개선 ③ TR 로봇 동작 경로 단순화</a:t>
            </a:r>
            <a:endParaRPr sz="2300" b="1"/>
          </a:p>
        </p:txBody>
      </p:sp>
      <p:sp>
        <p:nvSpPr>
          <p:cNvPr id="3403" name="Google Shape;3403;p26"/>
          <p:cNvSpPr txBox="1"/>
          <p:nvPr/>
        </p:nvSpPr>
        <p:spPr>
          <a:xfrm>
            <a:off x="460000" y="640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웨이퍼 이송 시 불필요한 Z축 경유 동작을 제거해 이동 경로를 단순화합니다.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/>
        </p:nvSpPr>
        <p:spPr>
          <a:xfrm>
            <a:off x="3527550" y="1960825"/>
            <a:ext cx="20889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100">
                <a:solidFill>
                  <a:schemeClr val="dk2"/>
                </a:solidFill>
              </a:rPr>
              <a:t>Q &amp; A</a:t>
            </a:r>
            <a:endParaRPr sz="5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감사합니다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2105</Words>
  <Application>Microsoft Office PowerPoint</Application>
  <PresentationFormat>화면 슬라이드 쇼(16:9)</PresentationFormat>
  <Paragraphs>487</Paragraphs>
  <Slides>29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</cp:revision>
  <dcterms:modified xsi:type="dcterms:W3CDTF">2026-07-07T09:05:11Z</dcterms:modified>
</cp:coreProperties>
</file>