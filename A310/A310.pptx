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4"/>
  </p:handout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46C41E8-5687-6384-6B30-1FADBEC97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922E2E-7AD0-6441-0AA6-FA04DA4BA3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DB8219-9314-09B5-B8D7-748B4F9225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3F740-FA10-4465-B6A0-41F9D5CAB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90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14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1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31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8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5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45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77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17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84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14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F0CB4-1098-4534-A099-34EB50F3FE5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C5250-BE4E-4125-A335-BA5962F36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5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두루마리 모양: 가로로 말림 3">
            <a:extLst>
              <a:ext uri="{FF2B5EF4-FFF2-40B4-BE49-F238E27FC236}">
                <a16:creationId xmlns:a16="http://schemas.microsoft.com/office/drawing/2014/main" id="{0AC732CB-31D9-5921-AD8A-A022911C24EB}"/>
              </a:ext>
            </a:extLst>
          </p:cNvPr>
          <p:cNvSpPr/>
          <p:nvPr/>
        </p:nvSpPr>
        <p:spPr>
          <a:xfrm>
            <a:off x="1172497" y="117986"/>
            <a:ext cx="7561006" cy="1071716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이미지의 처리와 압축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FEA31-99E5-4817-9774-6D6A8713A337}"/>
              </a:ext>
            </a:extLst>
          </p:cNvPr>
          <p:cNvSpPr txBox="1"/>
          <p:nvPr/>
        </p:nvSpPr>
        <p:spPr>
          <a:xfrm>
            <a:off x="471949" y="1465006"/>
            <a:ext cx="5215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altLang="ko-KR" b="1" dirty="0"/>
              <a:t>JPEG</a:t>
            </a:r>
            <a:r>
              <a:rPr lang="ko-KR" altLang="en-US" b="1" dirty="0"/>
              <a:t>에 의한 이미지 데이터의 압축 및 복원 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5BB6E-284F-7FEA-9E43-EE7BB81EEFAF}"/>
              </a:ext>
            </a:extLst>
          </p:cNvPr>
          <p:cNvSpPr txBox="1"/>
          <p:nvPr/>
        </p:nvSpPr>
        <p:spPr>
          <a:xfrm>
            <a:off x="937835" y="1834338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ko-KR" altLang="en-US" dirty="0"/>
              <a:t>입력된 이미지 데이터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CD861D1-C7B2-11DD-F2B7-52385D861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580594"/>
              </p:ext>
            </p:extLst>
          </p:nvPr>
        </p:nvGraphicFramePr>
        <p:xfrm>
          <a:off x="877682" y="2294310"/>
          <a:ext cx="1269288" cy="1281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322">
                  <a:extLst>
                    <a:ext uri="{9D8B030D-6E8A-4147-A177-3AD203B41FA5}">
                      <a16:colId xmlns:a16="http://schemas.microsoft.com/office/drawing/2014/main" val="1890939102"/>
                    </a:ext>
                  </a:extLst>
                </a:gridCol>
                <a:gridCol w="317322">
                  <a:extLst>
                    <a:ext uri="{9D8B030D-6E8A-4147-A177-3AD203B41FA5}">
                      <a16:colId xmlns:a16="http://schemas.microsoft.com/office/drawing/2014/main" val="3518734033"/>
                    </a:ext>
                  </a:extLst>
                </a:gridCol>
                <a:gridCol w="317322">
                  <a:extLst>
                    <a:ext uri="{9D8B030D-6E8A-4147-A177-3AD203B41FA5}">
                      <a16:colId xmlns:a16="http://schemas.microsoft.com/office/drawing/2014/main" val="1598190669"/>
                    </a:ext>
                  </a:extLst>
                </a:gridCol>
                <a:gridCol w="317322">
                  <a:extLst>
                    <a:ext uri="{9D8B030D-6E8A-4147-A177-3AD203B41FA5}">
                      <a16:colId xmlns:a16="http://schemas.microsoft.com/office/drawing/2014/main" val="2546276399"/>
                    </a:ext>
                  </a:extLst>
                </a:gridCol>
              </a:tblGrid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1006076579"/>
                  </a:ext>
                </a:extLst>
              </a:tr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2844081179"/>
                  </a:ext>
                </a:extLst>
              </a:tr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3328650680"/>
                  </a:ext>
                </a:extLst>
              </a:tr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1206244950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0302EE-0833-A108-6489-99DEB245E889}"/>
              </a:ext>
            </a:extLst>
          </p:cNvPr>
          <p:cNvSpPr/>
          <p:nvPr/>
        </p:nvSpPr>
        <p:spPr>
          <a:xfrm>
            <a:off x="2831080" y="2294308"/>
            <a:ext cx="5712542" cy="1281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압축과정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02F8D8B-7CE6-0D03-55D7-6C941B275588}"/>
              </a:ext>
            </a:extLst>
          </p:cNvPr>
          <p:cNvSpPr/>
          <p:nvPr/>
        </p:nvSpPr>
        <p:spPr>
          <a:xfrm>
            <a:off x="3138913" y="2888363"/>
            <a:ext cx="1499490" cy="273158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순방향 </a:t>
            </a:r>
            <a:r>
              <a:rPr lang="en-US" altLang="ko-KR" dirty="0">
                <a:solidFill>
                  <a:schemeClr val="tx1"/>
                </a:solidFill>
              </a:rPr>
              <a:t>DCT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663B5A-F0A4-1C7F-6623-7AD77BA45B92}"/>
              </a:ext>
            </a:extLst>
          </p:cNvPr>
          <p:cNvSpPr txBox="1"/>
          <p:nvPr/>
        </p:nvSpPr>
        <p:spPr>
          <a:xfrm>
            <a:off x="2930013" y="22902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ko-KR" altLang="en-US" dirty="0"/>
              <a:t>압축과정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8627ADF-088B-4086-9102-B91EB1CAF18D}"/>
              </a:ext>
            </a:extLst>
          </p:cNvPr>
          <p:cNvSpPr/>
          <p:nvPr/>
        </p:nvSpPr>
        <p:spPr>
          <a:xfrm>
            <a:off x="5036539" y="2888363"/>
            <a:ext cx="1499490" cy="273158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양자화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C9156D1-AE41-F6CC-1447-CB5A62081BDF}"/>
              </a:ext>
            </a:extLst>
          </p:cNvPr>
          <p:cNvSpPr/>
          <p:nvPr/>
        </p:nvSpPr>
        <p:spPr>
          <a:xfrm>
            <a:off x="6934165" y="2888363"/>
            <a:ext cx="1499490" cy="273158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양자화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902D10B-8B3E-4862-F65B-5CBC409ED7E7}"/>
              </a:ext>
            </a:extLst>
          </p:cNvPr>
          <p:cNvCxnSpPr/>
          <p:nvPr/>
        </p:nvCxnSpPr>
        <p:spPr>
          <a:xfrm>
            <a:off x="2399071" y="3024942"/>
            <a:ext cx="6805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9F3732E-3485-1510-5F2E-5FB3B89C4B27}"/>
              </a:ext>
            </a:extLst>
          </p:cNvPr>
          <p:cNvCxnSpPr>
            <a:cxnSpLocks/>
          </p:cNvCxnSpPr>
          <p:nvPr/>
        </p:nvCxnSpPr>
        <p:spPr>
          <a:xfrm>
            <a:off x="4721942" y="3024942"/>
            <a:ext cx="31459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3058B1E-008C-927B-B5AF-6B2A39CA4B87}"/>
              </a:ext>
            </a:extLst>
          </p:cNvPr>
          <p:cNvCxnSpPr>
            <a:cxnSpLocks/>
          </p:cNvCxnSpPr>
          <p:nvPr/>
        </p:nvCxnSpPr>
        <p:spPr>
          <a:xfrm>
            <a:off x="6612232" y="3001884"/>
            <a:ext cx="280214" cy="83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5E39BD7-8591-91FE-F910-DD894ABC8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580594"/>
              </p:ext>
            </p:extLst>
          </p:nvPr>
        </p:nvGraphicFramePr>
        <p:xfrm>
          <a:off x="877682" y="4310201"/>
          <a:ext cx="1269288" cy="1281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322">
                  <a:extLst>
                    <a:ext uri="{9D8B030D-6E8A-4147-A177-3AD203B41FA5}">
                      <a16:colId xmlns:a16="http://schemas.microsoft.com/office/drawing/2014/main" val="1890939102"/>
                    </a:ext>
                  </a:extLst>
                </a:gridCol>
                <a:gridCol w="317322">
                  <a:extLst>
                    <a:ext uri="{9D8B030D-6E8A-4147-A177-3AD203B41FA5}">
                      <a16:colId xmlns:a16="http://schemas.microsoft.com/office/drawing/2014/main" val="3518734033"/>
                    </a:ext>
                  </a:extLst>
                </a:gridCol>
                <a:gridCol w="317322">
                  <a:extLst>
                    <a:ext uri="{9D8B030D-6E8A-4147-A177-3AD203B41FA5}">
                      <a16:colId xmlns:a16="http://schemas.microsoft.com/office/drawing/2014/main" val="1598190669"/>
                    </a:ext>
                  </a:extLst>
                </a:gridCol>
                <a:gridCol w="317322">
                  <a:extLst>
                    <a:ext uri="{9D8B030D-6E8A-4147-A177-3AD203B41FA5}">
                      <a16:colId xmlns:a16="http://schemas.microsoft.com/office/drawing/2014/main" val="2546276399"/>
                    </a:ext>
                  </a:extLst>
                </a:gridCol>
              </a:tblGrid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1006076579"/>
                  </a:ext>
                </a:extLst>
              </a:tr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2844081179"/>
                  </a:ext>
                </a:extLst>
              </a:tr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3328650680"/>
                  </a:ext>
                </a:extLst>
              </a:tr>
              <a:tr h="32031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marL="73039" marR="73039" marT="36520" marB="365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73039" marR="73039" marT="36520" marB="36520"/>
                </a:tc>
                <a:extLst>
                  <a:ext uri="{0D108BD9-81ED-4DB2-BD59-A6C34878D82A}">
                    <a16:rowId xmlns:a16="http://schemas.microsoft.com/office/drawing/2014/main" val="1206244950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FC80FB2C-B8E9-EDF1-1CF1-6CFE7CBF6FCC}"/>
              </a:ext>
            </a:extLst>
          </p:cNvPr>
          <p:cNvSpPr/>
          <p:nvPr/>
        </p:nvSpPr>
        <p:spPr>
          <a:xfrm>
            <a:off x="2831080" y="4608827"/>
            <a:ext cx="5712542" cy="9826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압축과정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74740A8-7495-4142-2E7B-3F1ACEB61997}"/>
              </a:ext>
            </a:extLst>
          </p:cNvPr>
          <p:cNvSpPr/>
          <p:nvPr/>
        </p:nvSpPr>
        <p:spPr>
          <a:xfrm>
            <a:off x="3138913" y="4904254"/>
            <a:ext cx="1499490" cy="273158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역방향</a:t>
            </a:r>
            <a:r>
              <a:rPr lang="en-US" altLang="ko-KR" dirty="0">
                <a:solidFill>
                  <a:schemeClr val="tx1"/>
                </a:solidFill>
              </a:rPr>
              <a:t>DCT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553B53-91AC-B930-8B67-96162DECAAF1}"/>
              </a:ext>
            </a:extLst>
          </p:cNvPr>
          <p:cNvSpPr txBox="1"/>
          <p:nvPr/>
        </p:nvSpPr>
        <p:spPr>
          <a:xfrm>
            <a:off x="2930013" y="52680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ko-KR" altLang="en-US" dirty="0"/>
              <a:t>복원과정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D3F6E56-ED0E-31BD-D892-DACAE43EE3FD}"/>
              </a:ext>
            </a:extLst>
          </p:cNvPr>
          <p:cNvSpPr/>
          <p:nvPr/>
        </p:nvSpPr>
        <p:spPr>
          <a:xfrm>
            <a:off x="5036539" y="4904254"/>
            <a:ext cx="1499490" cy="273158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역양자화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3B38D2A-1BF4-BEEC-DF34-0811B3954EC6}"/>
              </a:ext>
            </a:extLst>
          </p:cNvPr>
          <p:cNvSpPr/>
          <p:nvPr/>
        </p:nvSpPr>
        <p:spPr>
          <a:xfrm>
            <a:off x="6934165" y="4904254"/>
            <a:ext cx="1499490" cy="273158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디코더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D955723-20DE-91A2-E267-F2415895CBC2}"/>
              </a:ext>
            </a:extLst>
          </p:cNvPr>
          <p:cNvCxnSpPr>
            <a:cxnSpLocks/>
          </p:cNvCxnSpPr>
          <p:nvPr/>
        </p:nvCxnSpPr>
        <p:spPr>
          <a:xfrm flipH="1">
            <a:off x="2399071" y="5040833"/>
            <a:ext cx="6805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C3BFE3F-8D48-6BB5-620A-3D9959CE15E9}"/>
              </a:ext>
            </a:extLst>
          </p:cNvPr>
          <p:cNvCxnSpPr>
            <a:cxnSpLocks/>
          </p:cNvCxnSpPr>
          <p:nvPr/>
        </p:nvCxnSpPr>
        <p:spPr>
          <a:xfrm>
            <a:off x="4721942" y="5040833"/>
            <a:ext cx="31459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396569E-52DF-9AF4-B059-9E0492519873}"/>
              </a:ext>
            </a:extLst>
          </p:cNvPr>
          <p:cNvCxnSpPr>
            <a:cxnSpLocks/>
          </p:cNvCxnSpPr>
          <p:nvPr/>
        </p:nvCxnSpPr>
        <p:spPr>
          <a:xfrm>
            <a:off x="6612232" y="5017775"/>
            <a:ext cx="280214" cy="83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84B844-0637-C7B6-48C8-B23104A4999A}"/>
              </a:ext>
            </a:extLst>
          </p:cNvPr>
          <p:cNvSpPr txBox="1"/>
          <p:nvPr/>
        </p:nvSpPr>
        <p:spPr>
          <a:xfrm>
            <a:off x="711694" y="5772092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ko-KR" altLang="en-US" dirty="0"/>
              <a:t>복원된 이미지 데이터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676254D8-967C-DCAD-091B-E8D14D7378F8}"/>
              </a:ext>
            </a:extLst>
          </p:cNvPr>
          <p:cNvCxnSpPr>
            <a:cxnSpLocks/>
          </p:cNvCxnSpPr>
          <p:nvPr/>
        </p:nvCxnSpPr>
        <p:spPr>
          <a:xfrm flipH="1" flipV="1">
            <a:off x="1389748" y="3276990"/>
            <a:ext cx="1011848" cy="4739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7F1C47A-64CC-4F06-E679-187120CBD82A}"/>
              </a:ext>
            </a:extLst>
          </p:cNvPr>
          <p:cNvSpPr txBox="1"/>
          <p:nvPr/>
        </p:nvSpPr>
        <p:spPr>
          <a:xfrm>
            <a:off x="2062340" y="3728931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en-US" altLang="ko-KR" dirty="0"/>
              <a:t>8x8 </a:t>
            </a:r>
            <a:r>
              <a:rPr lang="ko-KR" altLang="en-US" dirty="0" err="1"/>
              <a:t>블럭</a:t>
            </a:r>
            <a:endParaRPr lang="ko-KR" altLang="en-US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081DBAC2-8096-E68E-9367-7C6A724726D0}"/>
              </a:ext>
            </a:extLst>
          </p:cNvPr>
          <p:cNvCxnSpPr>
            <a:cxnSpLocks/>
          </p:cNvCxnSpPr>
          <p:nvPr/>
        </p:nvCxnSpPr>
        <p:spPr>
          <a:xfrm flipH="1">
            <a:off x="1387223" y="4136603"/>
            <a:ext cx="1011848" cy="4739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7C856AC-7FDF-4740-59FC-EAD3A77508E0}"/>
              </a:ext>
            </a:extLst>
          </p:cNvPr>
          <p:cNvSpPr/>
          <p:nvPr/>
        </p:nvSpPr>
        <p:spPr>
          <a:xfrm>
            <a:off x="5112742" y="3816439"/>
            <a:ext cx="1499490" cy="27315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테이블 정보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4AEEEA3-B111-6A26-06B8-E5C48D49CE8E}"/>
              </a:ext>
            </a:extLst>
          </p:cNvPr>
          <p:cNvCxnSpPr>
            <a:cxnSpLocks/>
          </p:cNvCxnSpPr>
          <p:nvPr/>
        </p:nvCxnSpPr>
        <p:spPr>
          <a:xfrm flipV="1">
            <a:off x="5857574" y="3362858"/>
            <a:ext cx="0" cy="4253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C91DB3A4-9D1D-B14B-B77C-37AF5CE6F1E6}"/>
              </a:ext>
            </a:extLst>
          </p:cNvPr>
          <p:cNvCxnSpPr>
            <a:cxnSpLocks/>
          </p:cNvCxnSpPr>
          <p:nvPr/>
        </p:nvCxnSpPr>
        <p:spPr>
          <a:xfrm>
            <a:off x="5857574" y="4098263"/>
            <a:ext cx="0" cy="4253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FAC6E5F-0357-F11A-4268-3D1AA0D7716A}"/>
              </a:ext>
            </a:extLst>
          </p:cNvPr>
          <p:cNvSpPr/>
          <p:nvPr/>
        </p:nvSpPr>
        <p:spPr>
          <a:xfrm>
            <a:off x="6926797" y="3811521"/>
            <a:ext cx="1499490" cy="27315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테이블정보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7C78F2F-CEC7-BE4E-393F-2555B3A9D845}"/>
              </a:ext>
            </a:extLst>
          </p:cNvPr>
          <p:cNvCxnSpPr>
            <a:cxnSpLocks/>
          </p:cNvCxnSpPr>
          <p:nvPr/>
        </p:nvCxnSpPr>
        <p:spPr>
          <a:xfrm flipV="1">
            <a:off x="7671629" y="3357940"/>
            <a:ext cx="0" cy="4253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AC89AAB-DBA3-9D51-9708-FC4A52CFE2A5}"/>
              </a:ext>
            </a:extLst>
          </p:cNvPr>
          <p:cNvCxnSpPr>
            <a:cxnSpLocks/>
          </p:cNvCxnSpPr>
          <p:nvPr/>
        </p:nvCxnSpPr>
        <p:spPr>
          <a:xfrm>
            <a:off x="7671629" y="4093345"/>
            <a:ext cx="0" cy="4253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7A04856-1E73-BD9E-3B85-689D6AA5A34E}"/>
              </a:ext>
            </a:extLst>
          </p:cNvPr>
          <p:cNvSpPr txBox="1"/>
          <p:nvPr/>
        </p:nvSpPr>
        <p:spPr>
          <a:xfrm>
            <a:off x="4896432" y="4168879"/>
            <a:ext cx="1637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양자화   행렬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AB0C72-A6DD-6351-532D-BBADAC1AFB08}"/>
              </a:ext>
            </a:extLst>
          </p:cNvPr>
          <p:cNvSpPr txBox="1"/>
          <p:nvPr/>
        </p:nvSpPr>
        <p:spPr>
          <a:xfrm>
            <a:off x="6612232" y="4162087"/>
            <a:ext cx="193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Huffman</a:t>
            </a:r>
            <a:r>
              <a:rPr lang="ko-KR" altLang="en-US" dirty="0"/>
              <a:t>    테이블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A66D39-348B-5B20-6B83-E54F34E979E5}"/>
              </a:ext>
            </a:extLst>
          </p:cNvPr>
          <p:cNvSpPr txBox="1"/>
          <p:nvPr/>
        </p:nvSpPr>
        <p:spPr>
          <a:xfrm>
            <a:off x="8740852" y="3623014"/>
            <a:ext cx="9583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압축된</a:t>
            </a:r>
            <a:endParaRPr lang="en-US" altLang="ko-KR" dirty="0"/>
          </a:p>
          <a:p>
            <a:pPr algn="ctr"/>
            <a:r>
              <a:rPr lang="ko-KR" altLang="en-US" dirty="0"/>
              <a:t>이미지</a:t>
            </a:r>
            <a:endParaRPr lang="en-US" altLang="ko-KR" dirty="0"/>
          </a:p>
          <a:p>
            <a:pPr algn="ctr"/>
            <a:r>
              <a:rPr lang="ko-KR" altLang="en-US" dirty="0"/>
              <a:t>데이터</a:t>
            </a:r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DF1C3CC5-154F-B54C-27B3-08F9451C123B}"/>
              </a:ext>
            </a:extLst>
          </p:cNvPr>
          <p:cNvSpPr/>
          <p:nvPr/>
        </p:nvSpPr>
        <p:spPr>
          <a:xfrm>
            <a:off x="8436077" y="3018503"/>
            <a:ext cx="806246" cy="589936"/>
          </a:xfrm>
          <a:custGeom>
            <a:avLst/>
            <a:gdLst>
              <a:gd name="csX0" fmla="*/ 0 w 806246"/>
              <a:gd name="csY0" fmla="*/ 0 h 589936"/>
              <a:gd name="csX1" fmla="*/ 806246 w 806246"/>
              <a:gd name="csY1" fmla="*/ 0 h 589936"/>
              <a:gd name="csX2" fmla="*/ 806246 w 806246"/>
              <a:gd name="csY2" fmla="*/ 589936 h 589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06246" h="589936">
                <a:moveTo>
                  <a:pt x="0" y="0"/>
                </a:moveTo>
                <a:lnTo>
                  <a:pt x="806246" y="0"/>
                </a:lnTo>
                <a:lnTo>
                  <a:pt x="806246" y="58993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자유형: 도형 73">
            <a:extLst>
              <a:ext uri="{FF2B5EF4-FFF2-40B4-BE49-F238E27FC236}">
                <a16:creationId xmlns:a16="http://schemas.microsoft.com/office/drawing/2014/main" id="{FE5B5653-E159-41FC-67F5-34DCF576FF6F}"/>
              </a:ext>
            </a:extLst>
          </p:cNvPr>
          <p:cNvSpPr/>
          <p:nvPr/>
        </p:nvSpPr>
        <p:spPr>
          <a:xfrm rot="16200000" flipH="1">
            <a:off x="8631414" y="4452219"/>
            <a:ext cx="500820" cy="676409"/>
          </a:xfrm>
          <a:custGeom>
            <a:avLst/>
            <a:gdLst>
              <a:gd name="csX0" fmla="*/ 0 w 747252"/>
              <a:gd name="csY0" fmla="*/ 540774 h 540774"/>
              <a:gd name="csX1" fmla="*/ 747252 w 747252"/>
              <a:gd name="csY1" fmla="*/ 540774 h 540774"/>
              <a:gd name="csX2" fmla="*/ 747252 w 747252"/>
              <a:gd name="csY2" fmla="*/ 0 h 5407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7252" h="540774">
                <a:moveTo>
                  <a:pt x="0" y="540774"/>
                </a:moveTo>
                <a:lnTo>
                  <a:pt x="747252" y="540774"/>
                </a:lnTo>
                <a:lnTo>
                  <a:pt x="747252" y="0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21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7EEED7-4295-0B04-9F39-E8134BAB9B84}"/>
              </a:ext>
            </a:extLst>
          </p:cNvPr>
          <p:cNvSpPr txBox="1"/>
          <p:nvPr/>
        </p:nvSpPr>
        <p:spPr>
          <a:xfrm>
            <a:off x="2678980" y="491613"/>
            <a:ext cx="4548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/>
              <a:t>소프트웨어 개발 절차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DB7182-5FAB-D489-8C7F-F8F7E7041C20}"/>
              </a:ext>
            </a:extLst>
          </p:cNvPr>
          <p:cNvSpPr/>
          <p:nvPr/>
        </p:nvSpPr>
        <p:spPr>
          <a:xfrm>
            <a:off x="1061884" y="1759974"/>
            <a:ext cx="1199535" cy="6685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DE209EE-1052-F416-385E-1BC0D59BC546}"/>
              </a:ext>
            </a:extLst>
          </p:cNvPr>
          <p:cNvSpPr/>
          <p:nvPr/>
        </p:nvSpPr>
        <p:spPr>
          <a:xfrm>
            <a:off x="2507226" y="1759974"/>
            <a:ext cx="2576050" cy="6685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사용자 </a:t>
            </a:r>
            <a:r>
              <a:rPr lang="ko-KR" altLang="en-US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요구사항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분석</a:t>
            </a:r>
          </a:p>
        </p:txBody>
      </p:sp>
      <p:sp>
        <p:nvSpPr>
          <p:cNvPr id="5" name="화살표: 위로 굽음 4">
            <a:extLst>
              <a:ext uri="{FF2B5EF4-FFF2-40B4-BE49-F238E27FC236}">
                <a16:creationId xmlns:a16="http://schemas.microsoft.com/office/drawing/2014/main" id="{7700A1A2-2299-4A56-0CF8-A491E18C7D87}"/>
              </a:ext>
            </a:extLst>
          </p:cNvPr>
          <p:cNvSpPr/>
          <p:nvPr/>
        </p:nvSpPr>
        <p:spPr>
          <a:xfrm rot="5400000">
            <a:off x="1538746" y="2433486"/>
            <a:ext cx="668596" cy="658761"/>
          </a:xfrm>
          <a:prstGeom prst="bentUp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640E5A-00CE-74CF-321A-273FFBA06939}"/>
              </a:ext>
            </a:extLst>
          </p:cNvPr>
          <p:cNvSpPr/>
          <p:nvPr/>
        </p:nvSpPr>
        <p:spPr>
          <a:xfrm>
            <a:off x="2202425" y="2585884"/>
            <a:ext cx="1199535" cy="6685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설계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2CAEFB-33CD-88EF-A870-F7F5CB9B86DC}"/>
              </a:ext>
            </a:extLst>
          </p:cNvPr>
          <p:cNvSpPr/>
          <p:nvPr/>
        </p:nvSpPr>
        <p:spPr>
          <a:xfrm>
            <a:off x="3647767" y="2585884"/>
            <a:ext cx="2576050" cy="6685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소프트웨어 구조 설계</a:t>
            </a:r>
          </a:p>
        </p:txBody>
      </p:sp>
      <p:sp>
        <p:nvSpPr>
          <p:cNvPr id="8" name="화살표: 위로 굽음 7">
            <a:extLst>
              <a:ext uri="{FF2B5EF4-FFF2-40B4-BE49-F238E27FC236}">
                <a16:creationId xmlns:a16="http://schemas.microsoft.com/office/drawing/2014/main" id="{2CA16132-4BB7-F98B-DB0D-A17CF3F5192B}"/>
              </a:ext>
            </a:extLst>
          </p:cNvPr>
          <p:cNvSpPr/>
          <p:nvPr/>
        </p:nvSpPr>
        <p:spPr>
          <a:xfrm rot="5400000">
            <a:off x="2679287" y="3259396"/>
            <a:ext cx="668596" cy="658761"/>
          </a:xfrm>
          <a:prstGeom prst="bentUp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7DC6160-4B5B-2E77-5BBC-F0EFC72975C9}"/>
              </a:ext>
            </a:extLst>
          </p:cNvPr>
          <p:cNvSpPr/>
          <p:nvPr/>
        </p:nvSpPr>
        <p:spPr>
          <a:xfrm>
            <a:off x="3342966" y="3411794"/>
            <a:ext cx="1199535" cy="6685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구현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3392AD0-EB1C-F892-27EF-EF6EC5792CA7}"/>
              </a:ext>
            </a:extLst>
          </p:cNvPr>
          <p:cNvSpPr/>
          <p:nvPr/>
        </p:nvSpPr>
        <p:spPr>
          <a:xfrm>
            <a:off x="4788307" y="3411794"/>
            <a:ext cx="3549447" cy="6685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프로그래밍 언어를 이용한 구현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화살표: 위로 굽음 10">
            <a:extLst>
              <a:ext uri="{FF2B5EF4-FFF2-40B4-BE49-F238E27FC236}">
                <a16:creationId xmlns:a16="http://schemas.microsoft.com/office/drawing/2014/main" id="{CC3B7610-BBC3-3130-1E75-9434F4F4B765}"/>
              </a:ext>
            </a:extLst>
          </p:cNvPr>
          <p:cNvSpPr/>
          <p:nvPr/>
        </p:nvSpPr>
        <p:spPr>
          <a:xfrm rot="5400000">
            <a:off x="3819828" y="4085306"/>
            <a:ext cx="668596" cy="658761"/>
          </a:xfrm>
          <a:prstGeom prst="bentUp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BD0AC90-B803-9AC3-C69F-A2DE7AD90DEE}"/>
              </a:ext>
            </a:extLst>
          </p:cNvPr>
          <p:cNvSpPr/>
          <p:nvPr/>
        </p:nvSpPr>
        <p:spPr>
          <a:xfrm>
            <a:off x="4483507" y="4237704"/>
            <a:ext cx="1199535" cy="6685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테스트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D5DB79E-BDE3-C60A-AE8C-136293DE08DC}"/>
              </a:ext>
            </a:extLst>
          </p:cNvPr>
          <p:cNvSpPr/>
          <p:nvPr/>
        </p:nvSpPr>
        <p:spPr>
          <a:xfrm>
            <a:off x="5928849" y="4237704"/>
            <a:ext cx="3618274" cy="6685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테스트를 통한 오류 검출 및 수정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화살표: 위로 굽음 13">
            <a:extLst>
              <a:ext uri="{FF2B5EF4-FFF2-40B4-BE49-F238E27FC236}">
                <a16:creationId xmlns:a16="http://schemas.microsoft.com/office/drawing/2014/main" id="{BDDDD5E7-C7A4-29E1-F9FB-20ED1820105F}"/>
              </a:ext>
            </a:extLst>
          </p:cNvPr>
          <p:cNvSpPr/>
          <p:nvPr/>
        </p:nvSpPr>
        <p:spPr>
          <a:xfrm rot="5400000">
            <a:off x="4960369" y="4911216"/>
            <a:ext cx="668596" cy="658761"/>
          </a:xfrm>
          <a:prstGeom prst="bentUp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303D0D1-CFE0-5F84-6797-3BC6E05D4F19}"/>
              </a:ext>
            </a:extLst>
          </p:cNvPr>
          <p:cNvSpPr/>
          <p:nvPr/>
        </p:nvSpPr>
        <p:spPr>
          <a:xfrm>
            <a:off x="5624048" y="5063614"/>
            <a:ext cx="1199535" cy="66859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유지보수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8AE5AF5-A87C-A556-B47F-132602CD9EF4}"/>
              </a:ext>
            </a:extLst>
          </p:cNvPr>
          <p:cNvSpPr/>
          <p:nvPr/>
        </p:nvSpPr>
        <p:spPr>
          <a:xfrm>
            <a:off x="6961238" y="5063614"/>
            <a:ext cx="2944761" cy="6685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u="sng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배포 후 지속적인 </a:t>
            </a:r>
            <a:r>
              <a:rPr lang="en-US" altLang="ko-KR" u="sng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SW  </a:t>
            </a:r>
            <a:r>
              <a:rPr lang="ko-KR" altLang="en-US" u="sng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관리</a:t>
            </a:r>
          </a:p>
        </p:txBody>
      </p:sp>
    </p:spTree>
    <p:extLst>
      <p:ext uri="{BB962C8B-B14F-4D97-AF65-F5344CB8AC3E}">
        <p14:creationId xmlns:p14="http://schemas.microsoft.com/office/powerpoint/2010/main" val="260462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1627</TotalTime>
  <Words>74</Words>
  <Application>Microsoft Office PowerPoint</Application>
  <PresentationFormat>A4 용지(210x297mm)</PresentationFormat>
  <Paragraphs>33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SMART</dc:creator>
  <cp:lastModifiedBy>SMART</cp:lastModifiedBy>
  <cp:revision>5</cp:revision>
  <dcterms:created xsi:type="dcterms:W3CDTF">2026-06-23T11:51:02Z</dcterms:created>
  <dcterms:modified xsi:type="dcterms:W3CDTF">2026-06-24T14:58:26Z</dcterms:modified>
</cp:coreProperties>
</file>